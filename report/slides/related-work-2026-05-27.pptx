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764cc3e2974b22" /><Relationship Type="http://schemas.openxmlformats.org/officeDocument/2006/relationships/extended-properties" Target="/docProps/app.xml" Id="R5b54573fb45a446f" /><Relationship Type="http://schemas.openxmlformats.org/officeDocument/2006/relationships/officeDocument" Target="/ppt/presentation.xml" Id="R704a59f66bda4a9a" /></Relationships>
</file>

<file path=ppt/presentation.xml><?xml version="1.0" encoding="utf-8"?>
<p:presentation xmlns:p="http://schemas.openxmlformats.org/presentationml/2006/main">
  <p:sldMasterIdLst>
    <p:sldMasterId xmlns:r="http://schemas.openxmlformats.org/officeDocument/2006/relationships" id="2147483648" r:id="Rc0811dee37754750"/>
  </p:sldMasterIdLst>
  <p:notesMasterIdLst>
    <p:notesMasterId xmlns:r="http://schemas.openxmlformats.org/officeDocument/2006/relationships" r:id="Rd6cf3a4275fb47b4"/>
  </p:notesMasterIdLst>
  <p:sldIdLst>
    <p:sldId xmlns:r="http://schemas.openxmlformats.org/officeDocument/2006/relationships" id="256" r:id="R5eb294cbdc5d47e5"/>
    <p:sldId xmlns:r="http://schemas.openxmlformats.org/officeDocument/2006/relationships" id="257" r:id="Rf871c63dc96241d1"/>
    <p:sldId xmlns:r="http://schemas.openxmlformats.org/officeDocument/2006/relationships" id="258" r:id="R6d3f950a772f43ad"/>
    <p:sldId xmlns:r="http://schemas.openxmlformats.org/officeDocument/2006/relationships" id="259" r:id="R1efb6394359f4876"/>
    <p:sldId xmlns:r="http://schemas.openxmlformats.org/officeDocument/2006/relationships" id="260" r:id="Rf11b75d79c054f89"/>
    <p:sldId xmlns:r="http://schemas.openxmlformats.org/officeDocument/2006/relationships" id="261" r:id="R45041aa2de7b431b"/>
    <p:sldId xmlns:r="http://schemas.openxmlformats.org/officeDocument/2006/relationships" id="262" r:id="Ra907862b47ba465c"/>
    <p:sldId xmlns:r="http://schemas.openxmlformats.org/officeDocument/2006/relationships" id="263" r:id="Reb01622d46dd4087"/>
    <p:sldId xmlns:r="http://schemas.openxmlformats.org/officeDocument/2006/relationships" id="264" r:id="Rf904916326e04382"/>
    <p:sldId xmlns:r="http://schemas.openxmlformats.org/officeDocument/2006/relationships" id="265" r:id="R7d72558ffc534968"/>
    <p:sldId xmlns:r="http://schemas.openxmlformats.org/officeDocument/2006/relationships" id="266" r:id="Rf6184b43de3d4dff"/>
    <p:sldId xmlns:r="http://schemas.openxmlformats.org/officeDocument/2006/relationships" id="267" r:id="R9260adeffdeb405e"/>
    <p:sldId xmlns:r="http://schemas.openxmlformats.org/officeDocument/2006/relationships" id="268" r:id="Rb0ee26c39e5647ee"/>
    <p:sldId xmlns:r="http://schemas.openxmlformats.org/officeDocument/2006/relationships" id="269" r:id="Rbba43156fa294a0d"/>
    <p:sldId xmlns:r="http://schemas.openxmlformats.org/officeDocument/2006/relationships" id="270" r:id="R788c46f41b7c4ab1"/>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c0811dee37754750" /><Relationship Type="http://schemas.openxmlformats.org/officeDocument/2006/relationships/theme" Target="/ppt/theme/theme1.xml" Id="R37ae2a7a4785471f" /><Relationship Type="http://schemas.openxmlformats.org/officeDocument/2006/relationships/notesMaster" Target="/ppt/notesMasters/notesMaster1.xml" Id="Rd6cf3a4275fb47b4" /><Relationship Type="http://schemas.openxmlformats.org/officeDocument/2006/relationships/presProps" Target="/ppt/presProps.xml" Id="R70ead7f8fc414b56" /><Relationship Type="http://schemas.openxmlformats.org/officeDocument/2006/relationships/viewProps" Target="/ppt/viewProps.xml" Id="Rea6393beb5804e3e" /><Relationship Type="http://schemas.openxmlformats.org/officeDocument/2006/relationships/tableStyles" Target="/ppt/tableStyles.xml" Id="R504df6ddd17945f0" /><Relationship Type="http://schemas.openxmlformats.org/officeDocument/2006/relationships/slide" Target="/ppt/slides/slide1.xml" Id="R5eb294cbdc5d47e5" /><Relationship Type="http://schemas.openxmlformats.org/officeDocument/2006/relationships/slide" Target="/ppt/slides/slide2.xml" Id="Rf871c63dc96241d1" /><Relationship Type="http://schemas.openxmlformats.org/officeDocument/2006/relationships/slide" Target="/ppt/slides/slide3.xml" Id="R6d3f950a772f43ad" /><Relationship Type="http://schemas.openxmlformats.org/officeDocument/2006/relationships/slide" Target="/ppt/slides/slide4.xml" Id="R1efb6394359f4876" /><Relationship Type="http://schemas.openxmlformats.org/officeDocument/2006/relationships/slide" Target="/ppt/slides/slide5.xml" Id="Rf11b75d79c054f89" /><Relationship Type="http://schemas.openxmlformats.org/officeDocument/2006/relationships/slide" Target="/ppt/slides/slide6.xml" Id="R45041aa2de7b431b" /><Relationship Type="http://schemas.openxmlformats.org/officeDocument/2006/relationships/slide" Target="/ppt/slides/slide7.xml" Id="Ra907862b47ba465c" /><Relationship Type="http://schemas.openxmlformats.org/officeDocument/2006/relationships/slide" Target="/ppt/slides/slide8.xml" Id="Reb01622d46dd4087" /><Relationship Type="http://schemas.openxmlformats.org/officeDocument/2006/relationships/slide" Target="/ppt/slides/slide9.xml" Id="Rf904916326e04382" /><Relationship Type="http://schemas.openxmlformats.org/officeDocument/2006/relationships/slide" Target="/ppt/slides/slide10.xml" Id="R7d72558ffc534968" /><Relationship Type="http://schemas.openxmlformats.org/officeDocument/2006/relationships/slide" Target="/ppt/slides/slide11.xml" Id="Rf6184b43de3d4dff" /><Relationship Type="http://schemas.openxmlformats.org/officeDocument/2006/relationships/slide" Target="/ppt/slides/slide12.xml" Id="R9260adeffdeb405e" /><Relationship Type="http://schemas.openxmlformats.org/officeDocument/2006/relationships/slide" Target="/ppt/slides/slide13.xml" Id="Rb0ee26c39e5647ee" /><Relationship Type="http://schemas.openxmlformats.org/officeDocument/2006/relationships/slide" Target="/ppt/slides/slide14.xml" Id="Rbba43156fa294a0d" /><Relationship Type="http://schemas.openxmlformats.org/officeDocument/2006/relationships/slide" Target="/ppt/slides/slide15.xml" Id="R788c46f41b7c4a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49dd6bf7c3447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0b80dfc16a42cc" /><Relationship Type="http://schemas.openxmlformats.org/officeDocument/2006/relationships/notesMaster" Target="/ppt/notesMasters/notesMaster1.xml" Id="Rb59415d8562a4b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99a48c062f4ea6" /><Relationship Type="http://schemas.openxmlformats.org/officeDocument/2006/relationships/notesMaster" Target="/ppt/notesMasters/notesMaster1.xml" Id="R9f5494afeaa74e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e7e23e04384eed" /><Relationship Type="http://schemas.openxmlformats.org/officeDocument/2006/relationships/notesMaster" Target="/ppt/notesMasters/notesMaster1.xml" Id="Rd47c751a754246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ac4c3805a246a3" /><Relationship Type="http://schemas.openxmlformats.org/officeDocument/2006/relationships/notesMaster" Target="/ppt/notesMasters/notesMaster1.xml" Id="R2bdc34793a734b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56229604a64a62" /><Relationship Type="http://schemas.openxmlformats.org/officeDocument/2006/relationships/notesMaster" Target="/ppt/notesMasters/notesMaster1.xml" Id="Rb4ad6ef717a342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69e41ef4a334e64" /><Relationship Type="http://schemas.openxmlformats.org/officeDocument/2006/relationships/notesMaster" Target="/ppt/notesMasters/notesMaster1.xml" Id="Rc0e724950e1047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5310da52bd4eec" /><Relationship Type="http://schemas.openxmlformats.org/officeDocument/2006/relationships/notesMaster" Target="/ppt/notesMasters/notesMaster1.xml" Id="R658507a9a4d748ec"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7a21497fe44d63" /><Relationship Type="http://schemas.openxmlformats.org/officeDocument/2006/relationships/notesMaster" Target="/ppt/notesMasters/notesMaster1.xml" Id="R458bfc4246c54c42"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27bc05f1554208" /><Relationship Type="http://schemas.openxmlformats.org/officeDocument/2006/relationships/notesMaster" Target="/ppt/notesMasters/notesMaster1.xml" Id="R762a8e266c004a8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4beaefc36743c9" /><Relationship Type="http://schemas.openxmlformats.org/officeDocument/2006/relationships/notesMaster" Target="/ppt/notesMasters/notesMaster1.xml" Id="Rde6546538e034f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fec1e761db4807" /><Relationship Type="http://schemas.openxmlformats.org/officeDocument/2006/relationships/notesMaster" Target="/ppt/notesMasters/notesMaster1.xml" Id="R613f45c27582431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47c8dc0c8454cf7" /><Relationship Type="http://schemas.openxmlformats.org/officeDocument/2006/relationships/notesMaster" Target="/ppt/notesMasters/notesMaster1.xml" Id="Rd2d932baefa340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5b0c8bfe8f74ef6" /><Relationship Type="http://schemas.openxmlformats.org/officeDocument/2006/relationships/notesMaster" Target="/ppt/notesMasters/notesMaster1.xml" Id="Rf3fec58113ba48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dd3eceb29244ad" /><Relationship Type="http://schemas.openxmlformats.org/officeDocument/2006/relationships/notesMaster" Target="/ppt/notesMasters/notesMaster1.xml" Id="R502419c7ac3c469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5d8d179e9246ae" /><Relationship Type="http://schemas.openxmlformats.org/officeDocument/2006/relationships/notesMaster" Target="/ppt/notesMasters/notesMaster1.xml" Id="R7ea35cf4f51f42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57ad2fc9634d2c"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36f9f48df0e14ff1" /><Relationship Type="http://schemas.openxmlformats.org/officeDocument/2006/relationships/slideLayout" Target="/ppt/slideLayouts/slideLayout2.xml" Id="R0c6aee99cfb6467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6aee99cfb6467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0bd1d98a77184695" /><Relationship Type="http://schemas.openxmlformats.org/officeDocument/2006/relationships/notesSlide" Target="/ppt/notesSlides/notesSlide1.xml" Id="R78433f1af3cd46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3b63b29e31d1448f" /><Relationship Type="http://schemas.openxmlformats.org/officeDocument/2006/relationships/notesSlide" Target="/ppt/notesSlides/notesSlide2.xml" Id="Rd1ac817a802345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892c96fafff417d" /><Relationship Type="http://schemas.openxmlformats.org/officeDocument/2006/relationships/notesSlide" Target="/ppt/notesSlides/notesSlide3.xml" Id="Rfac3639c641344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8fcb4861925445a" /><Relationship Type="http://schemas.openxmlformats.org/officeDocument/2006/relationships/notesSlide" Target="/ppt/notesSlides/notesSlide4.xml" Id="R4a61602b49f448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21add9f4d8c4a94" /><Relationship Type="http://schemas.openxmlformats.org/officeDocument/2006/relationships/notesSlide" Target="/ppt/notesSlides/notesSlide5.xml" Id="R74aa089cc0a142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a70f43a40c6405b" /><Relationship Type="http://schemas.openxmlformats.org/officeDocument/2006/relationships/notesSlide" Target="/ppt/notesSlides/notesSlide6.xml" Id="R69486a9322d54ab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16d08656b6040e5" /><Relationship Type="http://schemas.openxmlformats.org/officeDocument/2006/relationships/notesSlide" Target="/ppt/notesSlides/notesSlide7.xml" Id="Ra54aa89bd62841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a20e231b24d4aec" /><Relationship Type="http://schemas.openxmlformats.org/officeDocument/2006/relationships/notesSlide" Target="/ppt/notesSlides/notesSlide8.xml" Id="R57d0188003454a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4b80cf915ad4a2a" /><Relationship Type="http://schemas.openxmlformats.org/officeDocument/2006/relationships/notesSlide" Target="/ppt/notesSlides/notesSlide9.xml" Id="R95df20b002e74a5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ad002ad39a8b4794" /><Relationship Type="http://schemas.openxmlformats.org/officeDocument/2006/relationships/notesSlide" Target="/ppt/notesSlides/notesSlide10.xml" Id="R7f276ae1968641c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5b314039680547ba" /><Relationship Type="http://schemas.openxmlformats.org/officeDocument/2006/relationships/notesSlide" Target="/ppt/notesSlides/notesSlide11.xml" Id="R6a40033bb04b4c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1f081f99b584f1d" /><Relationship Type="http://schemas.openxmlformats.org/officeDocument/2006/relationships/notesSlide" Target="/ppt/notesSlides/notesSlide12.xml" Id="R520818dd09ce48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d861897c79c4683" /><Relationship Type="http://schemas.openxmlformats.org/officeDocument/2006/relationships/notesSlide" Target="/ppt/notesSlides/notesSlide13.xml" Id="Rb4ae46f75b08472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a60d59e955b14399" /><Relationship Type="http://schemas.openxmlformats.org/officeDocument/2006/relationships/notesSlide" Target="/ppt/notesSlides/notesSlide14.xml" Id="Re8e3ff734e2240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4702f26edc324b88" /><Relationship Type="http://schemas.openxmlformats.org/officeDocument/2006/relationships/notesSlide" Target="/ppt/notesSlides/notesSlide15.xml" Id="R18f8b6d540ac40b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111C5E-0880-42D5-8CD9-D18AC0A5B1B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AE27CB3-F5D1-405F-892D-C3E543F492E5}"/>
              </a:ext>
            </a:extLst>
          </p:cNvPr>
          <p:cNvSpPr>
            <a:spLocks xmlns:a="http://schemas.openxmlformats.org/drawingml/2006/main" noGrp="1"/>
          </p:cNvSpPr>
          <p:nvPr/>
        </p:nvSpPr>
        <p:spPr>
          <a:xfrm xmlns:a="http://schemas.openxmlformats.org/drawingml/2006/main">
            <a:off x="514350" y="533400"/>
            <a:ext cx="11163300" cy="1905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E9A2E9A-5F9E-449D-BAB5-91405221A293}"/>
              </a:ext>
            </a:extLst>
          </p:cNvPr>
          <p:cNvSpPr>
            <a:spLocks xmlns:a="http://schemas.openxmlformats.org/drawingml/2006/main" noGrp="1"/>
          </p:cNvSpPr>
          <p:nvPr/>
        </p:nvSpPr>
        <p:spPr>
          <a:xfrm xmlns:a="http://schemas.openxmlformats.org/drawingml/2006/main">
            <a:off x="514350" y="819150"/>
            <a:ext cx="1885950" cy="323850"/>
          </a:xfrm>
          <a:prstGeom xmlns:a="http://schemas.openxmlformats.org/drawingml/2006/main" prst="roundRect">
            <a:avLst>
              <a:gd name="adj" fmla="val 23529"/>
            </a:avLst>
          </a:prstGeom>
          <a:solidFill xmlns:a="http://schemas.openxmlformats.org/drawingml/2006/main">
            <a:srgbClr val="7BD88F">
              <a:alpha val="13333"/>
            </a:srgbClr>
          </a:solidFill>
          <a:ln xmlns:a="http://schemas.openxmlformats.org/drawingml/2006/main" w="9525">
            <a:solidFill>
              <a:srgbClr val="7BD88F"/>
            </a:solidFill>
            <a:prstDash val="solid"/>
          </a:ln>
        </p:spPr>
      </p:sp>
      <p:sp>
        <p:nvSpPr>
          <p:cNvPr id="4" name="">
            <a:extLst xmlns:a="http://schemas.openxmlformats.org/drawingml/2006/main">
              <a:ext uri="{FF2B5EF4-FFF2-40B4-BE49-F238E27FC236}">
                <a16:creationId xmlns:a16="http://schemas.microsoft.com/office/drawing/2014/main" id="{F37A008E-75D1-40C2-8D86-4C14F6F64812}"/>
              </a:ext>
            </a:extLst>
          </p:cNvPr>
          <p:cNvSpPr>
            <a:spLocks xmlns:a="http://schemas.openxmlformats.org/drawingml/2006/main" noGrp="1"/>
          </p:cNvSpPr>
          <p:nvPr/>
        </p:nvSpPr>
        <p:spPr>
          <a:xfrm xmlns:a="http://schemas.openxmlformats.org/drawingml/2006/main">
            <a:off x="628650" y="885825"/>
            <a:ext cx="1657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7BD88F"/>
                </a:solidFill>
                <a:latin typeface="Aptos"/>
                <a:ea typeface="Aptos"/>
                <a:cs typeface="Aptos"/>
              </a:defRPr>
            </a:pPr>
            <a:r>
              <a:rPr sz="975" b="1">
                <a:solidFill>
                  <a:srgbClr val="7BD88F"/>
                </a:solidFill>
                <a:latin typeface="Aptos"/>
                <a:ea typeface="Aptos"/>
                <a:cs typeface="Aptos"/>
              </a:rPr>
              <a:t>CSCI 6806 / INFO 4205</a:t>
            </a:r>
          </a:p>
        </p:txBody>
      </p:sp>
      <p:sp>
        <p:nvSpPr>
          <p:cNvPr id="5" name="">
            <a:extLst xmlns:a="http://schemas.openxmlformats.org/drawingml/2006/main">
              <a:ext uri="{FF2B5EF4-FFF2-40B4-BE49-F238E27FC236}">
                <a16:creationId xmlns:a16="http://schemas.microsoft.com/office/drawing/2014/main" id="{7D8AF955-F266-43A3-B500-41A4A3F2EDF3}"/>
              </a:ext>
            </a:extLst>
          </p:cNvPr>
          <p:cNvSpPr>
            <a:spLocks xmlns:a="http://schemas.openxmlformats.org/drawingml/2006/main" noGrp="1"/>
          </p:cNvSpPr>
          <p:nvPr/>
        </p:nvSpPr>
        <p:spPr>
          <a:xfrm xmlns:a="http://schemas.openxmlformats.org/drawingml/2006/main">
            <a:off x="2552700" y="819150"/>
            <a:ext cx="1885950" cy="323850"/>
          </a:xfrm>
          <a:prstGeom xmlns:a="http://schemas.openxmlformats.org/drawingml/2006/main" prst="roundRect">
            <a:avLst>
              <a:gd name="adj" fmla="val 23529"/>
            </a:avLst>
          </a:prstGeom>
          <a:solidFill xmlns:a="http://schemas.openxmlformats.org/drawingml/2006/main">
            <a:srgbClr val="72A7FF">
              <a:alpha val="13333"/>
            </a:srgbClr>
          </a:solidFill>
          <a:ln xmlns:a="http://schemas.openxmlformats.org/drawingml/2006/main" w="9525">
            <a:solidFill>
              <a:srgbClr val="72A7FF"/>
            </a:solidFill>
            <a:prstDash val="solid"/>
          </a:ln>
        </p:spPr>
      </p:sp>
      <p:sp>
        <p:nvSpPr>
          <p:cNvPr id="6" name="">
            <a:extLst xmlns:a="http://schemas.openxmlformats.org/drawingml/2006/main">
              <a:ext uri="{FF2B5EF4-FFF2-40B4-BE49-F238E27FC236}">
                <a16:creationId xmlns:a16="http://schemas.microsoft.com/office/drawing/2014/main" id="{E0ACF85C-EB5D-43DF-B6C6-50FA3D5199CE}"/>
              </a:ext>
            </a:extLst>
          </p:cNvPr>
          <p:cNvSpPr>
            <a:spLocks xmlns:a="http://schemas.openxmlformats.org/drawingml/2006/main" noGrp="1"/>
          </p:cNvSpPr>
          <p:nvPr/>
        </p:nvSpPr>
        <p:spPr>
          <a:xfrm xmlns:a="http://schemas.openxmlformats.org/drawingml/2006/main">
            <a:off x="2667000" y="885825"/>
            <a:ext cx="1657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72A7FF"/>
                </a:solidFill>
                <a:latin typeface="Aptos"/>
                <a:ea typeface="Aptos"/>
                <a:cs typeface="Aptos"/>
              </a:defRPr>
            </a:pPr>
            <a:r>
              <a:rPr sz="975" b="1">
                <a:solidFill>
                  <a:srgbClr val="72A7FF"/>
                </a:solidFill>
                <a:latin typeface="Aptos"/>
                <a:ea typeface="Aptos"/>
                <a:cs typeface="Aptos"/>
              </a:rPr>
              <a:t>Related Work · Week 3</a:t>
            </a:r>
          </a:p>
        </p:txBody>
      </p:sp>
      <p:sp>
        <p:nvSpPr>
          <p:cNvPr id="7" name="">
            <a:extLst xmlns:a="http://schemas.openxmlformats.org/drawingml/2006/main">
              <a:ext uri="{FF2B5EF4-FFF2-40B4-BE49-F238E27FC236}">
                <a16:creationId xmlns:a16="http://schemas.microsoft.com/office/drawing/2014/main" id="{A5AD2E85-8183-4481-81D2-B5F5D8EF1DA5}"/>
              </a:ext>
            </a:extLst>
          </p:cNvPr>
          <p:cNvSpPr>
            <a:spLocks xmlns:a="http://schemas.openxmlformats.org/drawingml/2006/main" noGrp="1"/>
          </p:cNvSpPr>
          <p:nvPr/>
        </p:nvSpPr>
        <p:spPr>
          <a:xfrm xmlns:a="http://schemas.openxmlformats.org/drawingml/2006/main">
            <a:off x="514350" y="1600200"/>
            <a:ext cx="8001000" cy="1428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900" b="1">
                <a:solidFill>
                  <a:srgbClr val="F7F3EA"/>
                </a:solidFill>
                <a:latin typeface="Aptos Display"/>
                <a:ea typeface="Aptos Display"/>
                <a:cs typeface="Aptos Display"/>
              </a:defRPr>
            </a:pPr>
            <a:r>
              <a:rPr sz="3900" b="1">
                <a:solidFill>
                  <a:srgbClr val="F7F3EA"/>
                </a:solidFill>
                <a:latin typeface="Aptos Display"/>
                <a:ea typeface="Aptos Display"/>
                <a:cs typeface="Aptos Display"/>
              </a:rPr>
              <a:t>Prefix-Aware KV-Cache Scheduling for LLM Agent Workloads</a:t>
            </a:r>
          </a:p>
        </p:txBody>
      </p:sp>
      <p:sp>
        <p:nvSpPr>
          <p:cNvPr id="8" name="">
            <a:extLst xmlns:a="http://schemas.openxmlformats.org/drawingml/2006/main">
              <a:ext uri="{FF2B5EF4-FFF2-40B4-BE49-F238E27FC236}">
                <a16:creationId xmlns:a16="http://schemas.microsoft.com/office/drawing/2014/main" id="{03B46862-8174-4471-9375-8004030A2D27}"/>
              </a:ext>
            </a:extLst>
          </p:cNvPr>
          <p:cNvSpPr>
            <a:spLocks xmlns:a="http://schemas.openxmlformats.org/drawingml/2006/main" noGrp="1"/>
          </p:cNvSpPr>
          <p:nvPr/>
        </p:nvSpPr>
        <p:spPr>
          <a:xfrm xmlns:a="http://schemas.openxmlformats.org/drawingml/2006/main">
            <a:off x="552450" y="3238500"/>
            <a:ext cx="7429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AEB7C4"/>
                </a:solidFill>
                <a:latin typeface="Aptos"/>
                <a:ea typeface="Aptos"/>
                <a:cs typeface="Aptos"/>
              </a:defRPr>
            </a:pPr>
            <a:r>
              <a:rPr sz="1575" b="0">
                <a:solidFill>
                  <a:srgbClr val="AEB7C4"/>
                </a:solidFill>
                <a:latin typeface="Aptos"/>
                <a:ea typeface="Aptos"/>
                <a:cs typeface="Aptos"/>
              </a:rPr>
              <a:t>How four LLM serving papers explain the path from memory management to prefix reuse, and where our capstone fits.</a:t>
            </a:r>
          </a:p>
        </p:txBody>
      </p:sp>
      <p:sp>
        <p:nvSpPr>
          <p:cNvPr id="9" name="">
            <a:extLst xmlns:a="http://schemas.openxmlformats.org/drawingml/2006/main">
              <a:ext uri="{FF2B5EF4-FFF2-40B4-BE49-F238E27FC236}">
                <a16:creationId xmlns:a16="http://schemas.microsoft.com/office/drawing/2014/main" id="{E0D8AB6E-F96C-48C9-97D1-18AC138E66D7}"/>
              </a:ext>
            </a:extLst>
          </p:cNvPr>
          <p:cNvSpPr>
            <a:spLocks xmlns:a="http://schemas.openxmlformats.org/drawingml/2006/main" noGrp="1"/>
          </p:cNvSpPr>
          <p:nvPr/>
        </p:nvSpPr>
        <p:spPr>
          <a:xfrm xmlns:a="http://schemas.openxmlformats.org/drawingml/2006/main">
            <a:off x="8810625" y="1524000"/>
            <a:ext cx="2333625" cy="8001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0" name="">
            <a:extLst xmlns:a="http://schemas.openxmlformats.org/drawingml/2006/main">
              <a:ext uri="{FF2B5EF4-FFF2-40B4-BE49-F238E27FC236}">
                <a16:creationId xmlns:a16="http://schemas.microsoft.com/office/drawing/2014/main" id="{161CCE96-73E5-4416-9840-7BDAD766C0F2}"/>
              </a:ext>
            </a:extLst>
          </p:cNvPr>
          <p:cNvSpPr>
            <a:spLocks xmlns:a="http://schemas.openxmlformats.org/drawingml/2006/main" noGrp="1"/>
          </p:cNvSpPr>
          <p:nvPr/>
        </p:nvSpPr>
        <p:spPr>
          <a:xfrm xmlns:a="http://schemas.openxmlformats.org/drawingml/2006/main">
            <a:off x="9020175" y="1619250"/>
            <a:ext cx="762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7BD88F"/>
                </a:solidFill>
                <a:latin typeface="Aptos Display"/>
                <a:ea typeface="Aptos Display"/>
                <a:cs typeface="Aptos Display"/>
              </a:defRPr>
            </a:pPr>
            <a:r>
              <a:rPr sz="3150" b="1">
                <a:solidFill>
                  <a:srgbClr val="7BD88F"/>
                </a:solidFill>
                <a:latin typeface="Aptos Display"/>
                <a:ea typeface="Aptos Display"/>
                <a:cs typeface="Aptos Display"/>
              </a:rPr>
              <a:t>4</a:t>
            </a:r>
          </a:p>
        </p:txBody>
      </p:sp>
      <p:sp>
        <p:nvSpPr>
          <p:cNvPr id="11" name="">
            <a:extLst xmlns:a="http://schemas.openxmlformats.org/drawingml/2006/main">
              <a:ext uri="{FF2B5EF4-FFF2-40B4-BE49-F238E27FC236}">
                <a16:creationId xmlns:a16="http://schemas.microsoft.com/office/drawing/2014/main" id="{2999D1AF-A4F6-4E53-A3B5-BDDFE1B80B9D}"/>
              </a:ext>
            </a:extLst>
          </p:cNvPr>
          <p:cNvSpPr>
            <a:spLocks xmlns:a="http://schemas.openxmlformats.org/drawingml/2006/main" noGrp="1"/>
          </p:cNvSpPr>
          <p:nvPr/>
        </p:nvSpPr>
        <p:spPr>
          <a:xfrm xmlns:a="http://schemas.openxmlformats.org/drawingml/2006/main">
            <a:off x="9839325" y="1790700"/>
            <a:ext cx="10953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7F3EA"/>
                </a:solidFill>
                <a:latin typeface="Aptos"/>
                <a:ea typeface="Aptos"/>
                <a:cs typeface="Aptos"/>
              </a:defRPr>
            </a:pPr>
            <a:r>
              <a:rPr sz="1200" b="0">
                <a:solidFill>
                  <a:srgbClr val="F7F3EA"/>
                </a:solidFill>
                <a:latin typeface="Aptos"/>
                <a:ea typeface="Aptos"/>
                <a:cs typeface="Aptos"/>
              </a:rPr>
              <a:t>base papers</a:t>
            </a:r>
          </a:p>
        </p:txBody>
      </p:sp>
      <p:sp>
        <p:nvSpPr>
          <p:cNvPr id="12" name="">
            <a:extLst xmlns:a="http://schemas.openxmlformats.org/drawingml/2006/main">
              <a:ext uri="{FF2B5EF4-FFF2-40B4-BE49-F238E27FC236}">
                <a16:creationId xmlns:a16="http://schemas.microsoft.com/office/drawing/2014/main" id="{32060E45-3B38-4EDF-B391-F0BCD72183A4}"/>
              </a:ext>
            </a:extLst>
          </p:cNvPr>
          <p:cNvSpPr>
            <a:spLocks xmlns:a="http://schemas.openxmlformats.org/drawingml/2006/main" noGrp="1"/>
          </p:cNvSpPr>
          <p:nvPr/>
        </p:nvSpPr>
        <p:spPr>
          <a:xfrm xmlns:a="http://schemas.openxmlformats.org/drawingml/2006/main">
            <a:off x="8810625" y="2628900"/>
            <a:ext cx="2333625" cy="8001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3" name="">
            <a:extLst xmlns:a="http://schemas.openxmlformats.org/drawingml/2006/main">
              <a:ext uri="{FF2B5EF4-FFF2-40B4-BE49-F238E27FC236}">
                <a16:creationId xmlns:a16="http://schemas.microsoft.com/office/drawing/2014/main" id="{85BAE5D1-A5AE-4121-B60D-BBE6E7E83442}"/>
              </a:ext>
            </a:extLst>
          </p:cNvPr>
          <p:cNvSpPr>
            <a:spLocks xmlns:a="http://schemas.openxmlformats.org/drawingml/2006/main" noGrp="1"/>
          </p:cNvSpPr>
          <p:nvPr/>
        </p:nvSpPr>
        <p:spPr>
          <a:xfrm xmlns:a="http://schemas.openxmlformats.org/drawingml/2006/main">
            <a:off x="9020175" y="2724150"/>
            <a:ext cx="762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72A7FF"/>
                </a:solidFill>
                <a:latin typeface="Aptos Display"/>
                <a:ea typeface="Aptos Display"/>
                <a:cs typeface="Aptos Display"/>
              </a:defRPr>
            </a:pPr>
            <a:r>
              <a:rPr sz="3150" b="1">
                <a:solidFill>
                  <a:srgbClr val="72A7FF"/>
                </a:solidFill>
                <a:latin typeface="Aptos Display"/>
                <a:ea typeface="Aptos Display"/>
                <a:cs typeface="Aptos Display"/>
              </a:rPr>
              <a:t>1</a:t>
            </a:r>
          </a:p>
        </p:txBody>
      </p:sp>
      <p:sp>
        <p:nvSpPr>
          <p:cNvPr id="14" name="">
            <a:extLst xmlns:a="http://schemas.openxmlformats.org/drawingml/2006/main">
              <a:ext uri="{FF2B5EF4-FFF2-40B4-BE49-F238E27FC236}">
                <a16:creationId xmlns:a16="http://schemas.microsoft.com/office/drawing/2014/main" id="{D7FDDCF5-B234-48F4-8EA0-6C7B9878FCB5}"/>
              </a:ext>
            </a:extLst>
          </p:cNvPr>
          <p:cNvSpPr>
            <a:spLocks xmlns:a="http://schemas.openxmlformats.org/drawingml/2006/main" noGrp="1"/>
          </p:cNvSpPr>
          <p:nvPr/>
        </p:nvSpPr>
        <p:spPr>
          <a:xfrm xmlns:a="http://schemas.openxmlformats.org/drawingml/2006/main">
            <a:off x="9839325" y="2895600"/>
            <a:ext cx="10953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7F3EA"/>
                </a:solidFill>
                <a:latin typeface="Aptos"/>
                <a:ea typeface="Aptos"/>
                <a:cs typeface="Aptos"/>
              </a:defRPr>
            </a:pPr>
            <a:r>
              <a:rPr sz="1200" b="0">
                <a:solidFill>
                  <a:srgbClr val="F7F3EA"/>
                </a:solidFill>
                <a:latin typeface="Aptos"/>
                <a:ea typeface="Aptos"/>
                <a:cs typeface="Aptos"/>
              </a:rPr>
              <a:t>systems thesis</a:t>
            </a:r>
          </a:p>
        </p:txBody>
      </p:sp>
      <p:sp>
        <p:nvSpPr>
          <p:cNvPr id="15" name="">
            <a:extLst xmlns:a="http://schemas.openxmlformats.org/drawingml/2006/main">
              <a:ext uri="{FF2B5EF4-FFF2-40B4-BE49-F238E27FC236}">
                <a16:creationId xmlns:a16="http://schemas.microsoft.com/office/drawing/2014/main" id="{F452FE20-5DB0-4512-9DC2-BC68601A33C9}"/>
              </a:ext>
            </a:extLst>
          </p:cNvPr>
          <p:cNvSpPr>
            <a:spLocks xmlns:a="http://schemas.openxmlformats.org/drawingml/2006/main" noGrp="1"/>
          </p:cNvSpPr>
          <p:nvPr/>
        </p:nvSpPr>
        <p:spPr>
          <a:xfrm xmlns:a="http://schemas.openxmlformats.org/drawingml/2006/main">
            <a:off x="8810625" y="3733800"/>
            <a:ext cx="2333625" cy="8001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6" name="">
            <a:extLst xmlns:a="http://schemas.openxmlformats.org/drawingml/2006/main">
              <a:ext uri="{FF2B5EF4-FFF2-40B4-BE49-F238E27FC236}">
                <a16:creationId xmlns:a16="http://schemas.microsoft.com/office/drawing/2014/main" id="{78552DEF-9677-44AF-8F0C-992BEDFC6218}"/>
              </a:ext>
            </a:extLst>
          </p:cNvPr>
          <p:cNvSpPr>
            <a:spLocks xmlns:a="http://schemas.openxmlformats.org/drawingml/2006/main" noGrp="1"/>
          </p:cNvSpPr>
          <p:nvPr/>
        </p:nvSpPr>
        <p:spPr>
          <a:xfrm xmlns:a="http://schemas.openxmlformats.org/drawingml/2006/main">
            <a:off x="9020175" y="3829050"/>
            <a:ext cx="762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F2B84B"/>
                </a:solidFill>
                <a:latin typeface="Aptos Display"/>
                <a:ea typeface="Aptos Display"/>
                <a:cs typeface="Aptos Display"/>
              </a:defRPr>
            </a:pPr>
            <a:r>
              <a:rPr sz="3150" b="1">
                <a:solidFill>
                  <a:srgbClr val="F2B84B"/>
                </a:solidFill>
                <a:latin typeface="Aptos Display"/>
                <a:ea typeface="Aptos Display"/>
                <a:cs typeface="Aptos Display"/>
              </a:rPr>
              <a:t>10%</a:t>
            </a:r>
          </a:p>
        </p:txBody>
      </p:sp>
      <p:sp>
        <p:nvSpPr>
          <p:cNvPr id="17" name="">
            <a:extLst xmlns:a="http://schemas.openxmlformats.org/drawingml/2006/main">
              <a:ext uri="{FF2B5EF4-FFF2-40B4-BE49-F238E27FC236}">
                <a16:creationId xmlns:a16="http://schemas.microsoft.com/office/drawing/2014/main" id="{C07361A5-D31F-4DE6-9B9F-3EDB4F4437C5}"/>
              </a:ext>
            </a:extLst>
          </p:cNvPr>
          <p:cNvSpPr>
            <a:spLocks xmlns:a="http://schemas.openxmlformats.org/drawingml/2006/main" noGrp="1"/>
          </p:cNvSpPr>
          <p:nvPr/>
        </p:nvSpPr>
        <p:spPr>
          <a:xfrm xmlns:a="http://schemas.openxmlformats.org/drawingml/2006/main">
            <a:off x="9839325" y="4000500"/>
            <a:ext cx="109537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F7F3EA"/>
                </a:solidFill>
                <a:latin typeface="Aptos"/>
                <a:ea typeface="Aptos"/>
                <a:cs typeface="Aptos"/>
              </a:defRPr>
            </a:pPr>
            <a:r>
              <a:rPr sz="1200" b="0">
                <a:solidFill>
                  <a:srgbClr val="F7F3EA"/>
                </a:solidFill>
                <a:latin typeface="Aptos"/>
                <a:ea typeface="Aptos"/>
                <a:cs typeface="Aptos"/>
              </a:rPr>
              <a:t>related-work milestone</a:t>
            </a:r>
          </a:p>
        </p:txBody>
      </p:sp>
      <p:sp>
        <p:nvSpPr>
          <p:cNvPr id="18" name="">
            <a:extLst xmlns:a="http://schemas.openxmlformats.org/drawingml/2006/main">
              <a:ext uri="{FF2B5EF4-FFF2-40B4-BE49-F238E27FC236}">
                <a16:creationId xmlns:a16="http://schemas.microsoft.com/office/drawing/2014/main" id="{ACE5C9AD-782E-4B1B-8D87-4AB4C1F20731}"/>
              </a:ext>
            </a:extLst>
          </p:cNvPr>
          <p:cNvSpPr>
            <a:spLocks xmlns:a="http://schemas.openxmlformats.org/drawingml/2006/main" noGrp="1"/>
          </p:cNvSpPr>
          <p:nvPr/>
        </p:nvSpPr>
        <p:spPr>
          <a:xfrm xmlns:a="http://schemas.openxmlformats.org/drawingml/2006/main">
            <a:off x="552450" y="5314950"/>
            <a:ext cx="361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F7F3EA"/>
                </a:solidFill>
                <a:latin typeface="Aptos"/>
                <a:ea typeface="Aptos"/>
                <a:cs typeface="Aptos"/>
              </a:defRPr>
            </a:pPr>
            <a:r>
              <a:rPr sz="1350" b="0">
                <a:solidFill>
                  <a:srgbClr val="F7F3EA"/>
                </a:solidFill>
                <a:latin typeface="Aptos"/>
                <a:ea typeface="Aptos"/>
                <a:cs typeface="Aptos"/>
              </a:rPr>
              <a:t>Ben Gao + Capstone Team</a:t>
            </a:r>
          </a:p>
        </p:txBody>
      </p:sp>
      <p:sp>
        <p:nvSpPr>
          <p:cNvPr id="19" name="">
            <a:extLst xmlns:a="http://schemas.openxmlformats.org/drawingml/2006/main">
              <a:ext uri="{FF2B5EF4-FFF2-40B4-BE49-F238E27FC236}">
                <a16:creationId xmlns:a16="http://schemas.microsoft.com/office/drawing/2014/main" id="{632DE866-AD92-412A-8A3B-2772099A253B}"/>
              </a:ext>
            </a:extLst>
          </p:cNvPr>
          <p:cNvSpPr>
            <a:spLocks xmlns:a="http://schemas.openxmlformats.org/drawingml/2006/main" noGrp="1"/>
          </p:cNvSpPr>
          <p:nvPr/>
        </p:nvSpPr>
        <p:spPr>
          <a:xfrm xmlns:a="http://schemas.openxmlformats.org/drawingml/2006/main">
            <a:off x="552450" y="5600700"/>
            <a:ext cx="3619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2026-05-27 · 09:30 PST</a:t>
            </a:r>
          </a:p>
        </p:txBody>
      </p:sp>
      <p:sp>
        <p:nvSpPr>
          <p:cNvPr id="20" name="">
            <a:extLst xmlns:a="http://schemas.openxmlformats.org/drawingml/2006/main">
              <a:ext uri="{FF2B5EF4-FFF2-40B4-BE49-F238E27FC236}">
                <a16:creationId xmlns:a16="http://schemas.microsoft.com/office/drawing/2014/main" id="{8D0D4779-615D-48DD-8C85-6FF2D84C2F87}"/>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Capstone · LLM Latency Optimization · 2026-05-27</a:t>
            </a:r>
          </a:p>
        </p:txBody>
      </p:sp>
    </p:spTree>
    <p:extLst>
      <p:ext uri="{BB962C8B-B14F-4D97-AF65-F5344CB8AC3E}">
        <p14:creationId xmlns:p14="http://schemas.microsoft.com/office/powerpoint/2010/main" val="96625630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03DA7D8-04B0-474D-8079-A293AB032E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0CD7B17-E26E-46F0-B6B3-17F650EF6DCE}"/>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AGENDA</a:t>
            </a:r>
          </a:p>
        </p:txBody>
      </p:sp>
      <p:sp>
        <p:nvSpPr>
          <p:cNvPr id="3" name="">
            <a:extLst xmlns:a="http://schemas.openxmlformats.org/drawingml/2006/main">
              <a:ext uri="{FF2B5EF4-FFF2-40B4-BE49-F238E27FC236}">
                <a16:creationId xmlns:a16="http://schemas.microsoft.com/office/drawing/2014/main" id="{169646EF-3B2C-48FE-9AE3-36DAA51DDB73}"/>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971B1C93-2B15-4F39-BA56-860B874C5992}"/>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The story in four layers</a:t>
            </a:r>
          </a:p>
        </p:txBody>
      </p:sp>
      <p:sp>
        <p:nvSpPr>
          <p:cNvPr id="5" name="">
            <a:extLst xmlns:a="http://schemas.openxmlformats.org/drawingml/2006/main">
              <a:ext uri="{FF2B5EF4-FFF2-40B4-BE49-F238E27FC236}">
                <a16:creationId xmlns:a16="http://schemas.microsoft.com/office/drawing/2014/main" id="{5C1D9E4E-1565-493A-A635-19E09A5C97AE}"/>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Each paper removes a different source of wasted work in LLM serving.</a:t>
            </a:r>
          </a:p>
        </p:txBody>
      </p:sp>
      <p:sp>
        <p:nvSpPr>
          <p:cNvPr id="6" name="">
            <a:extLst xmlns:a="http://schemas.openxmlformats.org/drawingml/2006/main">
              <a:ext uri="{FF2B5EF4-FFF2-40B4-BE49-F238E27FC236}">
                <a16:creationId xmlns:a16="http://schemas.microsoft.com/office/drawing/2014/main" id="{58902498-0EC4-4E1C-B190-2622592F8BD0}"/>
              </a:ext>
            </a:extLst>
          </p:cNvPr>
          <p:cNvSpPr>
            <a:spLocks xmlns:a="http://schemas.openxmlformats.org/drawingml/2006/main" noGrp="1"/>
          </p:cNvSpPr>
          <p:nvPr/>
        </p:nvSpPr>
        <p:spPr>
          <a:xfrm xmlns:a="http://schemas.openxmlformats.org/drawingml/2006/main">
            <a:off x="742950" y="2333625"/>
            <a:ext cx="4762500" cy="11811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7" name="">
            <a:extLst xmlns:a="http://schemas.openxmlformats.org/drawingml/2006/main">
              <a:ext uri="{FF2B5EF4-FFF2-40B4-BE49-F238E27FC236}">
                <a16:creationId xmlns:a16="http://schemas.microsoft.com/office/drawing/2014/main" id="{ADDB6FAF-E181-4C63-8958-62F0D9C646B5}"/>
              </a:ext>
            </a:extLst>
          </p:cNvPr>
          <p:cNvSpPr>
            <a:spLocks xmlns:a="http://schemas.openxmlformats.org/drawingml/2006/main" noGrp="1"/>
          </p:cNvSpPr>
          <p:nvPr/>
        </p:nvSpPr>
        <p:spPr>
          <a:xfrm xmlns:a="http://schemas.openxmlformats.org/drawingml/2006/main">
            <a:off x="742950" y="2333625"/>
            <a:ext cx="47625" cy="118110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9AA8907-8B22-4182-88DA-24A81986920D}"/>
              </a:ext>
            </a:extLst>
          </p:cNvPr>
          <p:cNvSpPr>
            <a:spLocks xmlns:a="http://schemas.openxmlformats.org/drawingml/2006/main" noGrp="1"/>
          </p:cNvSpPr>
          <p:nvPr/>
        </p:nvSpPr>
        <p:spPr>
          <a:xfrm xmlns:a="http://schemas.openxmlformats.org/drawingml/2006/main">
            <a:off x="914400" y="2486025"/>
            <a:ext cx="4419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01 · Memory layout</a:t>
            </a:r>
          </a:p>
        </p:txBody>
      </p:sp>
      <p:sp>
        <p:nvSpPr>
          <p:cNvPr id="9" name="">
            <a:extLst xmlns:a="http://schemas.openxmlformats.org/drawingml/2006/main">
              <a:ext uri="{FF2B5EF4-FFF2-40B4-BE49-F238E27FC236}">
                <a16:creationId xmlns:a16="http://schemas.microsoft.com/office/drawing/2014/main" id="{8D75758F-637F-4F58-B5E2-24EF1AE3E942}"/>
              </a:ext>
            </a:extLst>
          </p:cNvPr>
          <p:cNvSpPr>
            <a:spLocks xmlns:a="http://schemas.openxmlformats.org/drawingml/2006/main" noGrp="1"/>
          </p:cNvSpPr>
          <p:nvPr/>
        </p:nvSpPr>
        <p:spPr>
          <a:xfrm xmlns:a="http://schemas.openxmlformats.org/drawingml/2006/main">
            <a:off x="914400" y="2809875"/>
            <a:ext cx="44196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vLLM uses OS-style paging to keep KV cache usable under variable sequence lengths.</a:t>
            </a:r>
          </a:p>
        </p:txBody>
      </p:sp>
      <p:sp>
        <p:nvSpPr>
          <p:cNvPr id="10" name="">
            <a:extLst xmlns:a="http://schemas.openxmlformats.org/drawingml/2006/main">
              <a:ext uri="{FF2B5EF4-FFF2-40B4-BE49-F238E27FC236}">
                <a16:creationId xmlns:a16="http://schemas.microsoft.com/office/drawing/2014/main" id="{663BA1D9-1EBA-44E9-B50E-9FD2F92DBC8A}"/>
              </a:ext>
            </a:extLst>
          </p:cNvPr>
          <p:cNvSpPr>
            <a:spLocks xmlns:a="http://schemas.openxmlformats.org/drawingml/2006/main" noGrp="1"/>
          </p:cNvSpPr>
          <p:nvPr/>
        </p:nvSpPr>
        <p:spPr>
          <a:xfrm xmlns:a="http://schemas.openxmlformats.org/drawingml/2006/main">
            <a:off x="6172200" y="2333625"/>
            <a:ext cx="4762500" cy="11811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1" name="">
            <a:extLst xmlns:a="http://schemas.openxmlformats.org/drawingml/2006/main">
              <a:ext uri="{FF2B5EF4-FFF2-40B4-BE49-F238E27FC236}">
                <a16:creationId xmlns:a16="http://schemas.microsoft.com/office/drawing/2014/main" id="{1729C433-B550-49BF-BDD1-7F0BB71EC721}"/>
              </a:ext>
            </a:extLst>
          </p:cNvPr>
          <p:cNvSpPr>
            <a:spLocks xmlns:a="http://schemas.openxmlformats.org/drawingml/2006/main" noGrp="1"/>
          </p:cNvSpPr>
          <p:nvPr/>
        </p:nvSpPr>
        <p:spPr>
          <a:xfrm xmlns:a="http://schemas.openxmlformats.org/drawingml/2006/main">
            <a:off x="6172200" y="2333625"/>
            <a:ext cx="47625" cy="118110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5DDFEAA2-28D8-492E-A2AF-B6D70F538ED7}"/>
              </a:ext>
            </a:extLst>
          </p:cNvPr>
          <p:cNvSpPr>
            <a:spLocks xmlns:a="http://schemas.openxmlformats.org/drawingml/2006/main" noGrp="1"/>
          </p:cNvSpPr>
          <p:nvPr/>
        </p:nvSpPr>
        <p:spPr>
          <a:xfrm xmlns:a="http://schemas.openxmlformats.org/drawingml/2006/main">
            <a:off x="6343650" y="2486025"/>
            <a:ext cx="4419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02 · Prefix reuse</a:t>
            </a:r>
          </a:p>
        </p:txBody>
      </p:sp>
      <p:sp>
        <p:nvSpPr>
          <p:cNvPr id="13" name="">
            <a:extLst xmlns:a="http://schemas.openxmlformats.org/drawingml/2006/main">
              <a:ext uri="{FF2B5EF4-FFF2-40B4-BE49-F238E27FC236}">
                <a16:creationId xmlns:a16="http://schemas.microsoft.com/office/drawing/2014/main" id="{7FE6DC79-FDCD-41ED-AC61-9D97202E609D}"/>
              </a:ext>
            </a:extLst>
          </p:cNvPr>
          <p:cNvSpPr>
            <a:spLocks xmlns:a="http://schemas.openxmlformats.org/drawingml/2006/main" noGrp="1"/>
          </p:cNvSpPr>
          <p:nvPr/>
        </p:nvSpPr>
        <p:spPr>
          <a:xfrm xmlns:a="http://schemas.openxmlformats.org/drawingml/2006/main">
            <a:off x="6343650" y="2809875"/>
            <a:ext cx="44196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SGLang stores shared prompt prefixes in a radix tree and reuses cached KV states.</a:t>
            </a:r>
          </a:p>
        </p:txBody>
      </p:sp>
      <p:sp>
        <p:nvSpPr>
          <p:cNvPr id="14" name="">
            <a:extLst xmlns:a="http://schemas.openxmlformats.org/drawingml/2006/main">
              <a:ext uri="{FF2B5EF4-FFF2-40B4-BE49-F238E27FC236}">
                <a16:creationId xmlns:a16="http://schemas.microsoft.com/office/drawing/2014/main" id="{E2C62722-6323-4604-B595-6F4BBF72648F}"/>
              </a:ext>
            </a:extLst>
          </p:cNvPr>
          <p:cNvSpPr>
            <a:spLocks xmlns:a="http://schemas.openxmlformats.org/drawingml/2006/main" noGrp="1"/>
          </p:cNvSpPr>
          <p:nvPr/>
        </p:nvSpPr>
        <p:spPr>
          <a:xfrm xmlns:a="http://schemas.openxmlformats.org/drawingml/2006/main">
            <a:off x="742950" y="3952875"/>
            <a:ext cx="4762500" cy="11811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5" name="">
            <a:extLst xmlns:a="http://schemas.openxmlformats.org/drawingml/2006/main">
              <a:ext uri="{FF2B5EF4-FFF2-40B4-BE49-F238E27FC236}">
                <a16:creationId xmlns:a16="http://schemas.microsoft.com/office/drawing/2014/main" id="{34D40D21-2C20-4DE0-B63A-9C1AAD1370F5}"/>
              </a:ext>
            </a:extLst>
          </p:cNvPr>
          <p:cNvSpPr>
            <a:spLocks xmlns:a="http://schemas.openxmlformats.org/drawingml/2006/main" noGrp="1"/>
          </p:cNvSpPr>
          <p:nvPr/>
        </p:nvSpPr>
        <p:spPr>
          <a:xfrm xmlns:a="http://schemas.openxmlformats.org/drawingml/2006/main">
            <a:off x="742950" y="3952875"/>
            <a:ext cx="47625" cy="118110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A3CE694-E3EC-43DB-80CC-13C9D05D16BC}"/>
              </a:ext>
            </a:extLst>
          </p:cNvPr>
          <p:cNvSpPr>
            <a:spLocks xmlns:a="http://schemas.openxmlformats.org/drawingml/2006/main" noGrp="1"/>
          </p:cNvSpPr>
          <p:nvPr/>
        </p:nvSpPr>
        <p:spPr>
          <a:xfrm xmlns:a="http://schemas.openxmlformats.org/drawingml/2006/main">
            <a:off x="914400" y="4105275"/>
            <a:ext cx="4419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03 · Prompt modularity</a:t>
            </a:r>
          </a:p>
        </p:txBody>
      </p:sp>
      <p:sp>
        <p:nvSpPr>
          <p:cNvPr id="17" name="">
            <a:extLst xmlns:a="http://schemas.openxmlformats.org/drawingml/2006/main">
              <a:ext uri="{FF2B5EF4-FFF2-40B4-BE49-F238E27FC236}">
                <a16:creationId xmlns:a16="http://schemas.microsoft.com/office/drawing/2014/main" id="{A76DF2A9-4F90-45C6-8AE0-D24B3342B066}"/>
              </a:ext>
            </a:extLst>
          </p:cNvPr>
          <p:cNvSpPr>
            <a:spLocks xmlns:a="http://schemas.openxmlformats.org/drawingml/2006/main" noGrp="1"/>
          </p:cNvSpPr>
          <p:nvPr/>
        </p:nvSpPr>
        <p:spPr>
          <a:xfrm xmlns:a="http://schemas.openxmlformats.org/drawingml/2006/main">
            <a:off x="914400" y="4429125"/>
            <a:ext cx="44196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PromptCache turns repeated prompt components into reusable cached modules.</a:t>
            </a:r>
          </a:p>
        </p:txBody>
      </p:sp>
      <p:sp>
        <p:nvSpPr>
          <p:cNvPr id="18" name="">
            <a:extLst xmlns:a="http://schemas.openxmlformats.org/drawingml/2006/main">
              <a:ext uri="{FF2B5EF4-FFF2-40B4-BE49-F238E27FC236}">
                <a16:creationId xmlns:a16="http://schemas.microsoft.com/office/drawing/2014/main" id="{F76168CD-37D9-4A5E-9C3A-B48DEE94CDF0}"/>
              </a:ext>
            </a:extLst>
          </p:cNvPr>
          <p:cNvSpPr>
            <a:spLocks xmlns:a="http://schemas.openxmlformats.org/drawingml/2006/main" noGrp="1"/>
          </p:cNvSpPr>
          <p:nvPr/>
        </p:nvSpPr>
        <p:spPr>
          <a:xfrm xmlns:a="http://schemas.openxmlformats.org/drawingml/2006/main">
            <a:off x="6172200" y="3952875"/>
            <a:ext cx="4762500" cy="11811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9" name="">
            <a:extLst xmlns:a="http://schemas.openxmlformats.org/drawingml/2006/main">
              <a:ext uri="{FF2B5EF4-FFF2-40B4-BE49-F238E27FC236}">
                <a16:creationId xmlns:a16="http://schemas.microsoft.com/office/drawing/2014/main" id="{AE0C4949-C6EB-4E63-8A75-0F57A5946A5B}"/>
              </a:ext>
            </a:extLst>
          </p:cNvPr>
          <p:cNvSpPr>
            <a:spLocks xmlns:a="http://schemas.openxmlformats.org/drawingml/2006/main" noGrp="1"/>
          </p:cNvSpPr>
          <p:nvPr/>
        </p:nvSpPr>
        <p:spPr>
          <a:xfrm xmlns:a="http://schemas.openxmlformats.org/drawingml/2006/main">
            <a:off x="6172200" y="3952875"/>
            <a:ext cx="47625" cy="1181100"/>
          </a:xfrm>
          <a:prstGeom xmlns:a="http://schemas.openxmlformats.org/drawingml/2006/main" prst="rect">
            <a:avLst/>
          </a:prstGeom>
          <a:solidFill xmlns:a="http://schemas.openxmlformats.org/drawingml/2006/main">
            <a:srgbClr val="B998F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AD5AF45F-1DE2-464C-BD1E-56459297C694}"/>
              </a:ext>
            </a:extLst>
          </p:cNvPr>
          <p:cNvSpPr>
            <a:spLocks xmlns:a="http://schemas.openxmlformats.org/drawingml/2006/main" noGrp="1"/>
          </p:cNvSpPr>
          <p:nvPr/>
        </p:nvSpPr>
        <p:spPr>
          <a:xfrm xmlns:a="http://schemas.openxmlformats.org/drawingml/2006/main">
            <a:off x="6343650" y="4105275"/>
            <a:ext cx="4419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04 · Attention math</a:t>
            </a:r>
          </a:p>
        </p:txBody>
      </p:sp>
      <p:sp>
        <p:nvSpPr>
          <p:cNvPr id="21" name="">
            <a:extLst xmlns:a="http://schemas.openxmlformats.org/drawingml/2006/main">
              <a:ext uri="{FF2B5EF4-FFF2-40B4-BE49-F238E27FC236}">
                <a16:creationId xmlns:a16="http://schemas.microsoft.com/office/drawing/2014/main" id="{8DBD7DB1-7C8A-49FB-A4FD-A70B1C609E81}"/>
              </a:ext>
            </a:extLst>
          </p:cNvPr>
          <p:cNvSpPr>
            <a:spLocks xmlns:a="http://schemas.openxmlformats.org/drawingml/2006/main" noGrp="1"/>
          </p:cNvSpPr>
          <p:nvPr/>
        </p:nvSpPr>
        <p:spPr>
          <a:xfrm xmlns:a="http://schemas.openxmlformats.org/drawingml/2006/main">
            <a:off x="6343650" y="4429125"/>
            <a:ext cx="44196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Hydragen avoids rereading the same shared-prefix KV blocks across a batch.</a:t>
            </a:r>
          </a:p>
        </p:txBody>
      </p:sp>
      <p:sp>
        <p:nvSpPr>
          <p:cNvPr id="22" name="">
            <a:extLst xmlns:a="http://schemas.openxmlformats.org/drawingml/2006/main">
              <a:ext uri="{FF2B5EF4-FFF2-40B4-BE49-F238E27FC236}">
                <a16:creationId xmlns:a16="http://schemas.microsoft.com/office/drawing/2014/main" id="{268D9BA7-A262-40D5-8A31-6EC8FB5672B1}"/>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Capstone · LLM Latency Optimization · 2026-05-27</a:t>
            </a:r>
          </a:p>
        </p:txBody>
      </p:sp>
    </p:spTree>
    <p:extLst>
      <p:ext uri="{BB962C8B-B14F-4D97-AF65-F5344CB8AC3E}">
        <p14:creationId xmlns:p14="http://schemas.microsoft.com/office/powerpoint/2010/main" val="10930664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6A3C7E-10C1-44E5-8D35-A05911C5B1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6B4ACB3-6FED-4B03-9F21-5A9973177A09}"/>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LATENCY PIPELINE</a:t>
            </a:r>
          </a:p>
        </p:txBody>
      </p:sp>
      <p:sp>
        <p:nvSpPr>
          <p:cNvPr id="3" name="">
            <a:extLst xmlns:a="http://schemas.openxmlformats.org/drawingml/2006/main">
              <a:ext uri="{FF2B5EF4-FFF2-40B4-BE49-F238E27FC236}">
                <a16:creationId xmlns:a16="http://schemas.microsoft.com/office/drawing/2014/main" id="{8A60E4EC-E429-4C05-908D-F28EAAC16801}"/>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2F58AF94-40E9-41A3-9133-549FDCED28CA}"/>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Where latency comes from</a:t>
            </a:r>
          </a:p>
        </p:txBody>
      </p:sp>
      <p:sp>
        <p:nvSpPr>
          <p:cNvPr id="5" name="">
            <a:extLst xmlns:a="http://schemas.openxmlformats.org/drawingml/2006/main">
              <a:ext uri="{FF2B5EF4-FFF2-40B4-BE49-F238E27FC236}">
                <a16:creationId xmlns:a16="http://schemas.microsoft.com/office/drawing/2014/main" id="{E3CA451A-7433-4AB0-8D92-AC466BF23D8F}"/>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The papers cluster around prefill cost, KV-cache memory pressure, and decode-side attention work.</a:t>
            </a:r>
          </a:p>
        </p:txBody>
      </p:sp>
      <p:sp>
        <p:nvSpPr>
          <p:cNvPr id="6" name="">
            <a:extLst xmlns:a="http://schemas.openxmlformats.org/drawingml/2006/main">
              <a:ext uri="{FF2B5EF4-FFF2-40B4-BE49-F238E27FC236}">
                <a16:creationId xmlns:a16="http://schemas.microsoft.com/office/drawing/2014/main" id="{B923C7A8-C820-44A2-B465-B98F4F36733A}"/>
              </a:ext>
            </a:extLst>
          </p:cNvPr>
          <p:cNvSpPr>
            <a:spLocks xmlns:a="http://schemas.openxmlformats.org/drawingml/2006/main" noGrp="1"/>
          </p:cNvSpPr>
          <p:nvPr/>
        </p:nvSpPr>
        <p:spPr>
          <a:xfrm xmlns:a="http://schemas.openxmlformats.org/drawingml/2006/main">
            <a:off x="819150" y="2809875"/>
            <a:ext cx="2095500" cy="914400"/>
          </a:xfrm>
          <a:prstGeom xmlns:a="http://schemas.openxmlformats.org/drawingml/2006/main" prst="rect">
            <a:avLst/>
          </a:prstGeom>
          <a:solidFill xmlns:a="http://schemas.openxmlformats.org/drawingml/2006/main">
            <a:srgbClr val="1C2330"/>
          </a:solidFill>
          <a:ln xmlns:a="http://schemas.openxmlformats.org/drawingml/2006/main" w="19050">
            <a:solidFill>
              <a:srgbClr val="F2B84B"/>
            </a:solidFill>
            <a:prstDash val="solid"/>
          </a:ln>
        </p:spPr>
      </p:sp>
      <p:sp>
        <p:nvSpPr>
          <p:cNvPr id="7" name="">
            <a:extLst xmlns:a="http://schemas.openxmlformats.org/drawingml/2006/main">
              <a:ext uri="{FF2B5EF4-FFF2-40B4-BE49-F238E27FC236}">
                <a16:creationId xmlns:a16="http://schemas.microsoft.com/office/drawing/2014/main" id="{D65CC0DD-9576-4E33-A84D-84E0CEFE5021}"/>
              </a:ext>
            </a:extLst>
          </p:cNvPr>
          <p:cNvSpPr>
            <a:spLocks xmlns:a="http://schemas.openxmlformats.org/drawingml/2006/main" noGrp="1"/>
          </p:cNvSpPr>
          <p:nvPr/>
        </p:nvSpPr>
        <p:spPr>
          <a:xfrm xmlns:a="http://schemas.openxmlformats.org/drawingml/2006/main">
            <a:off x="971550" y="2971800"/>
            <a:ext cx="1790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3EA"/>
                </a:solidFill>
                <a:latin typeface="Aptos Display"/>
                <a:ea typeface="Aptos Display"/>
                <a:cs typeface="Aptos Display"/>
              </a:defRPr>
            </a:pPr>
            <a:r>
              <a:rPr sz="1500" b="1">
                <a:solidFill>
                  <a:srgbClr val="F7F3EA"/>
                </a:solidFill>
                <a:latin typeface="Aptos Display"/>
                <a:ea typeface="Aptos Display"/>
                <a:cs typeface="Aptos Display"/>
              </a:rPr>
              <a:t>Prompt / context</a:t>
            </a:r>
          </a:p>
        </p:txBody>
      </p:sp>
      <p:sp>
        <p:nvSpPr>
          <p:cNvPr id="8" name="">
            <a:extLst xmlns:a="http://schemas.openxmlformats.org/drawingml/2006/main">
              <a:ext uri="{FF2B5EF4-FFF2-40B4-BE49-F238E27FC236}">
                <a16:creationId xmlns:a16="http://schemas.microsoft.com/office/drawing/2014/main" id="{CA6884BE-D34E-4A2A-A331-299857FA3788}"/>
              </a:ext>
            </a:extLst>
          </p:cNvPr>
          <p:cNvSpPr>
            <a:spLocks xmlns:a="http://schemas.openxmlformats.org/drawingml/2006/main" noGrp="1"/>
          </p:cNvSpPr>
          <p:nvPr/>
        </p:nvSpPr>
        <p:spPr>
          <a:xfrm xmlns:a="http://schemas.openxmlformats.org/drawingml/2006/main">
            <a:off x="971550" y="3286125"/>
            <a:ext cx="1790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EB7C4"/>
                </a:solidFill>
                <a:latin typeface="Aptos"/>
                <a:ea typeface="Aptos"/>
                <a:cs typeface="Aptos"/>
              </a:defRPr>
            </a:pPr>
            <a:r>
              <a:rPr sz="1050" b="0">
                <a:solidFill>
                  <a:srgbClr val="AEB7C4"/>
                </a:solidFill>
                <a:latin typeface="Aptos"/>
                <a:ea typeface="Aptos"/>
                <a:cs typeface="Aptos"/>
              </a:rPr>
              <a:t>System prompt, tools, RAG docs</a:t>
            </a:r>
          </a:p>
        </p:txBody>
      </p:sp>
      <p:sp>
        <p:nvSpPr>
          <p:cNvPr id="9" name="">
            <a:extLst xmlns:a="http://schemas.openxmlformats.org/drawingml/2006/main">
              <a:ext uri="{FF2B5EF4-FFF2-40B4-BE49-F238E27FC236}">
                <a16:creationId xmlns:a16="http://schemas.microsoft.com/office/drawing/2014/main" id="{32703291-ED60-4685-8924-C1016347F80E}"/>
              </a:ext>
            </a:extLst>
          </p:cNvPr>
          <p:cNvSpPr>
            <a:spLocks xmlns:a="http://schemas.openxmlformats.org/drawingml/2006/main" noGrp="1"/>
          </p:cNvSpPr>
          <p:nvPr/>
        </p:nvSpPr>
        <p:spPr>
          <a:xfrm xmlns:a="http://schemas.openxmlformats.org/drawingml/2006/main">
            <a:off x="2971800" y="3257550"/>
            <a:ext cx="438150" cy="2857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CBCD770-BD41-4910-8B1E-637F237EA9DE}"/>
              </a:ext>
            </a:extLst>
          </p:cNvPr>
          <p:cNvSpPr>
            <a:spLocks xmlns:a="http://schemas.openxmlformats.org/drawingml/2006/main" noGrp="1"/>
          </p:cNvSpPr>
          <p:nvPr/>
        </p:nvSpPr>
        <p:spPr>
          <a:xfrm xmlns:a="http://schemas.openxmlformats.org/drawingml/2006/main">
            <a:off x="3324225" y="3190875"/>
            <a:ext cx="133350" cy="133350"/>
          </a:xfrm>
          <a:prstGeom xmlns:a="http://schemas.openxmlformats.org/drawingml/2006/main" prst="triangle">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9182B07-8C2E-460E-A79B-55C5E7A1484A}"/>
              </a:ext>
            </a:extLst>
          </p:cNvPr>
          <p:cNvSpPr>
            <a:spLocks xmlns:a="http://schemas.openxmlformats.org/drawingml/2006/main" noGrp="1"/>
          </p:cNvSpPr>
          <p:nvPr/>
        </p:nvSpPr>
        <p:spPr>
          <a:xfrm xmlns:a="http://schemas.openxmlformats.org/drawingml/2006/main">
            <a:off x="3581400" y="2809875"/>
            <a:ext cx="2095500" cy="914400"/>
          </a:xfrm>
          <a:prstGeom xmlns:a="http://schemas.openxmlformats.org/drawingml/2006/main" prst="rect">
            <a:avLst/>
          </a:prstGeom>
          <a:solidFill xmlns:a="http://schemas.openxmlformats.org/drawingml/2006/main">
            <a:srgbClr val="1C2330"/>
          </a:solidFill>
          <a:ln xmlns:a="http://schemas.openxmlformats.org/drawingml/2006/main" w="19050">
            <a:solidFill>
              <a:srgbClr val="72A7FF"/>
            </a:solidFill>
            <a:prstDash val="solid"/>
          </a:ln>
        </p:spPr>
      </p:sp>
      <p:sp>
        <p:nvSpPr>
          <p:cNvPr id="12" name="">
            <a:extLst xmlns:a="http://schemas.openxmlformats.org/drawingml/2006/main">
              <a:ext uri="{FF2B5EF4-FFF2-40B4-BE49-F238E27FC236}">
                <a16:creationId xmlns:a16="http://schemas.microsoft.com/office/drawing/2014/main" id="{94E95C64-5455-44C4-97AE-F3483A874033}"/>
              </a:ext>
            </a:extLst>
          </p:cNvPr>
          <p:cNvSpPr>
            <a:spLocks xmlns:a="http://schemas.openxmlformats.org/drawingml/2006/main" noGrp="1"/>
          </p:cNvSpPr>
          <p:nvPr/>
        </p:nvSpPr>
        <p:spPr>
          <a:xfrm xmlns:a="http://schemas.openxmlformats.org/drawingml/2006/main">
            <a:off x="3733800" y="2971800"/>
            <a:ext cx="1790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3EA"/>
                </a:solidFill>
                <a:latin typeface="Aptos Display"/>
                <a:ea typeface="Aptos Display"/>
                <a:cs typeface="Aptos Display"/>
              </a:defRPr>
            </a:pPr>
            <a:r>
              <a:rPr sz="1500" b="1">
                <a:solidFill>
                  <a:srgbClr val="F7F3EA"/>
                </a:solidFill>
                <a:latin typeface="Aptos Display"/>
                <a:ea typeface="Aptos Display"/>
                <a:cs typeface="Aptos Display"/>
              </a:rPr>
              <a:t>Prefill</a:t>
            </a:r>
          </a:p>
        </p:txBody>
      </p:sp>
      <p:sp>
        <p:nvSpPr>
          <p:cNvPr id="13" name="">
            <a:extLst xmlns:a="http://schemas.openxmlformats.org/drawingml/2006/main">
              <a:ext uri="{FF2B5EF4-FFF2-40B4-BE49-F238E27FC236}">
                <a16:creationId xmlns:a16="http://schemas.microsoft.com/office/drawing/2014/main" id="{091C5CA6-3BFF-417E-9739-EF24835E506B}"/>
              </a:ext>
            </a:extLst>
          </p:cNvPr>
          <p:cNvSpPr>
            <a:spLocks xmlns:a="http://schemas.openxmlformats.org/drawingml/2006/main" noGrp="1"/>
          </p:cNvSpPr>
          <p:nvPr/>
        </p:nvSpPr>
        <p:spPr>
          <a:xfrm xmlns:a="http://schemas.openxmlformats.org/drawingml/2006/main">
            <a:off x="3733800" y="3286125"/>
            <a:ext cx="1790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EB7C4"/>
                </a:solidFill>
                <a:latin typeface="Aptos"/>
                <a:ea typeface="Aptos"/>
                <a:cs typeface="Aptos"/>
              </a:defRPr>
            </a:pPr>
            <a:r>
              <a:rPr sz="1050" b="0">
                <a:solidFill>
                  <a:srgbClr val="AEB7C4"/>
                </a:solidFill>
                <a:latin typeface="Aptos"/>
                <a:ea typeface="Aptos"/>
                <a:cs typeface="Aptos"/>
              </a:rPr>
              <a:t>Build KV cache for input tokens</a:t>
            </a:r>
          </a:p>
        </p:txBody>
      </p:sp>
      <p:sp>
        <p:nvSpPr>
          <p:cNvPr id="14" name="">
            <a:extLst xmlns:a="http://schemas.openxmlformats.org/drawingml/2006/main">
              <a:ext uri="{FF2B5EF4-FFF2-40B4-BE49-F238E27FC236}">
                <a16:creationId xmlns:a16="http://schemas.microsoft.com/office/drawing/2014/main" id="{FFC57338-F624-411A-BCF7-B7EC727EB53D}"/>
              </a:ext>
            </a:extLst>
          </p:cNvPr>
          <p:cNvSpPr>
            <a:spLocks xmlns:a="http://schemas.openxmlformats.org/drawingml/2006/main" noGrp="1"/>
          </p:cNvSpPr>
          <p:nvPr/>
        </p:nvSpPr>
        <p:spPr>
          <a:xfrm xmlns:a="http://schemas.openxmlformats.org/drawingml/2006/main">
            <a:off x="5734050" y="3257550"/>
            <a:ext cx="438150" cy="2857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D4E34294-D06C-44B0-A06E-DDB2DD8FBE4B}"/>
              </a:ext>
            </a:extLst>
          </p:cNvPr>
          <p:cNvSpPr>
            <a:spLocks xmlns:a="http://schemas.openxmlformats.org/drawingml/2006/main" noGrp="1"/>
          </p:cNvSpPr>
          <p:nvPr/>
        </p:nvSpPr>
        <p:spPr>
          <a:xfrm xmlns:a="http://schemas.openxmlformats.org/drawingml/2006/main">
            <a:off x="6086475" y="3190875"/>
            <a:ext cx="133350" cy="133350"/>
          </a:xfrm>
          <a:prstGeom xmlns:a="http://schemas.openxmlformats.org/drawingml/2006/main" prst="triangle">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860C803-2C88-4EC9-9510-A9A7A1A95BDF}"/>
              </a:ext>
            </a:extLst>
          </p:cNvPr>
          <p:cNvSpPr>
            <a:spLocks xmlns:a="http://schemas.openxmlformats.org/drawingml/2006/main" noGrp="1"/>
          </p:cNvSpPr>
          <p:nvPr/>
        </p:nvSpPr>
        <p:spPr>
          <a:xfrm xmlns:a="http://schemas.openxmlformats.org/drawingml/2006/main">
            <a:off x="6343650" y="2809875"/>
            <a:ext cx="2095500" cy="914400"/>
          </a:xfrm>
          <a:prstGeom xmlns:a="http://schemas.openxmlformats.org/drawingml/2006/main" prst="rect">
            <a:avLst/>
          </a:prstGeom>
          <a:solidFill xmlns:a="http://schemas.openxmlformats.org/drawingml/2006/main">
            <a:srgbClr val="1C2330"/>
          </a:solidFill>
          <a:ln xmlns:a="http://schemas.openxmlformats.org/drawingml/2006/main" w="19050">
            <a:solidFill>
              <a:srgbClr val="7BD88F"/>
            </a:solidFill>
            <a:prstDash val="solid"/>
          </a:ln>
        </p:spPr>
      </p:sp>
      <p:sp>
        <p:nvSpPr>
          <p:cNvPr id="17" name="">
            <a:extLst xmlns:a="http://schemas.openxmlformats.org/drawingml/2006/main">
              <a:ext uri="{FF2B5EF4-FFF2-40B4-BE49-F238E27FC236}">
                <a16:creationId xmlns:a16="http://schemas.microsoft.com/office/drawing/2014/main" id="{F50CE291-CD21-41B1-951D-52C5B98A342A}"/>
              </a:ext>
            </a:extLst>
          </p:cNvPr>
          <p:cNvSpPr>
            <a:spLocks xmlns:a="http://schemas.openxmlformats.org/drawingml/2006/main" noGrp="1"/>
          </p:cNvSpPr>
          <p:nvPr/>
        </p:nvSpPr>
        <p:spPr>
          <a:xfrm xmlns:a="http://schemas.openxmlformats.org/drawingml/2006/main">
            <a:off x="6496050" y="2971800"/>
            <a:ext cx="1790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3EA"/>
                </a:solidFill>
                <a:latin typeface="Aptos Display"/>
                <a:ea typeface="Aptos Display"/>
                <a:cs typeface="Aptos Display"/>
              </a:defRPr>
            </a:pPr>
            <a:r>
              <a:rPr sz="1500" b="1">
                <a:solidFill>
                  <a:srgbClr val="F7F3EA"/>
                </a:solidFill>
                <a:latin typeface="Aptos Display"/>
                <a:ea typeface="Aptos Display"/>
                <a:cs typeface="Aptos Display"/>
              </a:rPr>
              <a:t>KV cache</a:t>
            </a:r>
          </a:p>
        </p:txBody>
      </p:sp>
      <p:sp>
        <p:nvSpPr>
          <p:cNvPr id="18" name="">
            <a:extLst xmlns:a="http://schemas.openxmlformats.org/drawingml/2006/main">
              <a:ext uri="{FF2B5EF4-FFF2-40B4-BE49-F238E27FC236}">
                <a16:creationId xmlns:a16="http://schemas.microsoft.com/office/drawing/2014/main" id="{D8186643-0BC9-426E-98FC-D5D342A94503}"/>
              </a:ext>
            </a:extLst>
          </p:cNvPr>
          <p:cNvSpPr>
            <a:spLocks xmlns:a="http://schemas.openxmlformats.org/drawingml/2006/main" noGrp="1"/>
          </p:cNvSpPr>
          <p:nvPr/>
        </p:nvSpPr>
        <p:spPr>
          <a:xfrm xmlns:a="http://schemas.openxmlformats.org/drawingml/2006/main">
            <a:off x="6496050" y="3286125"/>
            <a:ext cx="1790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EB7C4"/>
                </a:solidFill>
                <a:latin typeface="Aptos"/>
                <a:ea typeface="Aptos"/>
                <a:cs typeface="Aptos"/>
              </a:defRPr>
            </a:pPr>
            <a:r>
              <a:rPr sz="1050" b="0">
                <a:solidFill>
                  <a:srgbClr val="AEB7C4"/>
                </a:solidFill>
                <a:latin typeface="Aptos"/>
                <a:ea typeface="Aptos"/>
                <a:cs typeface="Aptos"/>
              </a:rPr>
              <a:t>Store keys/values across layers</a:t>
            </a:r>
          </a:p>
        </p:txBody>
      </p:sp>
      <p:sp>
        <p:nvSpPr>
          <p:cNvPr id="19" name="">
            <a:extLst xmlns:a="http://schemas.openxmlformats.org/drawingml/2006/main">
              <a:ext uri="{FF2B5EF4-FFF2-40B4-BE49-F238E27FC236}">
                <a16:creationId xmlns:a16="http://schemas.microsoft.com/office/drawing/2014/main" id="{C447FEA5-2011-40A3-8D60-BC256FD2D628}"/>
              </a:ext>
            </a:extLst>
          </p:cNvPr>
          <p:cNvSpPr>
            <a:spLocks xmlns:a="http://schemas.openxmlformats.org/drawingml/2006/main" noGrp="1"/>
          </p:cNvSpPr>
          <p:nvPr/>
        </p:nvSpPr>
        <p:spPr>
          <a:xfrm xmlns:a="http://schemas.openxmlformats.org/drawingml/2006/main">
            <a:off x="8496300" y="3257550"/>
            <a:ext cx="438150" cy="2857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F198F21-528E-4D87-B918-B9353C19B96D}"/>
              </a:ext>
            </a:extLst>
          </p:cNvPr>
          <p:cNvSpPr>
            <a:spLocks xmlns:a="http://schemas.openxmlformats.org/drawingml/2006/main" noGrp="1"/>
          </p:cNvSpPr>
          <p:nvPr/>
        </p:nvSpPr>
        <p:spPr>
          <a:xfrm xmlns:a="http://schemas.openxmlformats.org/drawingml/2006/main">
            <a:off x="8848725" y="3190875"/>
            <a:ext cx="133350" cy="133350"/>
          </a:xfrm>
          <a:prstGeom xmlns:a="http://schemas.openxmlformats.org/drawingml/2006/main" prst="triangle">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43B14417-CD30-48FE-86B0-DBD5F6EC3A76}"/>
              </a:ext>
            </a:extLst>
          </p:cNvPr>
          <p:cNvSpPr>
            <a:spLocks xmlns:a="http://schemas.openxmlformats.org/drawingml/2006/main" noGrp="1"/>
          </p:cNvSpPr>
          <p:nvPr/>
        </p:nvSpPr>
        <p:spPr>
          <a:xfrm xmlns:a="http://schemas.openxmlformats.org/drawingml/2006/main">
            <a:off x="9105900" y="2809875"/>
            <a:ext cx="2095500" cy="914400"/>
          </a:xfrm>
          <a:prstGeom xmlns:a="http://schemas.openxmlformats.org/drawingml/2006/main" prst="rect">
            <a:avLst/>
          </a:prstGeom>
          <a:solidFill xmlns:a="http://schemas.openxmlformats.org/drawingml/2006/main">
            <a:srgbClr val="1C2330"/>
          </a:solidFill>
          <a:ln xmlns:a="http://schemas.openxmlformats.org/drawingml/2006/main" w="19050">
            <a:solidFill>
              <a:srgbClr val="B998FF"/>
            </a:solidFill>
            <a:prstDash val="solid"/>
          </a:ln>
        </p:spPr>
      </p:sp>
      <p:sp>
        <p:nvSpPr>
          <p:cNvPr id="22" name="">
            <a:extLst xmlns:a="http://schemas.openxmlformats.org/drawingml/2006/main">
              <a:ext uri="{FF2B5EF4-FFF2-40B4-BE49-F238E27FC236}">
                <a16:creationId xmlns:a16="http://schemas.microsoft.com/office/drawing/2014/main" id="{D6876CEB-27A0-40F8-B388-1223C508818C}"/>
              </a:ext>
            </a:extLst>
          </p:cNvPr>
          <p:cNvSpPr>
            <a:spLocks xmlns:a="http://schemas.openxmlformats.org/drawingml/2006/main" noGrp="1"/>
          </p:cNvSpPr>
          <p:nvPr/>
        </p:nvSpPr>
        <p:spPr>
          <a:xfrm xmlns:a="http://schemas.openxmlformats.org/drawingml/2006/main">
            <a:off x="9258300" y="2971800"/>
            <a:ext cx="1790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F7F3EA"/>
                </a:solidFill>
                <a:latin typeface="Aptos Display"/>
                <a:ea typeface="Aptos Display"/>
                <a:cs typeface="Aptos Display"/>
              </a:defRPr>
            </a:pPr>
            <a:r>
              <a:rPr sz="1500" b="1">
                <a:solidFill>
                  <a:srgbClr val="F7F3EA"/>
                </a:solidFill>
                <a:latin typeface="Aptos Display"/>
                <a:ea typeface="Aptos Display"/>
                <a:cs typeface="Aptos Display"/>
              </a:rPr>
              <a:t>Decode</a:t>
            </a:r>
          </a:p>
        </p:txBody>
      </p:sp>
      <p:sp>
        <p:nvSpPr>
          <p:cNvPr id="23" name="">
            <a:extLst xmlns:a="http://schemas.openxmlformats.org/drawingml/2006/main">
              <a:ext uri="{FF2B5EF4-FFF2-40B4-BE49-F238E27FC236}">
                <a16:creationId xmlns:a16="http://schemas.microsoft.com/office/drawing/2014/main" id="{299E5746-5B23-4988-8A8A-1306B7995096}"/>
              </a:ext>
            </a:extLst>
          </p:cNvPr>
          <p:cNvSpPr>
            <a:spLocks xmlns:a="http://schemas.openxmlformats.org/drawingml/2006/main" noGrp="1"/>
          </p:cNvSpPr>
          <p:nvPr/>
        </p:nvSpPr>
        <p:spPr>
          <a:xfrm xmlns:a="http://schemas.openxmlformats.org/drawingml/2006/main">
            <a:off x="9258300" y="3286125"/>
            <a:ext cx="17907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AEB7C4"/>
                </a:solidFill>
                <a:latin typeface="Aptos"/>
                <a:ea typeface="Aptos"/>
                <a:cs typeface="Aptos"/>
              </a:defRPr>
            </a:pPr>
            <a:r>
              <a:rPr sz="1050" b="0">
                <a:solidFill>
                  <a:srgbClr val="AEB7C4"/>
                </a:solidFill>
                <a:latin typeface="Aptos"/>
                <a:ea typeface="Aptos"/>
                <a:cs typeface="Aptos"/>
              </a:rPr>
              <a:t>Generate one token at a time</a:t>
            </a:r>
          </a:p>
        </p:txBody>
      </p:sp>
      <p:sp>
        <p:nvSpPr>
          <p:cNvPr id="24" name="">
            <a:extLst xmlns:a="http://schemas.openxmlformats.org/drawingml/2006/main">
              <a:ext uri="{FF2B5EF4-FFF2-40B4-BE49-F238E27FC236}">
                <a16:creationId xmlns:a16="http://schemas.microsoft.com/office/drawing/2014/main" id="{C82C7CE4-7173-403B-AC6A-6BF831EBEC93}"/>
              </a:ext>
            </a:extLst>
          </p:cNvPr>
          <p:cNvSpPr>
            <a:spLocks xmlns:a="http://schemas.openxmlformats.org/drawingml/2006/main" noGrp="1"/>
          </p:cNvSpPr>
          <p:nvPr/>
        </p:nvSpPr>
        <p:spPr>
          <a:xfrm xmlns:a="http://schemas.openxmlformats.org/drawingml/2006/main">
            <a:off x="6076950" y="4114800"/>
            <a:ext cx="1428750" cy="323850"/>
          </a:xfrm>
          <a:prstGeom xmlns:a="http://schemas.openxmlformats.org/drawingml/2006/main" prst="roundRect">
            <a:avLst>
              <a:gd name="adj" fmla="val 23529"/>
            </a:avLst>
          </a:prstGeom>
          <a:solidFill xmlns:a="http://schemas.openxmlformats.org/drawingml/2006/main">
            <a:srgbClr val="7BD88F">
              <a:alpha val="13333"/>
            </a:srgbClr>
          </a:solidFill>
          <a:ln xmlns:a="http://schemas.openxmlformats.org/drawingml/2006/main" w="9525">
            <a:solidFill>
              <a:srgbClr val="7BD88F"/>
            </a:solidFill>
            <a:prstDash val="solid"/>
          </a:ln>
        </p:spPr>
      </p:sp>
      <p:sp>
        <p:nvSpPr>
          <p:cNvPr id="25" name="">
            <a:extLst xmlns:a="http://schemas.openxmlformats.org/drawingml/2006/main">
              <a:ext uri="{FF2B5EF4-FFF2-40B4-BE49-F238E27FC236}">
                <a16:creationId xmlns:a16="http://schemas.microsoft.com/office/drawing/2014/main" id="{7EDB90F5-658C-44AC-A6FF-F51EA5901509}"/>
              </a:ext>
            </a:extLst>
          </p:cNvPr>
          <p:cNvSpPr>
            <a:spLocks xmlns:a="http://schemas.openxmlformats.org/drawingml/2006/main" noGrp="1"/>
          </p:cNvSpPr>
          <p:nvPr/>
        </p:nvSpPr>
        <p:spPr>
          <a:xfrm xmlns:a="http://schemas.openxmlformats.org/drawingml/2006/main">
            <a:off x="6191250" y="4181475"/>
            <a:ext cx="1200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7BD88F"/>
                </a:solidFill>
                <a:latin typeface="Aptos"/>
                <a:ea typeface="Aptos"/>
                <a:cs typeface="Aptos"/>
              </a:defRPr>
            </a:pPr>
            <a:r>
              <a:rPr sz="975" b="1">
                <a:solidFill>
                  <a:srgbClr val="7BD88F"/>
                </a:solidFill>
                <a:latin typeface="Aptos"/>
                <a:ea typeface="Aptos"/>
                <a:cs typeface="Aptos"/>
              </a:rPr>
              <a:t>vLLM</a:t>
            </a:r>
          </a:p>
        </p:txBody>
      </p:sp>
      <p:sp>
        <p:nvSpPr>
          <p:cNvPr id="26" name="">
            <a:extLst xmlns:a="http://schemas.openxmlformats.org/drawingml/2006/main">
              <a:ext uri="{FF2B5EF4-FFF2-40B4-BE49-F238E27FC236}">
                <a16:creationId xmlns:a16="http://schemas.microsoft.com/office/drawing/2014/main" id="{4CA17BBB-0323-423B-B85C-E450B8D09401}"/>
              </a:ext>
            </a:extLst>
          </p:cNvPr>
          <p:cNvSpPr>
            <a:spLocks xmlns:a="http://schemas.openxmlformats.org/drawingml/2006/main" noGrp="1"/>
          </p:cNvSpPr>
          <p:nvPr/>
        </p:nvSpPr>
        <p:spPr>
          <a:xfrm xmlns:a="http://schemas.openxmlformats.org/drawingml/2006/main">
            <a:off x="3752850" y="4457700"/>
            <a:ext cx="1428750" cy="323850"/>
          </a:xfrm>
          <a:prstGeom xmlns:a="http://schemas.openxmlformats.org/drawingml/2006/main" prst="roundRect">
            <a:avLst>
              <a:gd name="adj" fmla="val 23529"/>
            </a:avLst>
          </a:prstGeom>
          <a:solidFill xmlns:a="http://schemas.openxmlformats.org/drawingml/2006/main">
            <a:srgbClr val="72A7FF">
              <a:alpha val="13333"/>
            </a:srgbClr>
          </a:solidFill>
          <a:ln xmlns:a="http://schemas.openxmlformats.org/drawingml/2006/main" w="9525">
            <a:solidFill>
              <a:srgbClr val="72A7FF"/>
            </a:solidFill>
            <a:prstDash val="solid"/>
          </a:ln>
        </p:spPr>
      </p:sp>
      <p:sp>
        <p:nvSpPr>
          <p:cNvPr id="27" name="">
            <a:extLst xmlns:a="http://schemas.openxmlformats.org/drawingml/2006/main">
              <a:ext uri="{FF2B5EF4-FFF2-40B4-BE49-F238E27FC236}">
                <a16:creationId xmlns:a16="http://schemas.microsoft.com/office/drawing/2014/main" id="{B4E7678B-8513-46FB-A238-DFDE55C8AB98}"/>
              </a:ext>
            </a:extLst>
          </p:cNvPr>
          <p:cNvSpPr>
            <a:spLocks xmlns:a="http://schemas.openxmlformats.org/drawingml/2006/main" noGrp="1"/>
          </p:cNvSpPr>
          <p:nvPr/>
        </p:nvSpPr>
        <p:spPr>
          <a:xfrm xmlns:a="http://schemas.openxmlformats.org/drawingml/2006/main">
            <a:off x="3867150" y="4524375"/>
            <a:ext cx="1200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72A7FF"/>
                </a:solidFill>
                <a:latin typeface="Aptos"/>
                <a:ea typeface="Aptos"/>
                <a:cs typeface="Aptos"/>
              </a:defRPr>
            </a:pPr>
            <a:r>
              <a:rPr sz="975" b="1">
                <a:solidFill>
                  <a:srgbClr val="72A7FF"/>
                </a:solidFill>
                <a:latin typeface="Aptos"/>
                <a:ea typeface="Aptos"/>
                <a:cs typeface="Aptos"/>
              </a:rPr>
              <a:t>SGLang</a:t>
            </a:r>
          </a:p>
        </p:txBody>
      </p:sp>
      <p:sp>
        <p:nvSpPr>
          <p:cNvPr id="28" name="">
            <a:extLst xmlns:a="http://schemas.openxmlformats.org/drawingml/2006/main">
              <a:ext uri="{FF2B5EF4-FFF2-40B4-BE49-F238E27FC236}">
                <a16:creationId xmlns:a16="http://schemas.microsoft.com/office/drawing/2014/main" id="{221E48D1-8020-4165-B7CC-C09E4734CB94}"/>
              </a:ext>
            </a:extLst>
          </p:cNvPr>
          <p:cNvSpPr>
            <a:spLocks xmlns:a="http://schemas.openxmlformats.org/drawingml/2006/main" noGrp="1"/>
          </p:cNvSpPr>
          <p:nvPr/>
        </p:nvSpPr>
        <p:spPr>
          <a:xfrm xmlns:a="http://schemas.openxmlformats.org/drawingml/2006/main">
            <a:off x="1276350" y="4114800"/>
            <a:ext cx="1428750" cy="323850"/>
          </a:xfrm>
          <a:prstGeom xmlns:a="http://schemas.openxmlformats.org/drawingml/2006/main" prst="roundRect">
            <a:avLst>
              <a:gd name="adj" fmla="val 23529"/>
            </a:avLst>
          </a:prstGeom>
          <a:solidFill xmlns:a="http://schemas.openxmlformats.org/drawingml/2006/main">
            <a:srgbClr val="F2B84B">
              <a:alpha val="13333"/>
            </a:srgbClr>
          </a:solidFill>
          <a:ln xmlns:a="http://schemas.openxmlformats.org/drawingml/2006/main" w="9525">
            <a:solidFill>
              <a:srgbClr val="F2B84B"/>
            </a:solidFill>
            <a:prstDash val="solid"/>
          </a:ln>
        </p:spPr>
      </p:sp>
      <p:sp>
        <p:nvSpPr>
          <p:cNvPr id="29" name="">
            <a:extLst xmlns:a="http://schemas.openxmlformats.org/drawingml/2006/main">
              <a:ext uri="{FF2B5EF4-FFF2-40B4-BE49-F238E27FC236}">
                <a16:creationId xmlns:a16="http://schemas.microsoft.com/office/drawing/2014/main" id="{D9F16102-8A56-4F65-8732-6311ED2DA21F}"/>
              </a:ext>
            </a:extLst>
          </p:cNvPr>
          <p:cNvSpPr>
            <a:spLocks xmlns:a="http://schemas.openxmlformats.org/drawingml/2006/main" noGrp="1"/>
          </p:cNvSpPr>
          <p:nvPr/>
        </p:nvSpPr>
        <p:spPr>
          <a:xfrm xmlns:a="http://schemas.openxmlformats.org/drawingml/2006/main">
            <a:off x="1390650" y="4181475"/>
            <a:ext cx="1200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2B84B"/>
                </a:solidFill>
                <a:latin typeface="Aptos"/>
                <a:ea typeface="Aptos"/>
                <a:cs typeface="Aptos"/>
              </a:defRPr>
            </a:pPr>
            <a:r>
              <a:rPr sz="975" b="1">
                <a:solidFill>
                  <a:srgbClr val="F2B84B"/>
                </a:solidFill>
                <a:latin typeface="Aptos"/>
                <a:ea typeface="Aptos"/>
                <a:cs typeface="Aptos"/>
              </a:rPr>
              <a:t>PromptCache</a:t>
            </a:r>
          </a:p>
        </p:txBody>
      </p:sp>
      <p:sp>
        <p:nvSpPr>
          <p:cNvPr id="30" name="">
            <a:extLst xmlns:a="http://schemas.openxmlformats.org/drawingml/2006/main">
              <a:ext uri="{FF2B5EF4-FFF2-40B4-BE49-F238E27FC236}">
                <a16:creationId xmlns:a16="http://schemas.microsoft.com/office/drawing/2014/main" id="{75D62A92-BDD1-45C9-8EBD-0F4B270F8D4D}"/>
              </a:ext>
            </a:extLst>
          </p:cNvPr>
          <p:cNvSpPr>
            <a:spLocks xmlns:a="http://schemas.openxmlformats.org/drawingml/2006/main" noGrp="1"/>
          </p:cNvSpPr>
          <p:nvPr/>
        </p:nvSpPr>
        <p:spPr>
          <a:xfrm xmlns:a="http://schemas.openxmlformats.org/drawingml/2006/main">
            <a:off x="8896350" y="4457700"/>
            <a:ext cx="1428750" cy="323850"/>
          </a:xfrm>
          <a:prstGeom xmlns:a="http://schemas.openxmlformats.org/drawingml/2006/main" prst="roundRect">
            <a:avLst>
              <a:gd name="adj" fmla="val 23529"/>
            </a:avLst>
          </a:prstGeom>
          <a:solidFill xmlns:a="http://schemas.openxmlformats.org/drawingml/2006/main">
            <a:srgbClr val="B998FF">
              <a:alpha val="13333"/>
            </a:srgbClr>
          </a:solidFill>
          <a:ln xmlns:a="http://schemas.openxmlformats.org/drawingml/2006/main" w="9525">
            <a:solidFill>
              <a:srgbClr val="B998FF"/>
            </a:solidFill>
            <a:prstDash val="solid"/>
          </a:ln>
        </p:spPr>
      </p:sp>
      <p:sp>
        <p:nvSpPr>
          <p:cNvPr id="31" name="">
            <a:extLst xmlns:a="http://schemas.openxmlformats.org/drawingml/2006/main">
              <a:ext uri="{FF2B5EF4-FFF2-40B4-BE49-F238E27FC236}">
                <a16:creationId xmlns:a16="http://schemas.microsoft.com/office/drawing/2014/main" id="{0252FF7C-3A45-4EF9-9FD5-732DC2B24630}"/>
              </a:ext>
            </a:extLst>
          </p:cNvPr>
          <p:cNvSpPr>
            <a:spLocks xmlns:a="http://schemas.openxmlformats.org/drawingml/2006/main" noGrp="1"/>
          </p:cNvSpPr>
          <p:nvPr/>
        </p:nvSpPr>
        <p:spPr>
          <a:xfrm xmlns:a="http://schemas.openxmlformats.org/drawingml/2006/main">
            <a:off x="9010650" y="4524375"/>
            <a:ext cx="1200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B998FF"/>
                </a:solidFill>
                <a:latin typeface="Aptos"/>
                <a:ea typeface="Aptos"/>
                <a:cs typeface="Aptos"/>
              </a:defRPr>
            </a:pPr>
            <a:r>
              <a:rPr sz="975" b="1">
                <a:solidFill>
                  <a:srgbClr val="B998FF"/>
                </a:solidFill>
                <a:latin typeface="Aptos"/>
                <a:ea typeface="Aptos"/>
                <a:cs typeface="Aptos"/>
              </a:rPr>
              <a:t>Hydragen</a:t>
            </a:r>
          </a:p>
        </p:txBody>
      </p:sp>
      <p:sp>
        <p:nvSpPr>
          <p:cNvPr id="32" name="">
            <a:extLst xmlns:a="http://schemas.openxmlformats.org/drawingml/2006/main">
              <a:ext uri="{FF2B5EF4-FFF2-40B4-BE49-F238E27FC236}">
                <a16:creationId xmlns:a16="http://schemas.microsoft.com/office/drawing/2014/main" id="{9F1E69D4-9616-45ED-86D9-8181448BF7D4}"/>
              </a:ext>
            </a:extLst>
          </p:cNvPr>
          <p:cNvSpPr>
            <a:spLocks xmlns:a="http://schemas.openxmlformats.org/drawingml/2006/main" noGrp="1"/>
          </p:cNvSpPr>
          <p:nvPr/>
        </p:nvSpPr>
        <p:spPr>
          <a:xfrm xmlns:a="http://schemas.openxmlformats.org/drawingml/2006/main">
            <a:off x="819150" y="533400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Our thesis</a:t>
            </a:r>
          </a:p>
        </p:txBody>
      </p:sp>
      <p:sp>
        <p:nvSpPr>
          <p:cNvPr id="33" name="">
            <a:extLst xmlns:a="http://schemas.openxmlformats.org/drawingml/2006/main">
              <a:ext uri="{FF2B5EF4-FFF2-40B4-BE49-F238E27FC236}">
                <a16:creationId xmlns:a16="http://schemas.microsoft.com/office/drawing/2014/main" id="{278F1D43-5E1A-4F62-B09B-540283613143}"/>
              </a:ext>
            </a:extLst>
          </p:cNvPr>
          <p:cNvSpPr>
            <a:spLocks xmlns:a="http://schemas.openxmlformats.org/drawingml/2006/main" noGrp="1"/>
          </p:cNvSpPr>
          <p:nvPr/>
        </p:nvSpPr>
        <p:spPr>
          <a:xfrm xmlns:a="http://schemas.openxmlformats.org/drawingml/2006/main">
            <a:off x="819150" y="5581650"/>
            <a:ext cx="9334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F7F3EA"/>
                </a:solidFill>
                <a:latin typeface="Aptos"/>
                <a:ea typeface="Aptos"/>
                <a:cs typeface="Aptos"/>
              </a:defRPr>
            </a:pPr>
            <a:r>
              <a:rPr sz="1500" b="0">
                <a:solidFill>
                  <a:srgbClr val="F7F3EA"/>
                </a:solidFill>
                <a:latin typeface="Aptos"/>
                <a:ea typeface="Aptos"/>
                <a:cs typeface="Aptos"/>
              </a:rPr>
              <a:t>If agent workloads reuse long prefixes, a scheduler should expose that structure to the serving engine instead of treating every request as unrelated.</a:t>
            </a:r>
          </a:p>
        </p:txBody>
      </p:sp>
      <p:sp>
        <p:nvSpPr>
          <p:cNvPr id="34" name="">
            <a:extLst xmlns:a="http://schemas.openxmlformats.org/drawingml/2006/main">
              <a:ext uri="{FF2B5EF4-FFF2-40B4-BE49-F238E27FC236}">
                <a16:creationId xmlns:a16="http://schemas.microsoft.com/office/drawing/2014/main" id="{84E2138E-1635-4E81-ACB9-EC2342D7EB6E}"/>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Capstone · LLM Latency Optimization · 2026-05-27</a:t>
            </a:r>
          </a:p>
        </p:txBody>
      </p:sp>
    </p:spTree>
    <p:extLst>
      <p:ext uri="{BB962C8B-B14F-4D97-AF65-F5344CB8AC3E}">
        <p14:creationId xmlns:p14="http://schemas.microsoft.com/office/powerpoint/2010/main" val="59337413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44FA16C-FEC6-405A-9E95-1679CCDF95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66BFA17-A6FF-43D7-B347-92C4A2CCD8EC}"/>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LANDSCAPE</a:t>
            </a:r>
          </a:p>
        </p:txBody>
      </p:sp>
      <p:sp>
        <p:nvSpPr>
          <p:cNvPr id="3" name="">
            <a:extLst xmlns:a="http://schemas.openxmlformats.org/drawingml/2006/main">
              <a:ext uri="{FF2B5EF4-FFF2-40B4-BE49-F238E27FC236}">
                <a16:creationId xmlns:a16="http://schemas.microsoft.com/office/drawing/2014/main" id="{EC3CB5B9-1ADC-4AC5-AA5F-A7644717FB9B}"/>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67C58FC9-07EA-4C65-89FC-9D138E865C92}"/>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The four papers are complementary</a:t>
            </a:r>
          </a:p>
        </p:txBody>
      </p:sp>
      <p:sp>
        <p:nvSpPr>
          <p:cNvPr id="5" name="">
            <a:extLst xmlns:a="http://schemas.openxmlformats.org/drawingml/2006/main">
              <a:ext uri="{FF2B5EF4-FFF2-40B4-BE49-F238E27FC236}">
                <a16:creationId xmlns:a16="http://schemas.microsoft.com/office/drawing/2014/main" id="{0B0456E1-6225-4DDD-8BF1-2FBE0B17FF8E}"/>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They are not four versions of the same idea; they operate at different layers.</a:t>
            </a:r>
          </a:p>
        </p:txBody>
      </p:sp>
      <p:sp>
        <p:nvSpPr>
          <p:cNvPr id="6" name="">
            <a:extLst xmlns:a="http://schemas.openxmlformats.org/drawingml/2006/main">
              <a:ext uri="{FF2B5EF4-FFF2-40B4-BE49-F238E27FC236}">
                <a16:creationId xmlns:a16="http://schemas.microsoft.com/office/drawing/2014/main" id="{1BE8BC89-E8C9-4E12-ADB9-14A8210C63FB}"/>
              </a:ext>
            </a:extLst>
          </p:cNvPr>
          <p:cNvSpPr>
            <a:spLocks xmlns:a="http://schemas.openxmlformats.org/drawingml/2006/main" noGrp="1"/>
          </p:cNvSpPr>
          <p:nvPr/>
        </p:nvSpPr>
        <p:spPr>
          <a:xfrm xmlns:a="http://schemas.openxmlformats.org/drawingml/2006/main">
            <a:off x="704850" y="2190750"/>
            <a:ext cx="2381250" cy="4381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7" name="">
            <a:extLst xmlns:a="http://schemas.openxmlformats.org/drawingml/2006/main">
              <a:ext uri="{FF2B5EF4-FFF2-40B4-BE49-F238E27FC236}">
                <a16:creationId xmlns:a16="http://schemas.microsoft.com/office/drawing/2014/main" id="{74452532-A2B4-4484-9F64-3EED23E993F7}"/>
              </a:ext>
            </a:extLst>
          </p:cNvPr>
          <p:cNvSpPr>
            <a:spLocks xmlns:a="http://schemas.openxmlformats.org/drawingml/2006/main" noGrp="1"/>
          </p:cNvSpPr>
          <p:nvPr/>
        </p:nvSpPr>
        <p:spPr>
          <a:xfrm xmlns:a="http://schemas.openxmlformats.org/drawingml/2006/main">
            <a:off x="838200" y="2314575"/>
            <a:ext cx="2114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7BD88F"/>
                </a:solidFill>
                <a:latin typeface="Aptos"/>
                <a:ea typeface="Aptos"/>
                <a:cs typeface="Aptos"/>
              </a:defRPr>
            </a:pPr>
            <a:r>
              <a:rPr sz="1050" b="1">
                <a:solidFill>
                  <a:srgbClr val="7BD88F"/>
                </a:solidFill>
                <a:latin typeface="Aptos"/>
                <a:ea typeface="Aptos"/>
                <a:cs typeface="Aptos"/>
              </a:rPr>
              <a:t>Paper</a:t>
            </a:r>
          </a:p>
        </p:txBody>
      </p:sp>
      <p:sp>
        <p:nvSpPr>
          <p:cNvPr id="8" name="">
            <a:extLst xmlns:a="http://schemas.openxmlformats.org/drawingml/2006/main">
              <a:ext uri="{FF2B5EF4-FFF2-40B4-BE49-F238E27FC236}">
                <a16:creationId xmlns:a16="http://schemas.microsoft.com/office/drawing/2014/main" id="{66671B61-C086-4548-B24F-B1B73A34D8F6}"/>
              </a:ext>
            </a:extLst>
          </p:cNvPr>
          <p:cNvSpPr>
            <a:spLocks xmlns:a="http://schemas.openxmlformats.org/drawingml/2006/main" noGrp="1"/>
          </p:cNvSpPr>
          <p:nvPr/>
        </p:nvSpPr>
        <p:spPr>
          <a:xfrm xmlns:a="http://schemas.openxmlformats.org/drawingml/2006/main">
            <a:off x="3086100" y="2190750"/>
            <a:ext cx="2476500" cy="4381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9" name="">
            <a:extLst xmlns:a="http://schemas.openxmlformats.org/drawingml/2006/main">
              <a:ext uri="{FF2B5EF4-FFF2-40B4-BE49-F238E27FC236}">
                <a16:creationId xmlns:a16="http://schemas.microsoft.com/office/drawing/2014/main" id="{6C158F2A-CACB-4B40-9CF3-D121E7E7F801}"/>
              </a:ext>
            </a:extLst>
          </p:cNvPr>
          <p:cNvSpPr>
            <a:spLocks xmlns:a="http://schemas.openxmlformats.org/drawingml/2006/main" noGrp="1"/>
          </p:cNvSpPr>
          <p:nvPr/>
        </p:nvSpPr>
        <p:spPr>
          <a:xfrm xmlns:a="http://schemas.openxmlformats.org/drawingml/2006/main">
            <a:off x="3219450" y="2314575"/>
            <a:ext cx="22098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7BD88F"/>
                </a:solidFill>
                <a:latin typeface="Aptos"/>
                <a:ea typeface="Aptos"/>
                <a:cs typeface="Aptos"/>
              </a:defRPr>
            </a:pPr>
            <a:r>
              <a:rPr sz="1050" b="1">
                <a:solidFill>
                  <a:srgbClr val="7BD88F"/>
                </a:solidFill>
                <a:latin typeface="Aptos"/>
                <a:ea typeface="Aptos"/>
                <a:cs typeface="Aptos"/>
              </a:rPr>
              <a:t>Optimization target</a:t>
            </a:r>
          </a:p>
        </p:txBody>
      </p:sp>
      <p:sp>
        <p:nvSpPr>
          <p:cNvPr id="10" name="">
            <a:extLst xmlns:a="http://schemas.openxmlformats.org/drawingml/2006/main">
              <a:ext uri="{FF2B5EF4-FFF2-40B4-BE49-F238E27FC236}">
                <a16:creationId xmlns:a16="http://schemas.microsoft.com/office/drawing/2014/main" id="{095EE775-B780-40AB-90A8-04D78E55DC8B}"/>
              </a:ext>
            </a:extLst>
          </p:cNvPr>
          <p:cNvSpPr>
            <a:spLocks xmlns:a="http://schemas.openxmlformats.org/drawingml/2006/main" noGrp="1"/>
          </p:cNvSpPr>
          <p:nvPr/>
        </p:nvSpPr>
        <p:spPr>
          <a:xfrm xmlns:a="http://schemas.openxmlformats.org/drawingml/2006/main">
            <a:off x="5562600" y="2190750"/>
            <a:ext cx="2381250" cy="4381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1" name="">
            <a:extLst xmlns:a="http://schemas.openxmlformats.org/drawingml/2006/main">
              <a:ext uri="{FF2B5EF4-FFF2-40B4-BE49-F238E27FC236}">
                <a16:creationId xmlns:a16="http://schemas.microsoft.com/office/drawing/2014/main" id="{E90DC828-A8E6-4271-B112-1CEECA20030A}"/>
              </a:ext>
            </a:extLst>
          </p:cNvPr>
          <p:cNvSpPr>
            <a:spLocks xmlns:a="http://schemas.openxmlformats.org/drawingml/2006/main" noGrp="1"/>
          </p:cNvSpPr>
          <p:nvPr/>
        </p:nvSpPr>
        <p:spPr>
          <a:xfrm xmlns:a="http://schemas.openxmlformats.org/drawingml/2006/main">
            <a:off x="5695950" y="2314575"/>
            <a:ext cx="2114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7BD88F"/>
                </a:solidFill>
                <a:latin typeface="Aptos"/>
                <a:ea typeface="Aptos"/>
                <a:cs typeface="Aptos"/>
              </a:defRPr>
            </a:pPr>
            <a:r>
              <a:rPr sz="1050" b="1">
                <a:solidFill>
                  <a:srgbClr val="7BD88F"/>
                </a:solidFill>
                <a:latin typeface="Aptos"/>
                <a:ea typeface="Aptos"/>
                <a:cs typeface="Aptos"/>
              </a:rPr>
              <a:t>Core mechanism</a:t>
            </a:r>
          </a:p>
        </p:txBody>
      </p:sp>
      <p:sp>
        <p:nvSpPr>
          <p:cNvPr id="12" name="">
            <a:extLst xmlns:a="http://schemas.openxmlformats.org/drawingml/2006/main">
              <a:ext uri="{FF2B5EF4-FFF2-40B4-BE49-F238E27FC236}">
                <a16:creationId xmlns:a16="http://schemas.microsoft.com/office/drawing/2014/main" id="{C9D88576-E1C0-427D-AB9D-80489FC5D5A1}"/>
              </a:ext>
            </a:extLst>
          </p:cNvPr>
          <p:cNvSpPr>
            <a:spLocks xmlns:a="http://schemas.openxmlformats.org/drawingml/2006/main" noGrp="1"/>
          </p:cNvSpPr>
          <p:nvPr/>
        </p:nvSpPr>
        <p:spPr>
          <a:xfrm xmlns:a="http://schemas.openxmlformats.org/drawingml/2006/main">
            <a:off x="7943850" y="2190750"/>
            <a:ext cx="2571750" cy="4381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3" name="">
            <a:extLst xmlns:a="http://schemas.openxmlformats.org/drawingml/2006/main">
              <a:ext uri="{FF2B5EF4-FFF2-40B4-BE49-F238E27FC236}">
                <a16:creationId xmlns:a16="http://schemas.microsoft.com/office/drawing/2014/main" id="{795AEB98-BF05-45FF-8F6D-0FC47A8F0FF0}"/>
              </a:ext>
            </a:extLst>
          </p:cNvPr>
          <p:cNvSpPr>
            <a:spLocks xmlns:a="http://schemas.openxmlformats.org/drawingml/2006/main" noGrp="1"/>
          </p:cNvSpPr>
          <p:nvPr/>
        </p:nvSpPr>
        <p:spPr>
          <a:xfrm xmlns:a="http://schemas.openxmlformats.org/drawingml/2006/main">
            <a:off x="8077200" y="2314575"/>
            <a:ext cx="23050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7BD88F"/>
                </a:solidFill>
                <a:latin typeface="Aptos"/>
                <a:ea typeface="Aptos"/>
                <a:cs typeface="Aptos"/>
              </a:defRPr>
            </a:pPr>
            <a:r>
              <a:rPr sz="1050" b="1">
                <a:solidFill>
                  <a:srgbClr val="7BD88F"/>
                </a:solidFill>
                <a:latin typeface="Aptos"/>
                <a:ea typeface="Aptos"/>
                <a:cs typeface="Aptos"/>
              </a:rPr>
              <a:t>Best fit</a:t>
            </a:r>
          </a:p>
        </p:txBody>
      </p:sp>
      <p:sp>
        <p:nvSpPr>
          <p:cNvPr id="14" name="">
            <a:extLst xmlns:a="http://schemas.openxmlformats.org/drawingml/2006/main">
              <a:ext uri="{FF2B5EF4-FFF2-40B4-BE49-F238E27FC236}">
                <a16:creationId xmlns:a16="http://schemas.microsoft.com/office/drawing/2014/main" id="{DFD03D16-CB77-4742-8AA6-AC308CFAABA8}"/>
              </a:ext>
            </a:extLst>
          </p:cNvPr>
          <p:cNvSpPr>
            <a:spLocks xmlns:a="http://schemas.openxmlformats.org/drawingml/2006/main" noGrp="1"/>
          </p:cNvSpPr>
          <p:nvPr/>
        </p:nvSpPr>
        <p:spPr>
          <a:xfrm xmlns:a="http://schemas.openxmlformats.org/drawingml/2006/main">
            <a:off x="704850" y="2628900"/>
            <a:ext cx="2381250" cy="70485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15" name="">
            <a:extLst xmlns:a="http://schemas.openxmlformats.org/drawingml/2006/main">
              <a:ext uri="{FF2B5EF4-FFF2-40B4-BE49-F238E27FC236}">
                <a16:creationId xmlns:a16="http://schemas.microsoft.com/office/drawing/2014/main" id="{06AE4F18-403E-44AA-8071-360CE67A5DD3}"/>
              </a:ext>
            </a:extLst>
          </p:cNvPr>
          <p:cNvSpPr>
            <a:spLocks xmlns:a="http://schemas.openxmlformats.org/drawingml/2006/main" noGrp="1"/>
          </p:cNvSpPr>
          <p:nvPr/>
        </p:nvSpPr>
        <p:spPr>
          <a:xfrm xmlns:a="http://schemas.openxmlformats.org/drawingml/2006/main">
            <a:off x="838200" y="2819400"/>
            <a:ext cx="2114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3EA"/>
                </a:solidFill>
                <a:latin typeface="Aptos"/>
                <a:ea typeface="Aptos"/>
                <a:cs typeface="Aptos"/>
              </a:defRPr>
            </a:pPr>
            <a:r>
              <a:rPr sz="1350" b="1">
                <a:solidFill>
                  <a:srgbClr val="F7F3EA"/>
                </a:solidFill>
                <a:latin typeface="Aptos"/>
                <a:ea typeface="Aptos"/>
                <a:cs typeface="Aptos"/>
              </a:rPr>
              <a:t>vLLM</a:t>
            </a:r>
          </a:p>
        </p:txBody>
      </p:sp>
      <p:sp>
        <p:nvSpPr>
          <p:cNvPr id="16" name="">
            <a:extLst xmlns:a="http://schemas.openxmlformats.org/drawingml/2006/main">
              <a:ext uri="{FF2B5EF4-FFF2-40B4-BE49-F238E27FC236}">
                <a16:creationId xmlns:a16="http://schemas.microsoft.com/office/drawing/2014/main" id="{3D8AC601-5786-400D-850C-0367AF44BB6F}"/>
              </a:ext>
            </a:extLst>
          </p:cNvPr>
          <p:cNvSpPr>
            <a:spLocks xmlns:a="http://schemas.openxmlformats.org/drawingml/2006/main" noGrp="1"/>
          </p:cNvSpPr>
          <p:nvPr/>
        </p:nvSpPr>
        <p:spPr>
          <a:xfrm xmlns:a="http://schemas.openxmlformats.org/drawingml/2006/main">
            <a:off x="3086100" y="2628900"/>
            <a:ext cx="2476500" cy="70485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17" name="">
            <a:extLst xmlns:a="http://schemas.openxmlformats.org/drawingml/2006/main">
              <a:ext uri="{FF2B5EF4-FFF2-40B4-BE49-F238E27FC236}">
                <a16:creationId xmlns:a16="http://schemas.microsoft.com/office/drawing/2014/main" id="{E1D11918-1AAC-45D3-8D3B-718101D8F7EE}"/>
              </a:ext>
            </a:extLst>
          </p:cNvPr>
          <p:cNvSpPr>
            <a:spLocks xmlns:a="http://schemas.openxmlformats.org/drawingml/2006/main" noGrp="1"/>
          </p:cNvSpPr>
          <p:nvPr/>
        </p:nvSpPr>
        <p:spPr>
          <a:xfrm xmlns:a="http://schemas.openxmlformats.org/drawingml/2006/main">
            <a:off x="3219450" y="2819400"/>
            <a:ext cx="2209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KV-cache memory</a:t>
            </a:r>
          </a:p>
        </p:txBody>
      </p:sp>
      <p:sp>
        <p:nvSpPr>
          <p:cNvPr id="18" name="">
            <a:extLst xmlns:a="http://schemas.openxmlformats.org/drawingml/2006/main">
              <a:ext uri="{FF2B5EF4-FFF2-40B4-BE49-F238E27FC236}">
                <a16:creationId xmlns:a16="http://schemas.microsoft.com/office/drawing/2014/main" id="{D83AA74E-84B2-4FDF-8D74-3823983FEDF8}"/>
              </a:ext>
            </a:extLst>
          </p:cNvPr>
          <p:cNvSpPr>
            <a:spLocks xmlns:a="http://schemas.openxmlformats.org/drawingml/2006/main" noGrp="1"/>
          </p:cNvSpPr>
          <p:nvPr/>
        </p:nvSpPr>
        <p:spPr>
          <a:xfrm xmlns:a="http://schemas.openxmlformats.org/drawingml/2006/main">
            <a:off x="5562600" y="2628900"/>
            <a:ext cx="2381250" cy="70485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19" name="">
            <a:extLst xmlns:a="http://schemas.openxmlformats.org/drawingml/2006/main">
              <a:ext uri="{FF2B5EF4-FFF2-40B4-BE49-F238E27FC236}">
                <a16:creationId xmlns:a16="http://schemas.microsoft.com/office/drawing/2014/main" id="{717C7C54-E1F1-49AA-BC72-441DA08B8287}"/>
              </a:ext>
            </a:extLst>
          </p:cNvPr>
          <p:cNvSpPr>
            <a:spLocks xmlns:a="http://schemas.openxmlformats.org/drawingml/2006/main" noGrp="1"/>
          </p:cNvSpPr>
          <p:nvPr/>
        </p:nvSpPr>
        <p:spPr>
          <a:xfrm xmlns:a="http://schemas.openxmlformats.org/drawingml/2006/main">
            <a:off x="5695950" y="2819400"/>
            <a:ext cx="2114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PagedAttention</a:t>
            </a:r>
          </a:p>
        </p:txBody>
      </p:sp>
      <p:sp>
        <p:nvSpPr>
          <p:cNvPr id="20" name="">
            <a:extLst xmlns:a="http://schemas.openxmlformats.org/drawingml/2006/main">
              <a:ext uri="{FF2B5EF4-FFF2-40B4-BE49-F238E27FC236}">
                <a16:creationId xmlns:a16="http://schemas.microsoft.com/office/drawing/2014/main" id="{B8B9F00D-4569-43CB-8BE5-80A6FBEACDC0}"/>
              </a:ext>
            </a:extLst>
          </p:cNvPr>
          <p:cNvSpPr>
            <a:spLocks xmlns:a="http://schemas.openxmlformats.org/drawingml/2006/main" noGrp="1"/>
          </p:cNvSpPr>
          <p:nvPr/>
        </p:nvSpPr>
        <p:spPr>
          <a:xfrm xmlns:a="http://schemas.openxmlformats.org/drawingml/2006/main">
            <a:off x="7943850" y="2628900"/>
            <a:ext cx="2571750" cy="70485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21" name="">
            <a:extLst xmlns:a="http://schemas.openxmlformats.org/drawingml/2006/main">
              <a:ext uri="{FF2B5EF4-FFF2-40B4-BE49-F238E27FC236}">
                <a16:creationId xmlns:a16="http://schemas.microsoft.com/office/drawing/2014/main" id="{6A9A2FA0-90C8-4688-B09A-08DC14D76D43}"/>
              </a:ext>
            </a:extLst>
          </p:cNvPr>
          <p:cNvSpPr>
            <a:spLocks xmlns:a="http://schemas.openxmlformats.org/drawingml/2006/main" noGrp="1"/>
          </p:cNvSpPr>
          <p:nvPr/>
        </p:nvSpPr>
        <p:spPr>
          <a:xfrm xmlns:a="http://schemas.openxmlformats.org/drawingml/2006/main">
            <a:off x="8077200" y="281940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high-throughput serving</a:t>
            </a:r>
          </a:p>
        </p:txBody>
      </p:sp>
      <p:sp>
        <p:nvSpPr>
          <p:cNvPr id="22" name="">
            <a:extLst xmlns:a="http://schemas.openxmlformats.org/drawingml/2006/main">
              <a:ext uri="{FF2B5EF4-FFF2-40B4-BE49-F238E27FC236}">
                <a16:creationId xmlns:a16="http://schemas.microsoft.com/office/drawing/2014/main" id="{65B33DFC-0EF2-4477-A985-EA78EC8BAB81}"/>
              </a:ext>
            </a:extLst>
          </p:cNvPr>
          <p:cNvSpPr>
            <a:spLocks xmlns:a="http://schemas.openxmlformats.org/drawingml/2006/main" noGrp="1"/>
          </p:cNvSpPr>
          <p:nvPr/>
        </p:nvSpPr>
        <p:spPr>
          <a:xfrm xmlns:a="http://schemas.openxmlformats.org/drawingml/2006/main">
            <a:off x="704850" y="3333750"/>
            <a:ext cx="2381250" cy="70485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23" name="">
            <a:extLst xmlns:a="http://schemas.openxmlformats.org/drawingml/2006/main">
              <a:ext uri="{FF2B5EF4-FFF2-40B4-BE49-F238E27FC236}">
                <a16:creationId xmlns:a16="http://schemas.microsoft.com/office/drawing/2014/main" id="{BD40D73E-24E6-457E-94AB-70B076BC4215}"/>
              </a:ext>
            </a:extLst>
          </p:cNvPr>
          <p:cNvSpPr>
            <a:spLocks xmlns:a="http://schemas.openxmlformats.org/drawingml/2006/main" noGrp="1"/>
          </p:cNvSpPr>
          <p:nvPr/>
        </p:nvSpPr>
        <p:spPr>
          <a:xfrm xmlns:a="http://schemas.openxmlformats.org/drawingml/2006/main">
            <a:off x="838200" y="3524250"/>
            <a:ext cx="2114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3EA"/>
                </a:solidFill>
                <a:latin typeface="Aptos"/>
                <a:ea typeface="Aptos"/>
                <a:cs typeface="Aptos"/>
              </a:defRPr>
            </a:pPr>
            <a:r>
              <a:rPr sz="1350" b="1">
                <a:solidFill>
                  <a:srgbClr val="F7F3EA"/>
                </a:solidFill>
                <a:latin typeface="Aptos"/>
                <a:ea typeface="Aptos"/>
                <a:cs typeface="Aptos"/>
              </a:rPr>
              <a:t>SGLang</a:t>
            </a:r>
          </a:p>
        </p:txBody>
      </p:sp>
      <p:sp>
        <p:nvSpPr>
          <p:cNvPr id="24" name="">
            <a:extLst xmlns:a="http://schemas.openxmlformats.org/drawingml/2006/main">
              <a:ext uri="{FF2B5EF4-FFF2-40B4-BE49-F238E27FC236}">
                <a16:creationId xmlns:a16="http://schemas.microsoft.com/office/drawing/2014/main" id="{B8E8BAEF-0AE9-469D-8120-B7042FC907B5}"/>
              </a:ext>
            </a:extLst>
          </p:cNvPr>
          <p:cNvSpPr>
            <a:spLocks xmlns:a="http://schemas.openxmlformats.org/drawingml/2006/main" noGrp="1"/>
          </p:cNvSpPr>
          <p:nvPr/>
        </p:nvSpPr>
        <p:spPr>
          <a:xfrm xmlns:a="http://schemas.openxmlformats.org/drawingml/2006/main">
            <a:off x="3086100" y="3333750"/>
            <a:ext cx="2476500" cy="70485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25" name="">
            <a:extLst xmlns:a="http://schemas.openxmlformats.org/drawingml/2006/main">
              <a:ext uri="{FF2B5EF4-FFF2-40B4-BE49-F238E27FC236}">
                <a16:creationId xmlns:a16="http://schemas.microsoft.com/office/drawing/2014/main" id="{B4BB447E-6208-4B82-9D69-6B586CC78111}"/>
              </a:ext>
            </a:extLst>
          </p:cNvPr>
          <p:cNvSpPr>
            <a:spLocks xmlns:a="http://schemas.openxmlformats.org/drawingml/2006/main" noGrp="1"/>
          </p:cNvSpPr>
          <p:nvPr/>
        </p:nvSpPr>
        <p:spPr>
          <a:xfrm xmlns:a="http://schemas.openxmlformats.org/drawingml/2006/main">
            <a:off x="3219450" y="3524250"/>
            <a:ext cx="2209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shared prefixes</a:t>
            </a:r>
          </a:p>
        </p:txBody>
      </p:sp>
      <p:sp>
        <p:nvSpPr>
          <p:cNvPr id="26" name="">
            <a:extLst xmlns:a="http://schemas.openxmlformats.org/drawingml/2006/main">
              <a:ext uri="{FF2B5EF4-FFF2-40B4-BE49-F238E27FC236}">
                <a16:creationId xmlns:a16="http://schemas.microsoft.com/office/drawing/2014/main" id="{3551D888-03E5-47D8-A537-B63C8D2E1AE4}"/>
              </a:ext>
            </a:extLst>
          </p:cNvPr>
          <p:cNvSpPr>
            <a:spLocks xmlns:a="http://schemas.openxmlformats.org/drawingml/2006/main" noGrp="1"/>
          </p:cNvSpPr>
          <p:nvPr/>
        </p:nvSpPr>
        <p:spPr>
          <a:xfrm xmlns:a="http://schemas.openxmlformats.org/drawingml/2006/main">
            <a:off x="5562600" y="3333750"/>
            <a:ext cx="2381250" cy="70485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27" name="">
            <a:extLst xmlns:a="http://schemas.openxmlformats.org/drawingml/2006/main">
              <a:ext uri="{FF2B5EF4-FFF2-40B4-BE49-F238E27FC236}">
                <a16:creationId xmlns:a16="http://schemas.microsoft.com/office/drawing/2014/main" id="{1D625AAD-D1E6-475D-B11B-5B598A7A2ED2}"/>
              </a:ext>
            </a:extLst>
          </p:cNvPr>
          <p:cNvSpPr>
            <a:spLocks xmlns:a="http://schemas.openxmlformats.org/drawingml/2006/main" noGrp="1"/>
          </p:cNvSpPr>
          <p:nvPr/>
        </p:nvSpPr>
        <p:spPr>
          <a:xfrm xmlns:a="http://schemas.openxmlformats.org/drawingml/2006/main">
            <a:off x="5695950" y="3524250"/>
            <a:ext cx="2114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RadixAttention</a:t>
            </a:r>
          </a:p>
        </p:txBody>
      </p:sp>
      <p:sp>
        <p:nvSpPr>
          <p:cNvPr id="28" name="">
            <a:extLst xmlns:a="http://schemas.openxmlformats.org/drawingml/2006/main">
              <a:ext uri="{FF2B5EF4-FFF2-40B4-BE49-F238E27FC236}">
                <a16:creationId xmlns:a16="http://schemas.microsoft.com/office/drawing/2014/main" id="{26C8979A-4673-4F0E-913E-F0E9EB446820}"/>
              </a:ext>
            </a:extLst>
          </p:cNvPr>
          <p:cNvSpPr>
            <a:spLocks xmlns:a="http://schemas.openxmlformats.org/drawingml/2006/main" noGrp="1"/>
          </p:cNvSpPr>
          <p:nvPr/>
        </p:nvSpPr>
        <p:spPr>
          <a:xfrm xmlns:a="http://schemas.openxmlformats.org/drawingml/2006/main">
            <a:off x="7943850" y="3333750"/>
            <a:ext cx="2571750" cy="70485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29" name="">
            <a:extLst xmlns:a="http://schemas.openxmlformats.org/drawingml/2006/main">
              <a:ext uri="{FF2B5EF4-FFF2-40B4-BE49-F238E27FC236}">
                <a16:creationId xmlns:a16="http://schemas.microsoft.com/office/drawing/2014/main" id="{112008FA-78E8-4A81-B853-7C971DF57E04}"/>
              </a:ext>
            </a:extLst>
          </p:cNvPr>
          <p:cNvSpPr>
            <a:spLocks xmlns:a="http://schemas.openxmlformats.org/drawingml/2006/main" noGrp="1"/>
          </p:cNvSpPr>
          <p:nvPr/>
        </p:nvSpPr>
        <p:spPr>
          <a:xfrm xmlns:a="http://schemas.openxmlformats.org/drawingml/2006/main">
            <a:off x="8077200" y="352425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agent / program workflows</a:t>
            </a:r>
          </a:p>
        </p:txBody>
      </p:sp>
      <p:sp>
        <p:nvSpPr>
          <p:cNvPr id="30" name="">
            <a:extLst xmlns:a="http://schemas.openxmlformats.org/drawingml/2006/main">
              <a:ext uri="{FF2B5EF4-FFF2-40B4-BE49-F238E27FC236}">
                <a16:creationId xmlns:a16="http://schemas.microsoft.com/office/drawing/2014/main" id="{6B8B1BB8-401D-49D4-AC2B-0D21A0A83C6A}"/>
              </a:ext>
            </a:extLst>
          </p:cNvPr>
          <p:cNvSpPr>
            <a:spLocks xmlns:a="http://schemas.openxmlformats.org/drawingml/2006/main" noGrp="1"/>
          </p:cNvSpPr>
          <p:nvPr/>
        </p:nvSpPr>
        <p:spPr>
          <a:xfrm xmlns:a="http://schemas.openxmlformats.org/drawingml/2006/main">
            <a:off x="704850" y="4038600"/>
            <a:ext cx="2381250" cy="70485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31" name="">
            <a:extLst xmlns:a="http://schemas.openxmlformats.org/drawingml/2006/main">
              <a:ext uri="{FF2B5EF4-FFF2-40B4-BE49-F238E27FC236}">
                <a16:creationId xmlns:a16="http://schemas.microsoft.com/office/drawing/2014/main" id="{3022703E-C9F4-4C0E-906D-FF34411A5AB3}"/>
              </a:ext>
            </a:extLst>
          </p:cNvPr>
          <p:cNvSpPr>
            <a:spLocks xmlns:a="http://schemas.openxmlformats.org/drawingml/2006/main" noGrp="1"/>
          </p:cNvSpPr>
          <p:nvPr/>
        </p:nvSpPr>
        <p:spPr>
          <a:xfrm xmlns:a="http://schemas.openxmlformats.org/drawingml/2006/main">
            <a:off x="838200" y="4229100"/>
            <a:ext cx="2114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3EA"/>
                </a:solidFill>
                <a:latin typeface="Aptos"/>
                <a:ea typeface="Aptos"/>
                <a:cs typeface="Aptos"/>
              </a:defRPr>
            </a:pPr>
            <a:r>
              <a:rPr sz="1350" b="1">
                <a:solidFill>
                  <a:srgbClr val="F7F3EA"/>
                </a:solidFill>
                <a:latin typeface="Aptos"/>
                <a:ea typeface="Aptos"/>
                <a:cs typeface="Aptos"/>
              </a:rPr>
              <a:t>PromptCache</a:t>
            </a:r>
          </a:p>
        </p:txBody>
      </p:sp>
      <p:sp>
        <p:nvSpPr>
          <p:cNvPr id="32" name="">
            <a:extLst xmlns:a="http://schemas.openxmlformats.org/drawingml/2006/main">
              <a:ext uri="{FF2B5EF4-FFF2-40B4-BE49-F238E27FC236}">
                <a16:creationId xmlns:a16="http://schemas.microsoft.com/office/drawing/2014/main" id="{EAED7A9A-45A4-4EA7-96C7-7B748C38935E}"/>
              </a:ext>
            </a:extLst>
          </p:cNvPr>
          <p:cNvSpPr>
            <a:spLocks xmlns:a="http://schemas.openxmlformats.org/drawingml/2006/main" noGrp="1"/>
          </p:cNvSpPr>
          <p:nvPr/>
        </p:nvSpPr>
        <p:spPr>
          <a:xfrm xmlns:a="http://schemas.openxmlformats.org/drawingml/2006/main">
            <a:off x="3086100" y="4038600"/>
            <a:ext cx="2476500" cy="70485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33" name="">
            <a:extLst xmlns:a="http://schemas.openxmlformats.org/drawingml/2006/main">
              <a:ext uri="{FF2B5EF4-FFF2-40B4-BE49-F238E27FC236}">
                <a16:creationId xmlns:a16="http://schemas.microsoft.com/office/drawing/2014/main" id="{29F85BB4-0C7C-4001-9CFF-550A96EBE4BC}"/>
              </a:ext>
            </a:extLst>
          </p:cNvPr>
          <p:cNvSpPr>
            <a:spLocks xmlns:a="http://schemas.openxmlformats.org/drawingml/2006/main" noGrp="1"/>
          </p:cNvSpPr>
          <p:nvPr/>
        </p:nvSpPr>
        <p:spPr>
          <a:xfrm xmlns:a="http://schemas.openxmlformats.org/drawingml/2006/main">
            <a:off x="3219450" y="4229100"/>
            <a:ext cx="2209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prefill reuse</a:t>
            </a:r>
          </a:p>
        </p:txBody>
      </p:sp>
      <p:sp>
        <p:nvSpPr>
          <p:cNvPr id="34" name="">
            <a:extLst xmlns:a="http://schemas.openxmlformats.org/drawingml/2006/main">
              <a:ext uri="{FF2B5EF4-FFF2-40B4-BE49-F238E27FC236}">
                <a16:creationId xmlns:a16="http://schemas.microsoft.com/office/drawing/2014/main" id="{BC358896-DA10-49CB-A044-1364233D58BC}"/>
              </a:ext>
            </a:extLst>
          </p:cNvPr>
          <p:cNvSpPr>
            <a:spLocks xmlns:a="http://schemas.openxmlformats.org/drawingml/2006/main" noGrp="1"/>
          </p:cNvSpPr>
          <p:nvPr/>
        </p:nvSpPr>
        <p:spPr>
          <a:xfrm xmlns:a="http://schemas.openxmlformats.org/drawingml/2006/main">
            <a:off x="5562600" y="4038600"/>
            <a:ext cx="2381250" cy="70485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35" name="">
            <a:extLst xmlns:a="http://schemas.openxmlformats.org/drawingml/2006/main">
              <a:ext uri="{FF2B5EF4-FFF2-40B4-BE49-F238E27FC236}">
                <a16:creationId xmlns:a16="http://schemas.microsoft.com/office/drawing/2014/main" id="{F39CDD9E-4A68-4C1D-B235-FC2336B81F0C}"/>
              </a:ext>
            </a:extLst>
          </p:cNvPr>
          <p:cNvSpPr>
            <a:spLocks xmlns:a="http://schemas.openxmlformats.org/drawingml/2006/main" noGrp="1"/>
          </p:cNvSpPr>
          <p:nvPr/>
        </p:nvSpPr>
        <p:spPr>
          <a:xfrm xmlns:a="http://schemas.openxmlformats.org/drawingml/2006/main">
            <a:off x="5695950" y="4229100"/>
            <a:ext cx="2114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prompt modules</a:t>
            </a:r>
          </a:p>
        </p:txBody>
      </p:sp>
      <p:sp>
        <p:nvSpPr>
          <p:cNvPr id="36" name="">
            <a:extLst xmlns:a="http://schemas.openxmlformats.org/drawingml/2006/main">
              <a:ext uri="{FF2B5EF4-FFF2-40B4-BE49-F238E27FC236}">
                <a16:creationId xmlns:a16="http://schemas.microsoft.com/office/drawing/2014/main" id="{61CD2153-5047-4A79-B173-FDE5DA0EB4F2}"/>
              </a:ext>
            </a:extLst>
          </p:cNvPr>
          <p:cNvSpPr>
            <a:spLocks xmlns:a="http://schemas.openxmlformats.org/drawingml/2006/main" noGrp="1"/>
          </p:cNvSpPr>
          <p:nvPr/>
        </p:nvSpPr>
        <p:spPr>
          <a:xfrm xmlns:a="http://schemas.openxmlformats.org/drawingml/2006/main">
            <a:off x="7943850" y="4038600"/>
            <a:ext cx="2571750" cy="70485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37" name="">
            <a:extLst xmlns:a="http://schemas.openxmlformats.org/drawingml/2006/main">
              <a:ext uri="{FF2B5EF4-FFF2-40B4-BE49-F238E27FC236}">
                <a16:creationId xmlns:a16="http://schemas.microsoft.com/office/drawing/2014/main" id="{261053B4-5EB7-4522-B4C9-123AE06AAD01}"/>
              </a:ext>
            </a:extLst>
          </p:cNvPr>
          <p:cNvSpPr>
            <a:spLocks xmlns:a="http://schemas.openxmlformats.org/drawingml/2006/main" noGrp="1"/>
          </p:cNvSpPr>
          <p:nvPr/>
        </p:nvSpPr>
        <p:spPr>
          <a:xfrm xmlns:a="http://schemas.openxmlformats.org/drawingml/2006/main">
            <a:off x="8077200" y="422910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templates, RAG, long context</a:t>
            </a:r>
          </a:p>
        </p:txBody>
      </p:sp>
      <p:sp>
        <p:nvSpPr>
          <p:cNvPr id="38" name="">
            <a:extLst xmlns:a="http://schemas.openxmlformats.org/drawingml/2006/main">
              <a:ext uri="{FF2B5EF4-FFF2-40B4-BE49-F238E27FC236}">
                <a16:creationId xmlns:a16="http://schemas.microsoft.com/office/drawing/2014/main" id="{D20DFE40-45D2-414D-A26B-8A75A1F7F5BE}"/>
              </a:ext>
            </a:extLst>
          </p:cNvPr>
          <p:cNvSpPr>
            <a:spLocks xmlns:a="http://schemas.openxmlformats.org/drawingml/2006/main" noGrp="1"/>
          </p:cNvSpPr>
          <p:nvPr/>
        </p:nvSpPr>
        <p:spPr>
          <a:xfrm xmlns:a="http://schemas.openxmlformats.org/drawingml/2006/main">
            <a:off x="704850" y="4743450"/>
            <a:ext cx="2381250" cy="70485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39" name="">
            <a:extLst xmlns:a="http://schemas.openxmlformats.org/drawingml/2006/main">
              <a:ext uri="{FF2B5EF4-FFF2-40B4-BE49-F238E27FC236}">
                <a16:creationId xmlns:a16="http://schemas.microsoft.com/office/drawing/2014/main" id="{2C3C2FFE-50FD-430D-9AB2-B040D1D11200}"/>
              </a:ext>
            </a:extLst>
          </p:cNvPr>
          <p:cNvSpPr>
            <a:spLocks xmlns:a="http://schemas.openxmlformats.org/drawingml/2006/main" noGrp="1"/>
          </p:cNvSpPr>
          <p:nvPr/>
        </p:nvSpPr>
        <p:spPr>
          <a:xfrm xmlns:a="http://schemas.openxmlformats.org/drawingml/2006/main">
            <a:off x="838200" y="4933950"/>
            <a:ext cx="2114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7F3EA"/>
                </a:solidFill>
                <a:latin typeface="Aptos"/>
                <a:ea typeface="Aptos"/>
                <a:cs typeface="Aptos"/>
              </a:defRPr>
            </a:pPr>
            <a:r>
              <a:rPr sz="1350" b="1">
                <a:solidFill>
                  <a:srgbClr val="F7F3EA"/>
                </a:solidFill>
                <a:latin typeface="Aptos"/>
                <a:ea typeface="Aptos"/>
                <a:cs typeface="Aptos"/>
              </a:rPr>
              <a:t>Hydragen</a:t>
            </a:r>
          </a:p>
        </p:txBody>
      </p:sp>
      <p:sp>
        <p:nvSpPr>
          <p:cNvPr id="40" name="">
            <a:extLst xmlns:a="http://schemas.openxmlformats.org/drawingml/2006/main">
              <a:ext uri="{FF2B5EF4-FFF2-40B4-BE49-F238E27FC236}">
                <a16:creationId xmlns:a16="http://schemas.microsoft.com/office/drawing/2014/main" id="{4530F42E-15BF-4262-BE6B-70243ECC9878}"/>
              </a:ext>
            </a:extLst>
          </p:cNvPr>
          <p:cNvSpPr>
            <a:spLocks xmlns:a="http://schemas.openxmlformats.org/drawingml/2006/main" noGrp="1"/>
          </p:cNvSpPr>
          <p:nvPr/>
        </p:nvSpPr>
        <p:spPr>
          <a:xfrm xmlns:a="http://schemas.openxmlformats.org/drawingml/2006/main">
            <a:off x="3086100" y="4743450"/>
            <a:ext cx="2476500" cy="70485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41" name="">
            <a:extLst xmlns:a="http://schemas.openxmlformats.org/drawingml/2006/main">
              <a:ext uri="{FF2B5EF4-FFF2-40B4-BE49-F238E27FC236}">
                <a16:creationId xmlns:a16="http://schemas.microsoft.com/office/drawing/2014/main" id="{013C72D8-6131-46A8-A062-A04710EC1AEF}"/>
              </a:ext>
            </a:extLst>
          </p:cNvPr>
          <p:cNvSpPr>
            <a:spLocks xmlns:a="http://schemas.openxmlformats.org/drawingml/2006/main" noGrp="1"/>
          </p:cNvSpPr>
          <p:nvPr/>
        </p:nvSpPr>
        <p:spPr>
          <a:xfrm xmlns:a="http://schemas.openxmlformats.org/drawingml/2006/main">
            <a:off x="3219450" y="4933950"/>
            <a:ext cx="2209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prefix attention reads</a:t>
            </a:r>
          </a:p>
        </p:txBody>
      </p:sp>
      <p:sp>
        <p:nvSpPr>
          <p:cNvPr id="42" name="">
            <a:extLst xmlns:a="http://schemas.openxmlformats.org/drawingml/2006/main">
              <a:ext uri="{FF2B5EF4-FFF2-40B4-BE49-F238E27FC236}">
                <a16:creationId xmlns:a16="http://schemas.microsoft.com/office/drawing/2014/main" id="{22F6AF9D-BD00-40FD-B79B-8D2E61C607FA}"/>
              </a:ext>
            </a:extLst>
          </p:cNvPr>
          <p:cNvSpPr>
            <a:spLocks xmlns:a="http://schemas.openxmlformats.org/drawingml/2006/main" noGrp="1"/>
          </p:cNvSpPr>
          <p:nvPr/>
        </p:nvSpPr>
        <p:spPr>
          <a:xfrm xmlns:a="http://schemas.openxmlformats.org/drawingml/2006/main">
            <a:off x="5562600" y="4743450"/>
            <a:ext cx="2381250" cy="70485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43" name="">
            <a:extLst xmlns:a="http://schemas.openxmlformats.org/drawingml/2006/main">
              <a:ext uri="{FF2B5EF4-FFF2-40B4-BE49-F238E27FC236}">
                <a16:creationId xmlns:a16="http://schemas.microsoft.com/office/drawing/2014/main" id="{E054787A-5AAD-475D-93E8-B3EE1D253E18}"/>
              </a:ext>
            </a:extLst>
          </p:cNvPr>
          <p:cNvSpPr>
            <a:spLocks xmlns:a="http://schemas.openxmlformats.org/drawingml/2006/main" noGrp="1"/>
          </p:cNvSpPr>
          <p:nvPr/>
        </p:nvSpPr>
        <p:spPr>
          <a:xfrm xmlns:a="http://schemas.openxmlformats.org/drawingml/2006/main">
            <a:off x="5695950" y="4933950"/>
            <a:ext cx="2114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attention decomposition</a:t>
            </a:r>
          </a:p>
        </p:txBody>
      </p:sp>
      <p:sp>
        <p:nvSpPr>
          <p:cNvPr id="44" name="">
            <a:extLst xmlns:a="http://schemas.openxmlformats.org/drawingml/2006/main">
              <a:ext uri="{FF2B5EF4-FFF2-40B4-BE49-F238E27FC236}">
                <a16:creationId xmlns:a16="http://schemas.microsoft.com/office/drawing/2014/main" id="{5AB43F1A-AB02-47A5-A737-9219A22E634C}"/>
              </a:ext>
            </a:extLst>
          </p:cNvPr>
          <p:cNvSpPr>
            <a:spLocks xmlns:a="http://schemas.openxmlformats.org/drawingml/2006/main" noGrp="1"/>
          </p:cNvSpPr>
          <p:nvPr/>
        </p:nvSpPr>
        <p:spPr>
          <a:xfrm xmlns:a="http://schemas.openxmlformats.org/drawingml/2006/main">
            <a:off x="7943850" y="4743450"/>
            <a:ext cx="2571750" cy="70485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45" name="">
            <a:extLst xmlns:a="http://schemas.openxmlformats.org/drawingml/2006/main">
              <a:ext uri="{FF2B5EF4-FFF2-40B4-BE49-F238E27FC236}">
                <a16:creationId xmlns:a16="http://schemas.microsoft.com/office/drawing/2014/main" id="{3148BD91-8A61-48C0-8CC9-F88F1D15BD76}"/>
              </a:ext>
            </a:extLst>
          </p:cNvPr>
          <p:cNvSpPr>
            <a:spLocks xmlns:a="http://schemas.openxmlformats.org/drawingml/2006/main" noGrp="1"/>
          </p:cNvSpPr>
          <p:nvPr/>
        </p:nvSpPr>
        <p:spPr>
          <a:xfrm xmlns:a="http://schemas.openxmlformats.org/drawingml/2006/main">
            <a:off x="8077200" y="4933950"/>
            <a:ext cx="23050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large batch + long shared prefix</a:t>
            </a:r>
          </a:p>
        </p:txBody>
      </p:sp>
      <p:sp>
        <p:nvSpPr>
          <p:cNvPr id="46" name="">
            <a:extLst xmlns:a="http://schemas.openxmlformats.org/drawingml/2006/main">
              <a:ext uri="{FF2B5EF4-FFF2-40B4-BE49-F238E27FC236}">
                <a16:creationId xmlns:a16="http://schemas.microsoft.com/office/drawing/2014/main" id="{BDFA67ED-C2B0-41A3-BC05-E123A4588C01}"/>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Capstone · LLM Latency Optimization · 2026-05-27</a:t>
            </a:r>
          </a:p>
        </p:txBody>
      </p:sp>
    </p:spTree>
    <p:extLst>
      <p:ext uri="{BB962C8B-B14F-4D97-AF65-F5344CB8AC3E}">
        <p14:creationId xmlns:p14="http://schemas.microsoft.com/office/powerpoint/2010/main" val="107414432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630102B-1C1B-4AB5-97BF-CFDE51E7067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1B77B04-667A-4BCC-8EE9-CB15EE7FD63A}"/>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PAPER 1 · vLLM</a:t>
            </a:r>
          </a:p>
        </p:txBody>
      </p:sp>
      <p:sp>
        <p:nvSpPr>
          <p:cNvPr id="3" name="">
            <a:extLst xmlns:a="http://schemas.openxmlformats.org/drawingml/2006/main">
              <a:ext uri="{FF2B5EF4-FFF2-40B4-BE49-F238E27FC236}">
                <a16:creationId xmlns:a16="http://schemas.microsoft.com/office/drawing/2014/main" id="{E78F1851-AEB8-4178-A755-32EADD0BC427}"/>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2BB4351-4290-41E0-927E-A7FA1EBFF9E0}"/>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PagedAttention makes KV cache manageable</a:t>
            </a:r>
          </a:p>
        </p:txBody>
      </p:sp>
      <p:sp>
        <p:nvSpPr>
          <p:cNvPr id="5" name="">
            <a:extLst xmlns:a="http://schemas.openxmlformats.org/drawingml/2006/main">
              <a:ext uri="{FF2B5EF4-FFF2-40B4-BE49-F238E27FC236}">
                <a16:creationId xmlns:a16="http://schemas.microsoft.com/office/drawing/2014/main" id="{6896A059-F7FD-4257-9656-B785EE37897B}"/>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vLLM borrows the OS idea of virtual memory: logical KV blocks map to non-contiguous physical GPU blocks.</a:t>
            </a:r>
          </a:p>
        </p:txBody>
      </p:sp>
      <p:sp>
        <p:nvSpPr>
          <p:cNvPr id="6" name="">
            <a:extLst xmlns:a="http://schemas.openxmlformats.org/drawingml/2006/main">
              <a:ext uri="{FF2B5EF4-FFF2-40B4-BE49-F238E27FC236}">
                <a16:creationId xmlns:a16="http://schemas.microsoft.com/office/drawing/2014/main" id="{8B090089-D85F-4507-BBCC-CF844B72F96B}"/>
              </a:ext>
            </a:extLst>
          </p:cNvPr>
          <p:cNvSpPr>
            <a:spLocks xmlns:a="http://schemas.openxmlformats.org/drawingml/2006/main" noGrp="1"/>
          </p:cNvSpPr>
          <p:nvPr/>
        </p:nvSpPr>
        <p:spPr>
          <a:xfrm xmlns:a="http://schemas.openxmlformats.org/drawingml/2006/main">
            <a:off x="666750" y="2266950"/>
            <a:ext cx="3448050" cy="27622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7" name="">
            <a:extLst xmlns:a="http://schemas.openxmlformats.org/drawingml/2006/main">
              <a:ext uri="{FF2B5EF4-FFF2-40B4-BE49-F238E27FC236}">
                <a16:creationId xmlns:a16="http://schemas.microsoft.com/office/drawing/2014/main" id="{10C66F81-5793-4C22-A61F-DC7E43E22E3E}"/>
              </a:ext>
            </a:extLst>
          </p:cNvPr>
          <p:cNvSpPr>
            <a:spLocks xmlns:a="http://schemas.openxmlformats.org/drawingml/2006/main" noGrp="1"/>
          </p:cNvSpPr>
          <p:nvPr/>
        </p:nvSpPr>
        <p:spPr>
          <a:xfrm xmlns:a="http://schemas.openxmlformats.org/drawingml/2006/main">
            <a:off x="666750" y="2266950"/>
            <a:ext cx="47625" cy="276225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323D7CD-CCB3-4A46-B599-28E869364032}"/>
              </a:ext>
            </a:extLst>
          </p:cNvPr>
          <p:cNvSpPr>
            <a:spLocks xmlns:a="http://schemas.openxmlformats.org/drawingml/2006/main" noGrp="1"/>
          </p:cNvSpPr>
          <p:nvPr/>
        </p:nvSpPr>
        <p:spPr>
          <a:xfrm xmlns:a="http://schemas.openxmlformats.org/drawingml/2006/main">
            <a:off x="838200" y="2419350"/>
            <a:ext cx="31051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Problem</a:t>
            </a:r>
          </a:p>
        </p:txBody>
      </p:sp>
      <p:sp>
        <p:nvSpPr>
          <p:cNvPr id="9" name="">
            <a:extLst xmlns:a="http://schemas.openxmlformats.org/drawingml/2006/main">
              <a:ext uri="{FF2B5EF4-FFF2-40B4-BE49-F238E27FC236}">
                <a16:creationId xmlns:a16="http://schemas.microsoft.com/office/drawing/2014/main" id="{ACF6A59B-DE2A-4E98-B7EE-69B3622F9BC0}"/>
              </a:ext>
            </a:extLst>
          </p:cNvPr>
          <p:cNvSpPr>
            <a:spLocks xmlns:a="http://schemas.openxmlformats.org/drawingml/2006/main" noGrp="1"/>
          </p:cNvSpPr>
          <p:nvPr/>
        </p:nvSpPr>
        <p:spPr>
          <a:xfrm xmlns:a="http://schemas.openxmlformats.org/drawingml/2006/main">
            <a:off x="838200" y="2743200"/>
            <a:ext cx="3105150" cy="2171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Autoregressive serving stores one KV cache per request. Contiguous allocation and max-length reservation waste memory through internal and external fragmentation.</a:t>
            </a:r>
          </a:p>
        </p:txBody>
      </p:sp>
      <p:sp>
        <p:nvSpPr>
          <p:cNvPr id="10" name="">
            <a:extLst xmlns:a="http://schemas.openxmlformats.org/drawingml/2006/main">
              <a:ext uri="{FF2B5EF4-FFF2-40B4-BE49-F238E27FC236}">
                <a16:creationId xmlns:a16="http://schemas.microsoft.com/office/drawing/2014/main" id="{6FFBB3BC-876B-4254-9B5F-A6FF974F9D46}"/>
              </a:ext>
            </a:extLst>
          </p:cNvPr>
          <p:cNvSpPr>
            <a:spLocks xmlns:a="http://schemas.openxmlformats.org/drawingml/2006/main" noGrp="1"/>
          </p:cNvSpPr>
          <p:nvPr/>
        </p:nvSpPr>
        <p:spPr>
          <a:xfrm xmlns:a="http://schemas.openxmlformats.org/drawingml/2006/main">
            <a:off x="4905375" y="19621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Logical token blocks</a:t>
            </a:r>
          </a:p>
        </p:txBody>
      </p:sp>
      <p:sp>
        <p:nvSpPr>
          <p:cNvPr id="11" name="">
            <a:extLst xmlns:a="http://schemas.openxmlformats.org/drawingml/2006/main">
              <a:ext uri="{FF2B5EF4-FFF2-40B4-BE49-F238E27FC236}">
                <a16:creationId xmlns:a16="http://schemas.microsoft.com/office/drawing/2014/main" id="{0693D912-81D1-4E47-A895-12FD98B00166}"/>
              </a:ext>
            </a:extLst>
          </p:cNvPr>
          <p:cNvSpPr>
            <a:spLocks xmlns:a="http://schemas.openxmlformats.org/drawingml/2006/main" noGrp="1"/>
          </p:cNvSpPr>
          <p:nvPr/>
        </p:nvSpPr>
        <p:spPr>
          <a:xfrm xmlns:a="http://schemas.openxmlformats.org/drawingml/2006/main">
            <a:off x="4905375" y="2286000"/>
            <a:ext cx="552450" cy="438150"/>
          </a:xfrm>
          <a:prstGeom xmlns:a="http://schemas.openxmlformats.org/drawingml/2006/main" prst="rect">
            <a:avLst/>
          </a:prstGeom>
          <a:solidFill xmlns:a="http://schemas.openxmlformats.org/drawingml/2006/main">
            <a:srgbClr val="223124"/>
          </a:solidFill>
          <a:ln xmlns:a="http://schemas.openxmlformats.org/drawingml/2006/main" w="9525">
            <a:solidFill>
              <a:srgbClr val="7BD88F"/>
            </a:solidFill>
            <a:prstDash val="solid"/>
          </a:ln>
        </p:spPr>
      </p:sp>
      <p:sp>
        <p:nvSpPr>
          <p:cNvPr id="12" name="">
            <a:extLst xmlns:a="http://schemas.openxmlformats.org/drawingml/2006/main">
              <a:ext uri="{FF2B5EF4-FFF2-40B4-BE49-F238E27FC236}">
                <a16:creationId xmlns:a16="http://schemas.microsoft.com/office/drawing/2014/main" id="{F5B2A030-2FFA-43AB-9D7F-D71DF230839A}"/>
              </a:ext>
            </a:extLst>
          </p:cNvPr>
          <p:cNvSpPr>
            <a:spLocks xmlns:a="http://schemas.openxmlformats.org/drawingml/2006/main" noGrp="1"/>
          </p:cNvSpPr>
          <p:nvPr/>
        </p:nvSpPr>
        <p:spPr>
          <a:xfrm xmlns:a="http://schemas.openxmlformats.org/drawingml/2006/main">
            <a:off x="4905375" y="24098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L0</a:t>
            </a:r>
          </a:p>
        </p:txBody>
      </p:sp>
      <p:sp>
        <p:nvSpPr>
          <p:cNvPr id="13" name="">
            <a:extLst xmlns:a="http://schemas.openxmlformats.org/drawingml/2006/main">
              <a:ext uri="{FF2B5EF4-FFF2-40B4-BE49-F238E27FC236}">
                <a16:creationId xmlns:a16="http://schemas.microsoft.com/office/drawing/2014/main" id="{0259B8C0-4C8B-4C54-9682-4E647AB1730C}"/>
              </a:ext>
            </a:extLst>
          </p:cNvPr>
          <p:cNvSpPr>
            <a:spLocks xmlns:a="http://schemas.openxmlformats.org/drawingml/2006/main" noGrp="1"/>
          </p:cNvSpPr>
          <p:nvPr/>
        </p:nvSpPr>
        <p:spPr>
          <a:xfrm xmlns:a="http://schemas.openxmlformats.org/drawingml/2006/main">
            <a:off x="5629275" y="2286000"/>
            <a:ext cx="552450" cy="438150"/>
          </a:xfrm>
          <a:prstGeom xmlns:a="http://schemas.openxmlformats.org/drawingml/2006/main" prst="rect">
            <a:avLst/>
          </a:prstGeom>
          <a:solidFill xmlns:a="http://schemas.openxmlformats.org/drawingml/2006/main">
            <a:srgbClr val="223124"/>
          </a:solidFill>
          <a:ln xmlns:a="http://schemas.openxmlformats.org/drawingml/2006/main" w="9525">
            <a:solidFill>
              <a:srgbClr val="7BD88F"/>
            </a:solidFill>
            <a:prstDash val="solid"/>
          </a:ln>
        </p:spPr>
      </p:sp>
      <p:sp>
        <p:nvSpPr>
          <p:cNvPr id="14" name="">
            <a:extLst xmlns:a="http://schemas.openxmlformats.org/drawingml/2006/main">
              <a:ext uri="{FF2B5EF4-FFF2-40B4-BE49-F238E27FC236}">
                <a16:creationId xmlns:a16="http://schemas.microsoft.com/office/drawing/2014/main" id="{2D77EFAA-6B6F-40C5-92AA-950AB31D8EFA}"/>
              </a:ext>
            </a:extLst>
          </p:cNvPr>
          <p:cNvSpPr>
            <a:spLocks xmlns:a="http://schemas.openxmlformats.org/drawingml/2006/main" noGrp="1"/>
          </p:cNvSpPr>
          <p:nvPr/>
        </p:nvSpPr>
        <p:spPr>
          <a:xfrm xmlns:a="http://schemas.openxmlformats.org/drawingml/2006/main">
            <a:off x="5629275" y="24098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L1</a:t>
            </a:r>
          </a:p>
        </p:txBody>
      </p:sp>
      <p:sp>
        <p:nvSpPr>
          <p:cNvPr id="15" name="">
            <a:extLst xmlns:a="http://schemas.openxmlformats.org/drawingml/2006/main">
              <a:ext uri="{FF2B5EF4-FFF2-40B4-BE49-F238E27FC236}">
                <a16:creationId xmlns:a16="http://schemas.microsoft.com/office/drawing/2014/main" id="{ADD8BCAD-84DA-4AA2-84B6-AF7430782689}"/>
              </a:ext>
            </a:extLst>
          </p:cNvPr>
          <p:cNvSpPr>
            <a:spLocks xmlns:a="http://schemas.openxmlformats.org/drawingml/2006/main" noGrp="1"/>
          </p:cNvSpPr>
          <p:nvPr/>
        </p:nvSpPr>
        <p:spPr>
          <a:xfrm xmlns:a="http://schemas.openxmlformats.org/drawingml/2006/main">
            <a:off x="6353175" y="2286000"/>
            <a:ext cx="552450" cy="438150"/>
          </a:xfrm>
          <a:prstGeom xmlns:a="http://schemas.openxmlformats.org/drawingml/2006/main" prst="rect">
            <a:avLst/>
          </a:prstGeom>
          <a:solidFill xmlns:a="http://schemas.openxmlformats.org/drawingml/2006/main">
            <a:srgbClr val="223124"/>
          </a:solidFill>
          <a:ln xmlns:a="http://schemas.openxmlformats.org/drawingml/2006/main" w="9525">
            <a:solidFill>
              <a:srgbClr val="7BD88F"/>
            </a:solidFill>
            <a:prstDash val="solid"/>
          </a:ln>
        </p:spPr>
      </p:sp>
      <p:sp>
        <p:nvSpPr>
          <p:cNvPr id="16" name="">
            <a:extLst xmlns:a="http://schemas.openxmlformats.org/drawingml/2006/main">
              <a:ext uri="{FF2B5EF4-FFF2-40B4-BE49-F238E27FC236}">
                <a16:creationId xmlns:a16="http://schemas.microsoft.com/office/drawing/2014/main" id="{34EE25A6-83F8-4C42-A79D-02D63E60509A}"/>
              </a:ext>
            </a:extLst>
          </p:cNvPr>
          <p:cNvSpPr>
            <a:spLocks xmlns:a="http://schemas.openxmlformats.org/drawingml/2006/main" noGrp="1"/>
          </p:cNvSpPr>
          <p:nvPr/>
        </p:nvSpPr>
        <p:spPr>
          <a:xfrm xmlns:a="http://schemas.openxmlformats.org/drawingml/2006/main">
            <a:off x="6353175" y="24098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L2</a:t>
            </a:r>
          </a:p>
        </p:txBody>
      </p:sp>
      <p:sp>
        <p:nvSpPr>
          <p:cNvPr id="17" name="">
            <a:extLst xmlns:a="http://schemas.openxmlformats.org/drawingml/2006/main">
              <a:ext uri="{FF2B5EF4-FFF2-40B4-BE49-F238E27FC236}">
                <a16:creationId xmlns:a16="http://schemas.microsoft.com/office/drawing/2014/main" id="{261FD1A0-111D-4873-83C4-CAF755A18F23}"/>
              </a:ext>
            </a:extLst>
          </p:cNvPr>
          <p:cNvSpPr>
            <a:spLocks xmlns:a="http://schemas.openxmlformats.org/drawingml/2006/main" noGrp="1"/>
          </p:cNvSpPr>
          <p:nvPr/>
        </p:nvSpPr>
        <p:spPr>
          <a:xfrm xmlns:a="http://schemas.openxmlformats.org/drawingml/2006/main">
            <a:off x="7077075" y="2286000"/>
            <a:ext cx="552450" cy="438150"/>
          </a:xfrm>
          <a:prstGeom xmlns:a="http://schemas.openxmlformats.org/drawingml/2006/main" prst="rect">
            <a:avLst/>
          </a:prstGeom>
          <a:solidFill xmlns:a="http://schemas.openxmlformats.org/drawingml/2006/main">
            <a:srgbClr val="223124"/>
          </a:solidFill>
          <a:ln xmlns:a="http://schemas.openxmlformats.org/drawingml/2006/main" w="9525">
            <a:solidFill>
              <a:srgbClr val="7BD88F"/>
            </a:solidFill>
            <a:prstDash val="solid"/>
          </a:ln>
        </p:spPr>
      </p:sp>
      <p:sp>
        <p:nvSpPr>
          <p:cNvPr id="18" name="">
            <a:extLst xmlns:a="http://schemas.openxmlformats.org/drawingml/2006/main">
              <a:ext uri="{FF2B5EF4-FFF2-40B4-BE49-F238E27FC236}">
                <a16:creationId xmlns:a16="http://schemas.microsoft.com/office/drawing/2014/main" id="{09118C5D-03FE-4DE0-AE80-656E70C54C4E}"/>
              </a:ext>
            </a:extLst>
          </p:cNvPr>
          <p:cNvSpPr>
            <a:spLocks xmlns:a="http://schemas.openxmlformats.org/drawingml/2006/main" noGrp="1"/>
          </p:cNvSpPr>
          <p:nvPr/>
        </p:nvSpPr>
        <p:spPr>
          <a:xfrm xmlns:a="http://schemas.openxmlformats.org/drawingml/2006/main">
            <a:off x="7077075" y="24098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L3</a:t>
            </a:r>
          </a:p>
        </p:txBody>
      </p:sp>
      <p:sp>
        <p:nvSpPr>
          <p:cNvPr id="19" name="">
            <a:extLst xmlns:a="http://schemas.openxmlformats.org/drawingml/2006/main">
              <a:ext uri="{FF2B5EF4-FFF2-40B4-BE49-F238E27FC236}">
                <a16:creationId xmlns:a16="http://schemas.microsoft.com/office/drawing/2014/main" id="{639193A9-055D-4D41-9F0B-B489C9109485}"/>
              </a:ext>
            </a:extLst>
          </p:cNvPr>
          <p:cNvSpPr>
            <a:spLocks xmlns:a="http://schemas.openxmlformats.org/drawingml/2006/main" noGrp="1"/>
          </p:cNvSpPr>
          <p:nvPr/>
        </p:nvSpPr>
        <p:spPr>
          <a:xfrm xmlns:a="http://schemas.openxmlformats.org/drawingml/2006/main">
            <a:off x="7800975" y="2286000"/>
            <a:ext cx="552450" cy="438150"/>
          </a:xfrm>
          <a:prstGeom xmlns:a="http://schemas.openxmlformats.org/drawingml/2006/main" prst="rect">
            <a:avLst/>
          </a:prstGeom>
          <a:solidFill xmlns:a="http://schemas.openxmlformats.org/drawingml/2006/main">
            <a:srgbClr val="223124"/>
          </a:solidFill>
          <a:ln xmlns:a="http://schemas.openxmlformats.org/drawingml/2006/main" w="9525">
            <a:solidFill>
              <a:srgbClr val="7BD88F"/>
            </a:solidFill>
            <a:prstDash val="solid"/>
          </a:ln>
        </p:spPr>
      </p:sp>
      <p:sp>
        <p:nvSpPr>
          <p:cNvPr id="20" name="">
            <a:extLst xmlns:a="http://schemas.openxmlformats.org/drawingml/2006/main">
              <a:ext uri="{FF2B5EF4-FFF2-40B4-BE49-F238E27FC236}">
                <a16:creationId xmlns:a16="http://schemas.microsoft.com/office/drawing/2014/main" id="{49365B94-E83A-4A63-B24D-7B795FB3FB71}"/>
              </a:ext>
            </a:extLst>
          </p:cNvPr>
          <p:cNvSpPr>
            <a:spLocks xmlns:a="http://schemas.openxmlformats.org/drawingml/2006/main" noGrp="1"/>
          </p:cNvSpPr>
          <p:nvPr/>
        </p:nvSpPr>
        <p:spPr>
          <a:xfrm xmlns:a="http://schemas.openxmlformats.org/drawingml/2006/main">
            <a:off x="7800975" y="24098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L4</a:t>
            </a:r>
          </a:p>
        </p:txBody>
      </p:sp>
      <p:sp>
        <p:nvSpPr>
          <p:cNvPr id="21" name="">
            <a:extLst xmlns:a="http://schemas.openxmlformats.org/drawingml/2006/main">
              <a:ext uri="{FF2B5EF4-FFF2-40B4-BE49-F238E27FC236}">
                <a16:creationId xmlns:a16="http://schemas.microsoft.com/office/drawing/2014/main" id="{C59CA519-530A-47B2-89A5-7705FCAE8D24}"/>
              </a:ext>
            </a:extLst>
          </p:cNvPr>
          <p:cNvSpPr>
            <a:spLocks xmlns:a="http://schemas.openxmlformats.org/drawingml/2006/main" noGrp="1"/>
          </p:cNvSpPr>
          <p:nvPr/>
        </p:nvSpPr>
        <p:spPr>
          <a:xfrm xmlns:a="http://schemas.openxmlformats.org/drawingml/2006/main">
            <a:off x="4905375" y="35623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2A7FF"/>
                </a:solidFill>
                <a:latin typeface="Aptos"/>
                <a:ea typeface="Aptos"/>
                <a:cs typeface="Aptos"/>
              </a:defRPr>
            </a:pPr>
            <a:r>
              <a:rPr sz="975" b="1">
                <a:solidFill>
                  <a:srgbClr val="72A7FF"/>
                </a:solidFill>
                <a:latin typeface="Aptos"/>
                <a:ea typeface="Aptos"/>
                <a:cs typeface="Aptos"/>
              </a:rPr>
              <a:t>Physical GPU blocks</a:t>
            </a:r>
          </a:p>
        </p:txBody>
      </p:sp>
      <p:sp>
        <p:nvSpPr>
          <p:cNvPr id="22" name="">
            <a:extLst xmlns:a="http://schemas.openxmlformats.org/drawingml/2006/main">
              <a:ext uri="{FF2B5EF4-FFF2-40B4-BE49-F238E27FC236}">
                <a16:creationId xmlns:a16="http://schemas.microsoft.com/office/drawing/2014/main" id="{21FC6E7F-89D9-465E-9D48-BBECB61F9BDA}"/>
              </a:ext>
            </a:extLst>
          </p:cNvPr>
          <p:cNvSpPr>
            <a:spLocks xmlns:a="http://schemas.openxmlformats.org/drawingml/2006/main" noGrp="1"/>
          </p:cNvSpPr>
          <p:nvPr/>
        </p:nvSpPr>
        <p:spPr>
          <a:xfrm xmlns:a="http://schemas.openxmlformats.org/drawingml/2006/main">
            <a:off x="4905375" y="3886200"/>
            <a:ext cx="552450" cy="438150"/>
          </a:xfrm>
          <a:prstGeom xmlns:a="http://schemas.openxmlformats.org/drawingml/2006/main" prst="rect">
            <a:avLst/>
          </a:prstGeom>
          <a:solidFill xmlns:a="http://schemas.openxmlformats.org/drawingml/2006/main">
            <a:srgbClr val="1C2D3A"/>
          </a:solidFill>
          <a:ln xmlns:a="http://schemas.openxmlformats.org/drawingml/2006/main" w="9525">
            <a:solidFill>
              <a:srgbClr val="72A7FF"/>
            </a:solidFill>
            <a:prstDash val="solid"/>
          </a:ln>
        </p:spPr>
      </p:sp>
      <p:sp>
        <p:nvSpPr>
          <p:cNvPr id="23" name="">
            <a:extLst xmlns:a="http://schemas.openxmlformats.org/drawingml/2006/main">
              <a:ext uri="{FF2B5EF4-FFF2-40B4-BE49-F238E27FC236}">
                <a16:creationId xmlns:a16="http://schemas.microsoft.com/office/drawing/2014/main" id="{B61CF6DC-BDC6-4670-8D80-35F28973EE92}"/>
              </a:ext>
            </a:extLst>
          </p:cNvPr>
          <p:cNvSpPr>
            <a:spLocks xmlns:a="http://schemas.openxmlformats.org/drawingml/2006/main" noGrp="1"/>
          </p:cNvSpPr>
          <p:nvPr/>
        </p:nvSpPr>
        <p:spPr>
          <a:xfrm xmlns:a="http://schemas.openxmlformats.org/drawingml/2006/main">
            <a:off x="4905375" y="40100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P3</a:t>
            </a:r>
          </a:p>
        </p:txBody>
      </p:sp>
      <p:sp>
        <p:nvSpPr>
          <p:cNvPr id="24" name="">
            <a:extLst xmlns:a="http://schemas.openxmlformats.org/drawingml/2006/main">
              <a:ext uri="{FF2B5EF4-FFF2-40B4-BE49-F238E27FC236}">
                <a16:creationId xmlns:a16="http://schemas.microsoft.com/office/drawing/2014/main" id="{95AC5795-DA77-4006-9DE1-EAF9C7592EEF}"/>
              </a:ext>
            </a:extLst>
          </p:cNvPr>
          <p:cNvSpPr>
            <a:spLocks xmlns:a="http://schemas.openxmlformats.org/drawingml/2006/main" noGrp="1"/>
          </p:cNvSpPr>
          <p:nvPr/>
        </p:nvSpPr>
        <p:spPr>
          <a:xfrm xmlns:a="http://schemas.openxmlformats.org/drawingml/2006/main">
            <a:off x="5629275" y="3886200"/>
            <a:ext cx="552450" cy="438150"/>
          </a:xfrm>
          <a:prstGeom xmlns:a="http://schemas.openxmlformats.org/drawingml/2006/main" prst="rect">
            <a:avLst/>
          </a:prstGeom>
          <a:solidFill xmlns:a="http://schemas.openxmlformats.org/drawingml/2006/main">
            <a:srgbClr val="1C2D3A"/>
          </a:solidFill>
          <a:ln xmlns:a="http://schemas.openxmlformats.org/drawingml/2006/main" w="9525">
            <a:solidFill>
              <a:srgbClr val="72A7FF"/>
            </a:solidFill>
            <a:prstDash val="solid"/>
          </a:ln>
        </p:spPr>
      </p:sp>
      <p:sp>
        <p:nvSpPr>
          <p:cNvPr id="25" name="">
            <a:extLst xmlns:a="http://schemas.openxmlformats.org/drawingml/2006/main">
              <a:ext uri="{FF2B5EF4-FFF2-40B4-BE49-F238E27FC236}">
                <a16:creationId xmlns:a16="http://schemas.microsoft.com/office/drawing/2014/main" id="{5F435D8B-D858-41A5-908F-D0001900901D}"/>
              </a:ext>
            </a:extLst>
          </p:cNvPr>
          <p:cNvSpPr>
            <a:spLocks xmlns:a="http://schemas.openxmlformats.org/drawingml/2006/main" noGrp="1"/>
          </p:cNvSpPr>
          <p:nvPr/>
        </p:nvSpPr>
        <p:spPr>
          <a:xfrm xmlns:a="http://schemas.openxmlformats.org/drawingml/2006/main">
            <a:off x="5629275" y="40100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P0</a:t>
            </a:r>
          </a:p>
        </p:txBody>
      </p:sp>
      <p:sp>
        <p:nvSpPr>
          <p:cNvPr id="26" name="">
            <a:extLst xmlns:a="http://schemas.openxmlformats.org/drawingml/2006/main">
              <a:ext uri="{FF2B5EF4-FFF2-40B4-BE49-F238E27FC236}">
                <a16:creationId xmlns:a16="http://schemas.microsoft.com/office/drawing/2014/main" id="{B3A245BB-BDD5-4AA3-BB86-E39F4A1A8D7D}"/>
              </a:ext>
            </a:extLst>
          </p:cNvPr>
          <p:cNvSpPr>
            <a:spLocks xmlns:a="http://schemas.openxmlformats.org/drawingml/2006/main" noGrp="1"/>
          </p:cNvSpPr>
          <p:nvPr/>
        </p:nvSpPr>
        <p:spPr>
          <a:xfrm xmlns:a="http://schemas.openxmlformats.org/drawingml/2006/main">
            <a:off x="6353175" y="3886200"/>
            <a:ext cx="552450" cy="438150"/>
          </a:xfrm>
          <a:prstGeom xmlns:a="http://schemas.openxmlformats.org/drawingml/2006/main" prst="rect">
            <a:avLst/>
          </a:prstGeom>
          <a:solidFill xmlns:a="http://schemas.openxmlformats.org/drawingml/2006/main">
            <a:srgbClr val="1C2D3A"/>
          </a:solidFill>
          <a:ln xmlns:a="http://schemas.openxmlformats.org/drawingml/2006/main" w="9525">
            <a:solidFill>
              <a:srgbClr val="72A7FF"/>
            </a:solidFill>
            <a:prstDash val="solid"/>
          </a:ln>
        </p:spPr>
      </p:sp>
      <p:sp>
        <p:nvSpPr>
          <p:cNvPr id="27" name="">
            <a:extLst xmlns:a="http://schemas.openxmlformats.org/drawingml/2006/main">
              <a:ext uri="{FF2B5EF4-FFF2-40B4-BE49-F238E27FC236}">
                <a16:creationId xmlns:a16="http://schemas.microsoft.com/office/drawing/2014/main" id="{2EC482FA-9C4B-49CD-984B-B7F850E00FF2}"/>
              </a:ext>
            </a:extLst>
          </p:cNvPr>
          <p:cNvSpPr>
            <a:spLocks xmlns:a="http://schemas.openxmlformats.org/drawingml/2006/main" noGrp="1"/>
          </p:cNvSpPr>
          <p:nvPr/>
        </p:nvSpPr>
        <p:spPr>
          <a:xfrm xmlns:a="http://schemas.openxmlformats.org/drawingml/2006/main">
            <a:off x="6353175" y="40100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P4</a:t>
            </a:r>
          </a:p>
        </p:txBody>
      </p:sp>
      <p:sp>
        <p:nvSpPr>
          <p:cNvPr id="28" name="">
            <a:extLst xmlns:a="http://schemas.openxmlformats.org/drawingml/2006/main">
              <a:ext uri="{FF2B5EF4-FFF2-40B4-BE49-F238E27FC236}">
                <a16:creationId xmlns:a16="http://schemas.microsoft.com/office/drawing/2014/main" id="{87B53A58-D656-4167-8F48-8B97C8AB0B42}"/>
              </a:ext>
            </a:extLst>
          </p:cNvPr>
          <p:cNvSpPr>
            <a:spLocks xmlns:a="http://schemas.openxmlformats.org/drawingml/2006/main" noGrp="1"/>
          </p:cNvSpPr>
          <p:nvPr/>
        </p:nvSpPr>
        <p:spPr>
          <a:xfrm xmlns:a="http://schemas.openxmlformats.org/drawingml/2006/main">
            <a:off x="7077075" y="3886200"/>
            <a:ext cx="552450" cy="438150"/>
          </a:xfrm>
          <a:prstGeom xmlns:a="http://schemas.openxmlformats.org/drawingml/2006/main" prst="rect">
            <a:avLst/>
          </a:prstGeom>
          <a:solidFill xmlns:a="http://schemas.openxmlformats.org/drawingml/2006/main">
            <a:srgbClr val="1C2D3A"/>
          </a:solidFill>
          <a:ln xmlns:a="http://schemas.openxmlformats.org/drawingml/2006/main" w="9525">
            <a:solidFill>
              <a:srgbClr val="72A7FF"/>
            </a:solidFill>
            <a:prstDash val="solid"/>
          </a:ln>
        </p:spPr>
      </p:sp>
      <p:sp>
        <p:nvSpPr>
          <p:cNvPr id="29" name="">
            <a:extLst xmlns:a="http://schemas.openxmlformats.org/drawingml/2006/main">
              <a:ext uri="{FF2B5EF4-FFF2-40B4-BE49-F238E27FC236}">
                <a16:creationId xmlns:a16="http://schemas.microsoft.com/office/drawing/2014/main" id="{EA1A69FE-7723-4CFC-A7E8-AFC45AF214C5}"/>
              </a:ext>
            </a:extLst>
          </p:cNvPr>
          <p:cNvSpPr>
            <a:spLocks xmlns:a="http://schemas.openxmlformats.org/drawingml/2006/main" noGrp="1"/>
          </p:cNvSpPr>
          <p:nvPr/>
        </p:nvSpPr>
        <p:spPr>
          <a:xfrm xmlns:a="http://schemas.openxmlformats.org/drawingml/2006/main">
            <a:off x="7077075" y="40100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P1</a:t>
            </a:r>
          </a:p>
        </p:txBody>
      </p:sp>
      <p:sp>
        <p:nvSpPr>
          <p:cNvPr id="30" name="">
            <a:extLst xmlns:a="http://schemas.openxmlformats.org/drawingml/2006/main">
              <a:ext uri="{FF2B5EF4-FFF2-40B4-BE49-F238E27FC236}">
                <a16:creationId xmlns:a16="http://schemas.microsoft.com/office/drawing/2014/main" id="{55937E30-9F53-4ECE-BFA2-7F6A3500D134}"/>
              </a:ext>
            </a:extLst>
          </p:cNvPr>
          <p:cNvSpPr>
            <a:spLocks xmlns:a="http://schemas.openxmlformats.org/drawingml/2006/main" noGrp="1"/>
          </p:cNvSpPr>
          <p:nvPr/>
        </p:nvSpPr>
        <p:spPr>
          <a:xfrm xmlns:a="http://schemas.openxmlformats.org/drawingml/2006/main">
            <a:off x="7800975" y="3886200"/>
            <a:ext cx="552450" cy="438150"/>
          </a:xfrm>
          <a:prstGeom xmlns:a="http://schemas.openxmlformats.org/drawingml/2006/main" prst="rect">
            <a:avLst/>
          </a:prstGeom>
          <a:solidFill xmlns:a="http://schemas.openxmlformats.org/drawingml/2006/main">
            <a:srgbClr val="1C2D3A"/>
          </a:solidFill>
          <a:ln xmlns:a="http://schemas.openxmlformats.org/drawingml/2006/main" w="9525">
            <a:solidFill>
              <a:srgbClr val="72A7FF"/>
            </a:solidFill>
            <a:prstDash val="solid"/>
          </a:ln>
        </p:spPr>
      </p:sp>
      <p:sp>
        <p:nvSpPr>
          <p:cNvPr id="31" name="">
            <a:extLst xmlns:a="http://schemas.openxmlformats.org/drawingml/2006/main">
              <a:ext uri="{FF2B5EF4-FFF2-40B4-BE49-F238E27FC236}">
                <a16:creationId xmlns:a16="http://schemas.microsoft.com/office/drawing/2014/main" id="{D78FCF55-556B-4C9A-80D6-ACC764541C1F}"/>
              </a:ext>
            </a:extLst>
          </p:cNvPr>
          <p:cNvSpPr>
            <a:spLocks xmlns:a="http://schemas.openxmlformats.org/drawingml/2006/main" noGrp="1"/>
          </p:cNvSpPr>
          <p:nvPr/>
        </p:nvSpPr>
        <p:spPr>
          <a:xfrm xmlns:a="http://schemas.openxmlformats.org/drawingml/2006/main">
            <a:off x="7800975" y="4010025"/>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P2</a:t>
            </a:r>
          </a:p>
        </p:txBody>
      </p:sp>
      <p:sp>
        <p:nvSpPr>
          <p:cNvPr id="32" name="">
            <a:extLst xmlns:a="http://schemas.openxmlformats.org/drawingml/2006/main">
              <a:ext uri="{FF2B5EF4-FFF2-40B4-BE49-F238E27FC236}">
                <a16:creationId xmlns:a16="http://schemas.microsoft.com/office/drawing/2014/main" id="{D333B475-C0FF-4C4A-A055-4E8F653531AC}"/>
              </a:ext>
            </a:extLst>
          </p:cNvPr>
          <p:cNvSpPr>
            <a:spLocks xmlns:a="http://schemas.openxmlformats.org/drawingml/2006/main" noGrp="1"/>
          </p:cNvSpPr>
          <p:nvPr/>
        </p:nvSpPr>
        <p:spPr>
          <a:xfrm xmlns:a="http://schemas.openxmlformats.org/drawingml/2006/main">
            <a:off x="4905375" y="4591050"/>
            <a:ext cx="4953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Block table maps logical KV blocks to physical GPU memory. The request no longer needs one contiguous reservation.</a:t>
            </a:r>
          </a:p>
        </p:txBody>
      </p:sp>
      <p:sp>
        <p:nvSpPr>
          <p:cNvPr id="33" name="">
            <a:extLst xmlns:a="http://schemas.openxmlformats.org/drawingml/2006/main">
              <a:ext uri="{FF2B5EF4-FFF2-40B4-BE49-F238E27FC236}">
                <a16:creationId xmlns:a16="http://schemas.microsoft.com/office/drawing/2014/main" id="{FC527E2B-620F-448B-987F-AF71F79EF1E1}"/>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Source: Kwon et al., 2023; Shun Huang summary</a:t>
            </a:r>
          </a:p>
        </p:txBody>
      </p:sp>
    </p:spTree>
    <p:extLst>
      <p:ext uri="{BB962C8B-B14F-4D97-AF65-F5344CB8AC3E}">
        <p14:creationId xmlns:p14="http://schemas.microsoft.com/office/powerpoint/2010/main" val="57856166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C293AE1-07ED-495B-9211-A00B0EF919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DF62627-A890-4A34-9FF9-52282FBB8ED1}"/>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vLLM · IMPLICATIONS</a:t>
            </a:r>
          </a:p>
        </p:txBody>
      </p:sp>
      <p:sp>
        <p:nvSpPr>
          <p:cNvPr id="3" name="">
            <a:extLst xmlns:a="http://schemas.openxmlformats.org/drawingml/2006/main">
              <a:ext uri="{FF2B5EF4-FFF2-40B4-BE49-F238E27FC236}">
                <a16:creationId xmlns:a16="http://schemas.microsoft.com/office/drawing/2014/main" id="{23F76DD2-BAC6-441B-BA7F-C623A0DEAA85}"/>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F9412141-549F-4214-A178-F4F9411E4F7B}"/>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Memory efficiency becomes throughput headroom</a:t>
            </a:r>
          </a:p>
        </p:txBody>
      </p:sp>
      <p:sp>
        <p:nvSpPr>
          <p:cNvPr id="5" name="">
            <a:extLst xmlns:a="http://schemas.openxmlformats.org/drawingml/2006/main">
              <a:ext uri="{FF2B5EF4-FFF2-40B4-BE49-F238E27FC236}">
                <a16:creationId xmlns:a16="http://schemas.microsoft.com/office/drawing/2014/main" id="{69FF791B-65AC-4F22-8FB3-3BE4A68E08F6}"/>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Paged KV blocks let the engine batch more requests without changing model weights.</a:t>
            </a:r>
          </a:p>
        </p:txBody>
      </p:sp>
      <p:sp>
        <p:nvSpPr>
          <p:cNvPr id="6" name="">
            <a:extLst xmlns:a="http://schemas.openxmlformats.org/drawingml/2006/main">
              <a:ext uri="{FF2B5EF4-FFF2-40B4-BE49-F238E27FC236}">
                <a16:creationId xmlns:a16="http://schemas.microsoft.com/office/drawing/2014/main" id="{C131B6B0-434A-41EA-9ECC-0826A45A09BF}"/>
              </a:ext>
            </a:extLst>
          </p:cNvPr>
          <p:cNvSpPr>
            <a:spLocks xmlns:a="http://schemas.openxmlformats.org/drawingml/2006/main" noGrp="1"/>
          </p:cNvSpPr>
          <p:nvPr/>
        </p:nvSpPr>
        <p:spPr>
          <a:xfrm xmlns:a="http://schemas.openxmlformats.org/drawingml/2006/main">
            <a:off x="904875" y="233362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Throughput uplift vs prior systems</a:t>
            </a:r>
          </a:p>
        </p:txBody>
      </p:sp>
      <p:sp>
        <p:nvSpPr>
          <p:cNvPr id="7" name="">
            <a:extLst xmlns:a="http://schemas.openxmlformats.org/drawingml/2006/main">
              <a:ext uri="{FF2B5EF4-FFF2-40B4-BE49-F238E27FC236}">
                <a16:creationId xmlns:a16="http://schemas.microsoft.com/office/drawing/2014/main" id="{1623288E-91F7-4474-A342-5964B919E7D1}"/>
              </a:ext>
            </a:extLst>
          </p:cNvPr>
          <p:cNvSpPr>
            <a:spLocks xmlns:a="http://schemas.openxmlformats.org/drawingml/2006/main" noGrp="1"/>
          </p:cNvSpPr>
          <p:nvPr/>
        </p:nvSpPr>
        <p:spPr>
          <a:xfrm xmlns:a="http://schemas.openxmlformats.org/drawingml/2006/main">
            <a:off x="4238625" y="233362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2-4x</a:t>
            </a:r>
          </a:p>
        </p:txBody>
      </p:sp>
      <p:sp>
        <p:nvSpPr>
          <p:cNvPr id="8" name="">
            <a:extLst xmlns:a="http://schemas.openxmlformats.org/drawingml/2006/main">
              <a:ext uri="{FF2B5EF4-FFF2-40B4-BE49-F238E27FC236}">
                <a16:creationId xmlns:a16="http://schemas.microsoft.com/office/drawing/2014/main" id="{533D3E26-5AF1-4DE7-9AE0-310CE8E70791}"/>
              </a:ext>
            </a:extLst>
          </p:cNvPr>
          <p:cNvSpPr>
            <a:spLocks xmlns:a="http://schemas.openxmlformats.org/drawingml/2006/main" noGrp="1"/>
          </p:cNvSpPr>
          <p:nvPr/>
        </p:nvSpPr>
        <p:spPr>
          <a:xfrm xmlns:a="http://schemas.openxmlformats.org/drawingml/2006/main">
            <a:off x="904875" y="2571750"/>
            <a:ext cx="42862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9C7DF6E-132D-4D67-B004-B98738A6E8FA}"/>
              </a:ext>
            </a:extLst>
          </p:cNvPr>
          <p:cNvSpPr>
            <a:spLocks xmlns:a="http://schemas.openxmlformats.org/drawingml/2006/main" noGrp="1"/>
          </p:cNvSpPr>
          <p:nvPr/>
        </p:nvSpPr>
        <p:spPr>
          <a:xfrm xmlns:a="http://schemas.openxmlformats.org/drawingml/2006/main">
            <a:off x="904875" y="2571750"/>
            <a:ext cx="3514725" cy="7620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7283918-A78F-4CD8-A6B1-1E0BF67B6F89}"/>
              </a:ext>
            </a:extLst>
          </p:cNvPr>
          <p:cNvSpPr>
            <a:spLocks xmlns:a="http://schemas.openxmlformats.org/drawingml/2006/main" noGrp="1"/>
          </p:cNvSpPr>
          <p:nvPr/>
        </p:nvSpPr>
        <p:spPr>
          <a:xfrm xmlns:a="http://schemas.openxmlformats.org/drawingml/2006/main">
            <a:off x="904875" y="309562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Latency tradeoff</a:t>
            </a:r>
          </a:p>
        </p:txBody>
      </p:sp>
      <p:sp>
        <p:nvSpPr>
          <p:cNvPr id="11" name="">
            <a:extLst xmlns:a="http://schemas.openxmlformats.org/drawingml/2006/main">
              <a:ext uri="{FF2B5EF4-FFF2-40B4-BE49-F238E27FC236}">
                <a16:creationId xmlns:a16="http://schemas.microsoft.com/office/drawing/2014/main" id="{21715B27-3ED8-4F9F-8980-51D044F93ED9}"/>
              </a:ext>
            </a:extLst>
          </p:cNvPr>
          <p:cNvSpPr>
            <a:spLocks xmlns:a="http://schemas.openxmlformats.org/drawingml/2006/main" noGrp="1"/>
          </p:cNvSpPr>
          <p:nvPr/>
        </p:nvSpPr>
        <p:spPr>
          <a:xfrm xmlns:a="http://schemas.openxmlformats.org/drawingml/2006/main">
            <a:off x="4238625" y="309562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similar level</a:t>
            </a:r>
          </a:p>
        </p:txBody>
      </p:sp>
      <p:sp>
        <p:nvSpPr>
          <p:cNvPr id="12" name="">
            <a:extLst xmlns:a="http://schemas.openxmlformats.org/drawingml/2006/main">
              <a:ext uri="{FF2B5EF4-FFF2-40B4-BE49-F238E27FC236}">
                <a16:creationId xmlns:a16="http://schemas.microsoft.com/office/drawing/2014/main" id="{F6CEF7B1-B02F-4FCF-AFA9-8E8CA515796C}"/>
              </a:ext>
            </a:extLst>
          </p:cNvPr>
          <p:cNvSpPr>
            <a:spLocks xmlns:a="http://schemas.openxmlformats.org/drawingml/2006/main" noGrp="1"/>
          </p:cNvSpPr>
          <p:nvPr/>
        </p:nvSpPr>
        <p:spPr>
          <a:xfrm xmlns:a="http://schemas.openxmlformats.org/drawingml/2006/main">
            <a:off x="904875" y="3333750"/>
            <a:ext cx="42862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23E94A0-4B2A-426B-8471-0A29906758DD}"/>
              </a:ext>
            </a:extLst>
          </p:cNvPr>
          <p:cNvSpPr>
            <a:spLocks xmlns:a="http://schemas.openxmlformats.org/drawingml/2006/main" noGrp="1"/>
          </p:cNvSpPr>
          <p:nvPr/>
        </p:nvSpPr>
        <p:spPr>
          <a:xfrm xmlns:a="http://schemas.openxmlformats.org/drawingml/2006/main">
            <a:off x="904875" y="3333750"/>
            <a:ext cx="2357438" cy="7620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BCE9FB8-260A-4CC0-BC4C-3F6A66C2E899}"/>
              </a:ext>
            </a:extLst>
          </p:cNvPr>
          <p:cNvSpPr>
            <a:spLocks xmlns:a="http://schemas.openxmlformats.org/drawingml/2006/main" noGrp="1"/>
          </p:cNvSpPr>
          <p:nvPr/>
        </p:nvSpPr>
        <p:spPr>
          <a:xfrm xmlns:a="http://schemas.openxmlformats.org/drawingml/2006/main">
            <a:off x="904875" y="385762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Best stress case</a:t>
            </a:r>
          </a:p>
        </p:txBody>
      </p:sp>
      <p:sp>
        <p:nvSpPr>
          <p:cNvPr id="15" name="">
            <a:extLst xmlns:a="http://schemas.openxmlformats.org/drawingml/2006/main">
              <a:ext uri="{FF2B5EF4-FFF2-40B4-BE49-F238E27FC236}">
                <a16:creationId xmlns:a16="http://schemas.microsoft.com/office/drawing/2014/main" id="{AB615409-813C-44E9-83BB-7C25A7207EC8}"/>
              </a:ext>
            </a:extLst>
          </p:cNvPr>
          <p:cNvSpPr>
            <a:spLocks xmlns:a="http://schemas.openxmlformats.org/drawingml/2006/main" noGrp="1"/>
          </p:cNvSpPr>
          <p:nvPr/>
        </p:nvSpPr>
        <p:spPr>
          <a:xfrm xmlns:a="http://schemas.openxmlformats.org/drawingml/2006/main">
            <a:off x="4238625" y="385762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longer sequences</a:t>
            </a:r>
          </a:p>
        </p:txBody>
      </p:sp>
      <p:sp>
        <p:nvSpPr>
          <p:cNvPr id="16" name="">
            <a:extLst xmlns:a="http://schemas.openxmlformats.org/drawingml/2006/main">
              <a:ext uri="{FF2B5EF4-FFF2-40B4-BE49-F238E27FC236}">
                <a16:creationId xmlns:a16="http://schemas.microsoft.com/office/drawing/2014/main" id="{3442EFE1-8B84-4FE0-8093-EEAC487D34EB}"/>
              </a:ext>
            </a:extLst>
          </p:cNvPr>
          <p:cNvSpPr>
            <a:spLocks xmlns:a="http://schemas.openxmlformats.org/drawingml/2006/main" noGrp="1"/>
          </p:cNvSpPr>
          <p:nvPr/>
        </p:nvSpPr>
        <p:spPr>
          <a:xfrm xmlns:a="http://schemas.openxmlformats.org/drawingml/2006/main">
            <a:off x="904875" y="4095750"/>
            <a:ext cx="42862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8981F8E2-2C90-421D-AFC1-B9DAC0E50BD7}"/>
              </a:ext>
            </a:extLst>
          </p:cNvPr>
          <p:cNvSpPr>
            <a:spLocks xmlns:a="http://schemas.openxmlformats.org/drawingml/2006/main" noGrp="1"/>
          </p:cNvSpPr>
          <p:nvPr/>
        </p:nvSpPr>
        <p:spPr>
          <a:xfrm xmlns:a="http://schemas.openxmlformats.org/drawingml/2006/main">
            <a:off x="904875" y="4095750"/>
            <a:ext cx="3086100" cy="7620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74CF0034-50ED-4E2B-8867-74F7B7066A98}"/>
              </a:ext>
            </a:extLst>
          </p:cNvPr>
          <p:cNvSpPr>
            <a:spLocks xmlns:a="http://schemas.openxmlformats.org/drawingml/2006/main" noGrp="1"/>
          </p:cNvSpPr>
          <p:nvPr/>
        </p:nvSpPr>
        <p:spPr>
          <a:xfrm xmlns:a="http://schemas.openxmlformats.org/drawingml/2006/main">
            <a:off x="6238875" y="2247900"/>
            <a:ext cx="4476750" cy="23812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9" name="">
            <a:extLst xmlns:a="http://schemas.openxmlformats.org/drawingml/2006/main">
              <a:ext uri="{FF2B5EF4-FFF2-40B4-BE49-F238E27FC236}">
                <a16:creationId xmlns:a16="http://schemas.microsoft.com/office/drawing/2014/main" id="{ED9D0EDF-1FE7-4D83-8ABB-14C44768E782}"/>
              </a:ext>
            </a:extLst>
          </p:cNvPr>
          <p:cNvSpPr>
            <a:spLocks xmlns:a="http://schemas.openxmlformats.org/drawingml/2006/main" noGrp="1"/>
          </p:cNvSpPr>
          <p:nvPr/>
        </p:nvSpPr>
        <p:spPr>
          <a:xfrm xmlns:a="http://schemas.openxmlformats.org/drawingml/2006/main">
            <a:off x="6238875" y="2247900"/>
            <a:ext cx="47625" cy="238125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A2DC826-698D-40B5-A2F8-D5A239945272}"/>
              </a:ext>
            </a:extLst>
          </p:cNvPr>
          <p:cNvSpPr>
            <a:spLocks xmlns:a="http://schemas.openxmlformats.org/drawingml/2006/main" noGrp="1"/>
          </p:cNvSpPr>
          <p:nvPr/>
        </p:nvSpPr>
        <p:spPr>
          <a:xfrm xmlns:a="http://schemas.openxmlformats.org/drawingml/2006/main">
            <a:off x="6410325" y="2400300"/>
            <a:ext cx="413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Lesson for our project</a:t>
            </a:r>
          </a:p>
        </p:txBody>
      </p:sp>
      <p:sp>
        <p:nvSpPr>
          <p:cNvPr id="21" name="">
            <a:extLst xmlns:a="http://schemas.openxmlformats.org/drawingml/2006/main">
              <a:ext uri="{FF2B5EF4-FFF2-40B4-BE49-F238E27FC236}">
                <a16:creationId xmlns:a16="http://schemas.microsoft.com/office/drawing/2014/main" id="{BF98C85D-D0D4-49B8-ACA4-F318C31AB7A8}"/>
              </a:ext>
            </a:extLst>
          </p:cNvPr>
          <p:cNvSpPr>
            <a:spLocks xmlns:a="http://schemas.openxmlformats.org/drawingml/2006/main" noGrp="1"/>
          </p:cNvSpPr>
          <p:nvPr/>
        </p:nvSpPr>
        <p:spPr>
          <a:xfrm xmlns:a="http://schemas.openxmlformats.org/drawingml/2006/main">
            <a:off x="6410325" y="2724150"/>
            <a:ext cx="4133850" cy="1790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The serving scheduler and the cache manager are inseparable. If we want lower TTFT and better tail latency, we need to measure how request grouping changes batch size, memory pressure, and cache hit rate.</a:t>
            </a:r>
          </a:p>
        </p:txBody>
      </p:sp>
      <p:sp>
        <p:nvSpPr>
          <p:cNvPr id="22" name="">
            <a:extLst xmlns:a="http://schemas.openxmlformats.org/drawingml/2006/main">
              <a:ext uri="{FF2B5EF4-FFF2-40B4-BE49-F238E27FC236}">
                <a16:creationId xmlns:a16="http://schemas.microsoft.com/office/drawing/2014/main" id="{060DA9A5-058D-43AA-895A-FD069AA5AF7A}"/>
              </a:ext>
            </a:extLst>
          </p:cNvPr>
          <p:cNvSpPr>
            <a:spLocks xmlns:a="http://schemas.openxmlformats.org/drawingml/2006/main" noGrp="1"/>
          </p:cNvSpPr>
          <p:nvPr/>
        </p:nvSpPr>
        <p:spPr>
          <a:xfrm xmlns:a="http://schemas.openxmlformats.org/drawingml/2006/main">
            <a:off x="6238875" y="4857750"/>
            <a:ext cx="4476750" cy="8191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23" name="">
            <a:extLst xmlns:a="http://schemas.openxmlformats.org/drawingml/2006/main">
              <a:ext uri="{FF2B5EF4-FFF2-40B4-BE49-F238E27FC236}">
                <a16:creationId xmlns:a16="http://schemas.microsoft.com/office/drawing/2014/main" id="{676D649A-C0A4-4380-A80D-9157E6F816D7}"/>
              </a:ext>
            </a:extLst>
          </p:cNvPr>
          <p:cNvSpPr>
            <a:spLocks xmlns:a="http://schemas.openxmlformats.org/drawingml/2006/main" noGrp="1"/>
          </p:cNvSpPr>
          <p:nvPr/>
        </p:nvSpPr>
        <p:spPr>
          <a:xfrm xmlns:a="http://schemas.openxmlformats.org/drawingml/2006/main">
            <a:off x="6238875" y="4857750"/>
            <a:ext cx="47625" cy="81915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FCAB7E37-D91F-422F-BCDC-A5058B6FCCE5}"/>
              </a:ext>
            </a:extLst>
          </p:cNvPr>
          <p:cNvSpPr>
            <a:spLocks xmlns:a="http://schemas.openxmlformats.org/drawingml/2006/main" noGrp="1"/>
          </p:cNvSpPr>
          <p:nvPr/>
        </p:nvSpPr>
        <p:spPr>
          <a:xfrm xmlns:a="http://schemas.openxmlformats.org/drawingml/2006/main">
            <a:off x="6410325" y="5010150"/>
            <a:ext cx="413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Question to answer</a:t>
            </a:r>
          </a:p>
        </p:txBody>
      </p:sp>
      <p:sp>
        <p:nvSpPr>
          <p:cNvPr id="25" name="">
            <a:extLst xmlns:a="http://schemas.openxmlformats.org/drawingml/2006/main">
              <a:ext uri="{FF2B5EF4-FFF2-40B4-BE49-F238E27FC236}">
                <a16:creationId xmlns:a16="http://schemas.microsoft.com/office/drawing/2014/main" id="{D823CF7C-E940-4FA1-B293-160C4F543DAF}"/>
              </a:ext>
            </a:extLst>
          </p:cNvPr>
          <p:cNvSpPr>
            <a:spLocks xmlns:a="http://schemas.openxmlformats.org/drawingml/2006/main" noGrp="1"/>
          </p:cNvSpPr>
          <p:nvPr/>
        </p:nvSpPr>
        <p:spPr>
          <a:xfrm xmlns:a="http://schemas.openxmlformats.org/drawingml/2006/main">
            <a:off x="6410325" y="5334000"/>
            <a:ext cx="41338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Which prefix length threshold is worth scheduling around on a 24GB GPU?</a:t>
            </a:r>
          </a:p>
        </p:txBody>
      </p:sp>
      <p:sp>
        <p:nvSpPr>
          <p:cNvPr id="26" name="">
            <a:extLst xmlns:a="http://schemas.openxmlformats.org/drawingml/2006/main">
              <a:ext uri="{FF2B5EF4-FFF2-40B4-BE49-F238E27FC236}">
                <a16:creationId xmlns:a16="http://schemas.microsoft.com/office/drawing/2014/main" id="{E53761E5-252C-4921-9C42-F7C1754B2AA9}"/>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Source: Kwon et al., 2023; Shun Huang summary</a:t>
            </a:r>
          </a:p>
        </p:txBody>
      </p:sp>
    </p:spTree>
    <p:extLst>
      <p:ext uri="{BB962C8B-B14F-4D97-AF65-F5344CB8AC3E}">
        <p14:creationId xmlns:p14="http://schemas.microsoft.com/office/powerpoint/2010/main" val="171266535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7768BB-01F4-45C3-B596-EEC359CA47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2DA89B3-0AF5-4976-A42D-FDA680C07E8A}"/>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PAPER 2 · SGLang</a:t>
            </a:r>
          </a:p>
        </p:txBody>
      </p:sp>
      <p:sp>
        <p:nvSpPr>
          <p:cNvPr id="3" name="">
            <a:extLst xmlns:a="http://schemas.openxmlformats.org/drawingml/2006/main">
              <a:ext uri="{FF2B5EF4-FFF2-40B4-BE49-F238E27FC236}">
                <a16:creationId xmlns:a16="http://schemas.microsoft.com/office/drawing/2014/main" id="{8E674DB1-3E04-4D97-B019-440F8219F856}"/>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4C3A7B9-6D45-43CA-A2B1-A19DA04C0EAF}"/>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RadixAttention exposes repeated structure</a:t>
            </a:r>
          </a:p>
        </p:txBody>
      </p:sp>
      <p:sp>
        <p:nvSpPr>
          <p:cNvPr id="5" name="">
            <a:extLst xmlns:a="http://schemas.openxmlformats.org/drawingml/2006/main">
              <a:ext uri="{FF2B5EF4-FFF2-40B4-BE49-F238E27FC236}">
                <a16:creationId xmlns:a16="http://schemas.microsoft.com/office/drawing/2014/main" id="{CA971F5B-7F88-48FF-A31F-1A291EEC3174}"/>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SGLang treats LLM applications as programs, then reuses shared prompt prefixes through a radix tree.</a:t>
            </a:r>
          </a:p>
        </p:txBody>
      </p:sp>
      <p:sp>
        <p:nvSpPr>
          <p:cNvPr id="6" name="">
            <a:extLst xmlns:a="http://schemas.openxmlformats.org/drawingml/2006/main">
              <a:ext uri="{FF2B5EF4-FFF2-40B4-BE49-F238E27FC236}">
                <a16:creationId xmlns:a16="http://schemas.microsoft.com/office/drawing/2014/main" id="{FFF98DEE-1BE3-45AE-AE67-27F832053ED2}"/>
              </a:ext>
            </a:extLst>
          </p:cNvPr>
          <p:cNvSpPr>
            <a:spLocks xmlns:a="http://schemas.openxmlformats.org/drawingml/2006/main" noGrp="1"/>
          </p:cNvSpPr>
          <p:nvPr/>
        </p:nvSpPr>
        <p:spPr>
          <a:xfrm xmlns:a="http://schemas.openxmlformats.org/drawingml/2006/main">
            <a:off x="666750" y="2190750"/>
            <a:ext cx="3429000" cy="30480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7" name="">
            <a:extLst xmlns:a="http://schemas.openxmlformats.org/drawingml/2006/main">
              <a:ext uri="{FF2B5EF4-FFF2-40B4-BE49-F238E27FC236}">
                <a16:creationId xmlns:a16="http://schemas.microsoft.com/office/drawing/2014/main" id="{119800D3-9604-4271-A9E5-B863734EA3B3}"/>
              </a:ext>
            </a:extLst>
          </p:cNvPr>
          <p:cNvSpPr>
            <a:spLocks xmlns:a="http://schemas.openxmlformats.org/drawingml/2006/main" noGrp="1"/>
          </p:cNvSpPr>
          <p:nvPr/>
        </p:nvSpPr>
        <p:spPr>
          <a:xfrm xmlns:a="http://schemas.openxmlformats.org/drawingml/2006/main">
            <a:off x="666750" y="2190750"/>
            <a:ext cx="47625" cy="304800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D2B4DC1-BD57-4A7C-9CBB-9B1D471E37EB}"/>
              </a:ext>
            </a:extLst>
          </p:cNvPr>
          <p:cNvSpPr>
            <a:spLocks xmlns:a="http://schemas.openxmlformats.org/drawingml/2006/main" noGrp="1"/>
          </p:cNvSpPr>
          <p:nvPr/>
        </p:nvSpPr>
        <p:spPr>
          <a:xfrm xmlns:a="http://schemas.openxmlformats.org/drawingml/2006/main">
            <a:off x="838200" y="2343150"/>
            <a:ext cx="30861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Problem</a:t>
            </a:r>
          </a:p>
        </p:txBody>
      </p:sp>
      <p:sp>
        <p:nvSpPr>
          <p:cNvPr id="9" name="">
            <a:extLst xmlns:a="http://schemas.openxmlformats.org/drawingml/2006/main">
              <a:ext uri="{FF2B5EF4-FFF2-40B4-BE49-F238E27FC236}">
                <a16:creationId xmlns:a16="http://schemas.microsoft.com/office/drawing/2014/main" id="{26C34E23-BCB7-4E21-B873-0921857F2491}"/>
              </a:ext>
            </a:extLst>
          </p:cNvPr>
          <p:cNvSpPr>
            <a:spLocks xmlns:a="http://schemas.openxmlformats.org/drawingml/2006/main" noGrp="1"/>
          </p:cNvSpPr>
          <p:nvPr/>
        </p:nvSpPr>
        <p:spPr>
          <a:xfrm xmlns:a="http://schemas.openxmlformats.org/drawingml/2006/main">
            <a:off x="838200" y="2667000"/>
            <a:ext cx="3086100" cy="2457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Modern LLM apps have system prompts, tool schemas, examples, branches, structured decoding, and multi-turn context. Treating each call independently recomputes shared prefixes.</a:t>
            </a:r>
          </a:p>
        </p:txBody>
      </p:sp>
      <p:sp>
        <p:nvSpPr>
          <p:cNvPr id="10" name="">
            <a:extLst xmlns:a="http://schemas.openxmlformats.org/drawingml/2006/main">
              <a:ext uri="{FF2B5EF4-FFF2-40B4-BE49-F238E27FC236}">
                <a16:creationId xmlns:a16="http://schemas.microsoft.com/office/drawing/2014/main" id="{E8105222-BBC2-45D8-957A-501F196B4488}"/>
              </a:ext>
            </a:extLst>
          </p:cNvPr>
          <p:cNvSpPr>
            <a:spLocks xmlns:a="http://schemas.openxmlformats.org/drawingml/2006/main" noGrp="1"/>
          </p:cNvSpPr>
          <p:nvPr/>
        </p:nvSpPr>
        <p:spPr>
          <a:xfrm xmlns:a="http://schemas.openxmlformats.org/drawingml/2006/main">
            <a:off x="5334000" y="1866900"/>
            <a:ext cx="2857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2A7FF"/>
                </a:solidFill>
                <a:latin typeface="Aptos"/>
                <a:ea typeface="Aptos"/>
                <a:cs typeface="Aptos"/>
              </a:defRPr>
            </a:pPr>
            <a:r>
              <a:rPr sz="975" b="1">
                <a:solidFill>
                  <a:srgbClr val="72A7FF"/>
                </a:solidFill>
                <a:latin typeface="Aptos"/>
                <a:ea typeface="Aptos"/>
                <a:cs typeface="Aptos"/>
              </a:rPr>
              <a:t>Radix tree of cached prefixes</a:t>
            </a:r>
          </a:p>
        </p:txBody>
      </p:sp>
      <p:sp>
        <p:nvSpPr>
          <p:cNvPr id="11" name="">
            <a:extLst xmlns:a="http://schemas.openxmlformats.org/drawingml/2006/main">
              <a:ext uri="{FF2B5EF4-FFF2-40B4-BE49-F238E27FC236}">
                <a16:creationId xmlns:a16="http://schemas.microsoft.com/office/drawing/2014/main" id="{4DE62641-93DD-4712-B81C-7B35BB463B0C}"/>
              </a:ext>
            </a:extLst>
          </p:cNvPr>
          <p:cNvSpPr>
            <a:spLocks xmlns:a="http://schemas.openxmlformats.org/drawingml/2006/main" noGrp="1"/>
          </p:cNvSpPr>
          <p:nvPr/>
        </p:nvSpPr>
        <p:spPr>
          <a:xfrm xmlns:a="http://schemas.openxmlformats.org/drawingml/2006/main">
            <a:off x="7429500" y="2152650"/>
            <a:ext cx="1428750" cy="419100"/>
          </a:xfrm>
          <a:prstGeom xmlns:a="http://schemas.openxmlformats.org/drawingml/2006/main" prst="rect">
            <a:avLst/>
          </a:prstGeom>
          <a:solidFill xmlns:a="http://schemas.openxmlformats.org/drawingml/2006/main">
            <a:srgbClr val="72A7FF">
              <a:alpha val="13333"/>
            </a:srgbClr>
          </a:solidFill>
          <a:ln xmlns:a="http://schemas.openxmlformats.org/drawingml/2006/main" w="9525">
            <a:solidFill>
              <a:srgbClr val="72A7FF"/>
            </a:solidFill>
            <a:prstDash val="solid"/>
          </a:ln>
        </p:spPr>
      </p:sp>
      <p:sp>
        <p:nvSpPr>
          <p:cNvPr id="12" name="">
            <a:extLst xmlns:a="http://schemas.openxmlformats.org/drawingml/2006/main">
              <a:ext uri="{FF2B5EF4-FFF2-40B4-BE49-F238E27FC236}">
                <a16:creationId xmlns:a16="http://schemas.microsoft.com/office/drawing/2014/main" id="{637A5482-CA90-458C-9E20-C256877A2042}"/>
              </a:ext>
            </a:extLst>
          </p:cNvPr>
          <p:cNvSpPr>
            <a:spLocks xmlns:a="http://schemas.openxmlformats.org/drawingml/2006/main" noGrp="1"/>
          </p:cNvSpPr>
          <p:nvPr/>
        </p:nvSpPr>
        <p:spPr>
          <a:xfrm xmlns:a="http://schemas.openxmlformats.org/drawingml/2006/main">
            <a:off x="7429500" y="22669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system</a:t>
            </a:r>
          </a:p>
        </p:txBody>
      </p:sp>
      <p:sp>
        <p:nvSpPr>
          <p:cNvPr id="13" name="">
            <a:extLst xmlns:a="http://schemas.openxmlformats.org/drawingml/2006/main">
              <a:ext uri="{FF2B5EF4-FFF2-40B4-BE49-F238E27FC236}">
                <a16:creationId xmlns:a16="http://schemas.microsoft.com/office/drawing/2014/main" id="{C899E950-7B11-41CE-A241-C2DE2F274DDB}"/>
              </a:ext>
            </a:extLst>
          </p:cNvPr>
          <p:cNvSpPr>
            <a:spLocks xmlns:a="http://schemas.openxmlformats.org/drawingml/2006/main" noGrp="1"/>
          </p:cNvSpPr>
          <p:nvPr/>
        </p:nvSpPr>
        <p:spPr>
          <a:xfrm xmlns:a="http://schemas.openxmlformats.org/drawingml/2006/main">
            <a:off x="6096000" y="3067050"/>
            <a:ext cx="1238250" cy="419100"/>
          </a:xfrm>
          <a:prstGeom xmlns:a="http://schemas.openxmlformats.org/drawingml/2006/main" prst="rect">
            <a:avLst/>
          </a:prstGeom>
          <a:solidFill xmlns:a="http://schemas.openxmlformats.org/drawingml/2006/main">
            <a:srgbClr val="7BD88F">
              <a:alpha val="13333"/>
            </a:srgbClr>
          </a:solidFill>
          <a:ln xmlns:a="http://schemas.openxmlformats.org/drawingml/2006/main" w="9525">
            <a:solidFill>
              <a:srgbClr val="7BD88F"/>
            </a:solidFill>
            <a:prstDash val="solid"/>
          </a:ln>
        </p:spPr>
      </p:sp>
      <p:sp>
        <p:nvSpPr>
          <p:cNvPr id="14" name="">
            <a:extLst xmlns:a="http://schemas.openxmlformats.org/drawingml/2006/main">
              <a:ext uri="{FF2B5EF4-FFF2-40B4-BE49-F238E27FC236}">
                <a16:creationId xmlns:a16="http://schemas.microsoft.com/office/drawing/2014/main" id="{136D9B33-277A-4B50-A0EF-B7869736BE9C}"/>
              </a:ext>
            </a:extLst>
          </p:cNvPr>
          <p:cNvSpPr>
            <a:spLocks xmlns:a="http://schemas.openxmlformats.org/drawingml/2006/main" noGrp="1"/>
          </p:cNvSpPr>
          <p:nvPr/>
        </p:nvSpPr>
        <p:spPr>
          <a:xfrm xmlns:a="http://schemas.openxmlformats.org/drawingml/2006/main">
            <a:off x="6096000" y="318135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tools</a:t>
            </a:r>
          </a:p>
        </p:txBody>
      </p:sp>
      <p:sp>
        <p:nvSpPr>
          <p:cNvPr id="15" name="">
            <a:extLst xmlns:a="http://schemas.openxmlformats.org/drawingml/2006/main">
              <a:ext uri="{FF2B5EF4-FFF2-40B4-BE49-F238E27FC236}">
                <a16:creationId xmlns:a16="http://schemas.microsoft.com/office/drawing/2014/main" id="{8093109A-776E-4EF3-A035-E3BABC7AC4E9}"/>
              </a:ext>
            </a:extLst>
          </p:cNvPr>
          <p:cNvSpPr>
            <a:spLocks xmlns:a="http://schemas.openxmlformats.org/drawingml/2006/main" noGrp="1"/>
          </p:cNvSpPr>
          <p:nvPr/>
        </p:nvSpPr>
        <p:spPr>
          <a:xfrm xmlns:a="http://schemas.openxmlformats.org/drawingml/2006/main">
            <a:off x="7924800" y="3067050"/>
            <a:ext cx="1428750" cy="419100"/>
          </a:xfrm>
          <a:prstGeom xmlns:a="http://schemas.openxmlformats.org/drawingml/2006/main" prst="rect">
            <a:avLst/>
          </a:prstGeom>
          <a:solidFill xmlns:a="http://schemas.openxmlformats.org/drawingml/2006/main">
            <a:srgbClr val="F2B84B">
              <a:alpha val="13333"/>
            </a:srgbClr>
          </a:solidFill>
          <a:ln xmlns:a="http://schemas.openxmlformats.org/drawingml/2006/main" w="9525">
            <a:solidFill>
              <a:srgbClr val="F2B84B"/>
            </a:solidFill>
            <a:prstDash val="solid"/>
          </a:ln>
        </p:spPr>
      </p:sp>
      <p:sp>
        <p:nvSpPr>
          <p:cNvPr id="16" name="">
            <a:extLst xmlns:a="http://schemas.openxmlformats.org/drawingml/2006/main">
              <a:ext uri="{FF2B5EF4-FFF2-40B4-BE49-F238E27FC236}">
                <a16:creationId xmlns:a16="http://schemas.microsoft.com/office/drawing/2014/main" id="{B9AAC941-6C4B-4CEF-A40B-9CED7D9B82E5}"/>
              </a:ext>
            </a:extLst>
          </p:cNvPr>
          <p:cNvSpPr>
            <a:spLocks xmlns:a="http://schemas.openxmlformats.org/drawingml/2006/main" noGrp="1"/>
          </p:cNvSpPr>
          <p:nvPr/>
        </p:nvSpPr>
        <p:spPr>
          <a:xfrm xmlns:a="http://schemas.openxmlformats.org/drawingml/2006/main">
            <a:off x="7924800" y="3181350"/>
            <a:ext cx="1428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few-shot</a:t>
            </a:r>
          </a:p>
        </p:txBody>
      </p:sp>
      <p:sp>
        <p:nvSpPr>
          <p:cNvPr id="17" name="">
            <a:extLst xmlns:a="http://schemas.openxmlformats.org/drawingml/2006/main">
              <a:ext uri="{FF2B5EF4-FFF2-40B4-BE49-F238E27FC236}">
                <a16:creationId xmlns:a16="http://schemas.microsoft.com/office/drawing/2014/main" id="{77B08394-892E-4175-A60E-6A1E279B4D47}"/>
              </a:ext>
            </a:extLst>
          </p:cNvPr>
          <p:cNvSpPr>
            <a:spLocks xmlns:a="http://schemas.openxmlformats.org/drawingml/2006/main" noGrp="1"/>
          </p:cNvSpPr>
          <p:nvPr/>
        </p:nvSpPr>
        <p:spPr>
          <a:xfrm xmlns:a="http://schemas.openxmlformats.org/drawingml/2006/main">
            <a:off x="5600700" y="4114800"/>
            <a:ext cx="1238250" cy="419100"/>
          </a:xfrm>
          <a:prstGeom xmlns:a="http://schemas.openxmlformats.org/drawingml/2006/main" prst="rect">
            <a:avLst/>
          </a:prstGeom>
          <a:solidFill xmlns:a="http://schemas.openxmlformats.org/drawingml/2006/main">
            <a:srgbClr val="AEB7C4">
              <a:alpha val="13333"/>
            </a:srgbClr>
          </a:solidFill>
          <a:ln xmlns:a="http://schemas.openxmlformats.org/drawingml/2006/main" w="9525">
            <a:solidFill>
              <a:srgbClr val="AEB7C4"/>
            </a:solidFill>
            <a:prstDash val="solid"/>
          </a:ln>
        </p:spPr>
      </p:sp>
      <p:sp>
        <p:nvSpPr>
          <p:cNvPr id="18" name="">
            <a:extLst xmlns:a="http://schemas.openxmlformats.org/drawingml/2006/main">
              <a:ext uri="{FF2B5EF4-FFF2-40B4-BE49-F238E27FC236}">
                <a16:creationId xmlns:a16="http://schemas.microsoft.com/office/drawing/2014/main" id="{3ED7E64E-622E-478C-BB0D-5D4562644270}"/>
              </a:ext>
            </a:extLst>
          </p:cNvPr>
          <p:cNvSpPr>
            <a:spLocks xmlns:a="http://schemas.openxmlformats.org/drawingml/2006/main" noGrp="1"/>
          </p:cNvSpPr>
          <p:nvPr/>
        </p:nvSpPr>
        <p:spPr>
          <a:xfrm xmlns:a="http://schemas.openxmlformats.org/drawingml/2006/main">
            <a:off x="5600700" y="42291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query A</a:t>
            </a:r>
          </a:p>
        </p:txBody>
      </p:sp>
      <p:sp>
        <p:nvSpPr>
          <p:cNvPr id="19" name="">
            <a:extLst xmlns:a="http://schemas.openxmlformats.org/drawingml/2006/main">
              <a:ext uri="{FF2B5EF4-FFF2-40B4-BE49-F238E27FC236}">
                <a16:creationId xmlns:a16="http://schemas.microsoft.com/office/drawing/2014/main" id="{2436BE43-39F5-46DD-A608-E370B8D603F8}"/>
              </a:ext>
            </a:extLst>
          </p:cNvPr>
          <p:cNvSpPr>
            <a:spLocks xmlns:a="http://schemas.openxmlformats.org/drawingml/2006/main" noGrp="1"/>
          </p:cNvSpPr>
          <p:nvPr/>
        </p:nvSpPr>
        <p:spPr>
          <a:xfrm xmlns:a="http://schemas.openxmlformats.org/drawingml/2006/main">
            <a:off x="7010400" y="4114800"/>
            <a:ext cx="1238250" cy="419100"/>
          </a:xfrm>
          <a:prstGeom xmlns:a="http://schemas.openxmlformats.org/drawingml/2006/main" prst="rect">
            <a:avLst/>
          </a:prstGeom>
          <a:solidFill xmlns:a="http://schemas.openxmlformats.org/drawingml/2006/main">
            <a:srgbClr val="AEB7C4">
              <a:alpha val="13333"/>
            </a:srgbClr>
          </a:solidFill>
          <a:ln xmlns:a="http://schemas.openxmlformats.org/drawingml/2006/main" w="9525">
            <a:solidFill>
              <a:srgbClr val="AEB7C4"/>
            </a:solidFill>
            <a:prstDash val="solid"/>
          </a:ln>
        </p:spPr>
      </p:sp>
      <p:sp>
        <p:nvSpPr>
          <p:cNvPr id="20" name="">
            <a:extLst xmlns:a="http://schemas.openxmlformats.org/drawingml/2006/main">
              <a:ext uri="{FF2B5EF4-FFF2-40B4-BE49-F238E27FC236}">
                <a16:creationId xmlns:a16="http://schemas.microsoft.com/office/drawing/2014/main" id="{5C7EAAF9-7697-4402-BE34-313525F70843}"/>
              </a:ext>
            </a:extLst>
          </p:cNvPr>
          <p:cNvSpPr>
            <a:spLocks xmlns:a="http://schemas.openxmlformats.org/drawingml/2006/main" noGrp="1"/>
          </p:cNvSpPr>
          <p:nvPr/>
        </p:nvSpPr>
        <p:spPr>
          <a:xfrm xmlns:a="http://schemas.openxmlformats.org/drawingml/2006/main">
            <a:off x="7010400" y="42291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query B</a:t>
            </a:r>
          </a:p>
        </p:txBody>
      </p:sp>
      <p:sp>
        <p:nvSpPr>
          <p:cNvPr id="21" name="">
            <a:extLst xmlns:a="http://schemas.openxmlformats.org/drawingml/2006/main">
              <a:ext uri="{FF2B5EF4-FFF2-40B4-BE49-F238E27FC236}">
                <a16:creationId xmlns:a16="http://schemas.microsoft.com/office/drawing/2014/main" id="{6EE39DD7-3EA0-4191-985D-14B76E991B23}"/>
              </a:ext>
            </a:extLst>
          </p:cNvPr>
          <p:cNvSpPr>
            <a:spLocks xmlns:a="http://schemas.openxmlformats.org/drawingml/2006/main" noGrp="1"/>
          </p:cNvSpPr>
          <p:nvPr/>
        </p:nvSpPr>
        <p:spPr>
          <a:xfrm xmlns:a="http://schemas.openxmlformats.org/drawingml/2006/main">
            <a:off x="8572500" y="4114800"/>
            <a:ext cx="1238250" cy="419100"/>
          </a:xfrm>
          <a:prstGeom xmlns:a="http://schemas.openxmlformats.org/drawingml/2006/main" prst="rect">
            <a:avLst/>
          </a:prstGeom>
          <a:solidFill xmlns:a="http://schemas.openxmlformats.org/drawingml/2006/main">
            <a:srgbClr val="AEB7C4">
              <a:alpha val="13333"/>
            </a:srgbClr>
          </a:solidFill>
          <a:ln xmlns:a="http://schemas.openxmlformats.org/drawingml/2006/main" w="9525">
            <a:solidFill>
              <a:srgbClr val="AEB7C4"/>
            </a:solidFill>
            <a:prstDash val="solid"/>
          </a:ln>
        </p:spPr>
      </p:sp>
      <p:sp>
        <p:nvSpPr>
          <p:cNvPr id="22" name="">
            <a:extLst xmlns:a="http://schemas.openxmlformats.org/drawingml/2006/main">
              <a:ext uri="{FF2B5EF4-FFF2-40B4-BE49-F238E27FC236}">
                <a16:creationId xmlns:a16="http://schemas.microsoft.com/office/drawing/2014/main" id="{6933BB03-7336-4D3F-9879-655E1851E712}"/>
              </a:ext>
            </a:extLst>
          </p:cNvPr>
          <p:cNvSpPr>
            <a:spLocks xmlns:a="http://schemas.openxmlformats.org/drawingml/2006/main" noGrp="1"/>
          </p:cNvSpPr>
          <p:nvPr/>
        </p:nvSpPr>
        <p:spPr>
          <a:xfrm xmlns:a="http://schemas.openxmlformats.org/drawingml/2006/main">
            <a:off x="8572500" y="4229100"/>
            <a:ext cx="1238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query C</a:t>
            </a:r>
          </a:p>
        </p:txBody>
      </p:sp>
      <p:sp>
        <p:nvSpPr>
          <p:cNvPr id="23" name="">
            <a:extLst xmlns:a="http://schemas.openxmlformats.org/drawingml/2006/main">
              <a:ext uri="{FF2B5EF4-FFF2-40B4-BE49-F238E27FC236}">
                <a16:creationId xmlns:a16="http://schemas.microsoft.com/office/drawing/2014/main" id="{FE7B9EF9-0BA3-4E51-9B50-E90468A688EE}"/>
              </a:ext>
            </a:extLst>
          </p:cNvPr>
          <p:cNvSpPr>
            <a:spLocks xmlns:a="http://schemas.openxmlformats.org/drawingml/2006/main" noGrp="1"/>
          </p:cNvSpPr>
          <p:nvPr/>
        </p:nvSpPr>
        <p:spPr>
          <a:xfrm xmlns:a="http://schemas.openxmlformats.org/drawingml/2006/main">
            <a:off x="8096250" y="2581275"/>
            <a:ext cx="19050" cy="43815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7394CAEF-B2DE-44BC-86EF-65B3F859DC3E}"/>
              </a:ext>
            </a:extLst>
          </p:cNvPr>
          <p:cNvSpPr>
            <a:spLocks xmlns:a="http://schemas.openxmlformats.org/drawingml/2006/main" noGrp="1"/>
          </p:cNvSpPr>
          <p:nvPr/>
        </p:nvSpPr>
        <p:spPr>
          <a:xfrm xmlns:a="http://schemas.openxmlformats.org/drawingml/2006/main">
            <a:off x="6705600" y="3019425"/>
            <a:ext cx="3238500" cy="1905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FE22305F-D67E-4182-9883-86C0AA6F2CA0}"/>
              </a:ext>
            </a:extLst>
          </p:cNvPr>
          <p:cNvSpPr>
            <a:spLocks xmlns:a="http://schemas.openxmlformats.org/drawingml/2006/main" noGrp="1"/>
          </p:cNvSpPr>
          <p:nvPr/>
        </p:nvSpPr>
        <p:spPr>
          <a:xfrm xmlns:a="http://schemas.openxmlformats.org/drawingml/2006/main">
            <a:off x="6705600" y="3019425"/>
            <a:ext cx="19050" cy="9906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D340AA24-8107-45A9-AAC9-AA2106D6B9F4}"/>
              </a:ext>
            </a:extLst>
          </p:cNvPr>
          <p:cNvSpPr>
            <a:spLocks xmlns:a="http://schemas.openxmlformats.org/drawingml/2006/main" noGrp="1"/>
          </p:cNvSpPr>
          <p:nvPr/>
        </p:nvSpPr>
        <p:spPr>
          <a:xfrm xmlns:a="http://schemas.openxmlformats.org/drawingml/2006/main">
            <a:off x="8648700" y="3019425"/>
            <a:ext cx="19050" cy="9906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98F62E05-AAD1-41F2-A40C-1A98AE5FCC4E}"/>
              </a:ext>
            </a:extLst>
          </p:cNvPr>
          <p:cNvSpPr>
            <a:spLocks xmlns:a="http://schemas.openxmlformats.org/drawingml/2006/main" noGrp="1"/>
          </p:cNvSpPr>
          <p:nvPr/>
        </p:nvSpPr>
        <p:spPr>
          <a:xfrm xmlns:a="http://schemas.openxmlformats.org/drawingml/2006/main">
            <a:off x="5334000" y="4953000"/>
            <a:ext cx="485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The runtime keeps KV states for shared prompt prefixes instead of discarding them after each request.</a:t>
            </a:r>
          </a:p>
        </p:txBody>
      </p:sp>
      <p:sp>
        <p:nvSpPr>
          <p:cNvPr id="28" name="">
            <a:extLst xmlns:a="http://schemas.openxmlformats.org/drawingml/2006/main">
              <a:ext uri="{FF2B5EF4-FFF2-40B4-BE49-F238E27FC236}">
                <a16:creationId xmlns:a16="http://schemas.microsoft.com/office/drawing/2014/main" id="{638B399B-FCC7-450A-A4D3-07A11608AE72}"/>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Source: Zheng et al., 2024; Chenxi Li summary</a:t>
            </a:r>
          </a:p>
        </p:txBody>
      </p:sp>
    </p:spTree>
    <p:extLst>
      <p:ext uri="{BB962C8B-B14F-4D97-AF65-F5344CB8AC3E}">
        <p14:creationId xmlns:p14="http://schemas.microsoft.com/office/powerpoint/2010/main" val="12998000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9EB3608-C9F9-479F-8126-F955FB67F70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28A4363-010E-4BB2-9B5E-83047C047610}"/>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SGLang · IMPLICATIONS</a:t>
            </a:r>
          </a:p>
        </p:txBody>
      </p:sp>
      <p:sp>
        <p:nvSpPr>
          <p:cNvPr id="3" name="">
            <a:extLst xmlns:a="http://schemas.openxmlformats.org/drawingml/2006/main">
              <a:ext uri="{FF2B5EF4-FFF2-40B4-BE49-F238E27FC236}">
                <a16:creationId xmlns:a16="http://schemas.microsoft.com/office/drawing/2014/main" id="{E42D6519-DB32-46FE-84C8-893AA3EBE4AC}"/>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ED003F19-DEF6-46A8-AED2-708E2B70977E}"/>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Agent workloads are prefix-reuse workloads</a:t>
            </a:r>
          </a:p>
        </p:txBody>
      </p:sp>
      <p:sp>
        <p:nvSpPr>
          <p:cNvPr id="5" name="">
            <a:extLst xmlns:a="http://schemas.openxmlformats.org/drawingml/2006/main">
              <a:ext uri="{FF2B5EF4-FFF2-40B4-BE49-F238E27FC236}">
                <a16:creationId xmlns:a16="http://schemas.microsoft.com/office/drawing/2014/main" id="{481FAC06-FAB8-44CF-A740-E81296B8C315}"/>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The paper’s strongest fit is exactly the workload class our capstone targets.</a:t>
            </a:r>
          </a:p>
        </p:txBody>
      </p:sp>
      <p:sp>
        <p:nvSpPr>
          <p:cNvPr id="6" name="">
            <a:extLst xmlns:a="http://schemas.openxmlformats.org/drawingml/2006/main">
              <a:ext uri="{FF2B5EF4-FFF2-40B4-BE49-F238E27FC236}">
                <a16:creationId xmlns:a16="http://schemas.microsoft.com/office/drawing/2014/main" id="{F34A4C9A-A3DD-4F77-B9AF-FC03725CFA55}"/>
              </a:ext>
            </a:extLst>
          </p:cNvPr>
          <p:cNvSpPr>
            <a:spLocks xmlns:a="http://schemas.openxmlformats.org/drawingml/2006/main" noGrp="1"/>
          </p:cNvSpPr>
          <p:nvPr/>
        </p:nvSpPr>
        <p:spPr>
          <a:xfrm xmlns:a="http://schemas.openxmlformats.org/drawingml/2006/main">
            <a:off x="838200" y="23050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Reported throughput uplift</a:t>
            </a:r>
          </a:p>
        </p:txBody>
      </p:sp>
      <p:sp>
        <p:nvSpPr>
          <p:cNvPr id="7" name="">
            <a:extLst xmlns:a="http://schemas.openxmlformats.org/drawingml/2006/main">
              <a:ext uri="{FF2B5EF4-FFF2-40B4-BE49-F238E27FC236}">
                <a16:creationId xmlns:a16="http://schemas.microsoft.com/office/drawing/2014/main" id="{D7661C3C-DB07-4D77-AD26-9759F1D104F7}"/>
              </a:ext>
            </a:extLst>
          </p:cNvPr>
          <p:cNvSpPr>
            <a:spLocks xmlns:a="http://schemas.openxmlformats.org/drawingml/2006/main" noGrp="1"/>
          </p:cNvSpPr>
          <p:nvPr/>
        </p:nvSpPr>
        <p:spPr>
          <a:xfrm xmlns:a="http://schemas.openxmlformats.org/drawingml/2006/main">
            <a:off x="4362450" y="2305050"/>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up to 6.4x</a:t>
            </a:r>
          </a:p>
        </p:txBody>
      </p:sp>
      <p:sp>
        <p:nvSpPr>
          <p:cNvPr id="8" name="">
            <a:extLst xmlns:a="http://schemas.openxmlformats.org/drawingml/2006/main">
              <a:ext uri="{FF2B5EF4-FFF2-40B4-BE49-F238E27FC236}">
                <a16:creationId xmlns:a16="http://schemas.microsoft.com/office/drawing/2014/main" id="{09814326-CD44-4582-9293-29D36DD10E3A}"/>
              </a:ext>
            </a:extLst>
          </p:cNvPr>
          <p:cNvSpPr>
            <a:spLocks xmlns:a="http://schemas.openxmlformats.org/drawingml/2006/main" noGrp="1"/>
          </p:cNvSpPr>
          <p:nvPr/>
        </p:nvSpPr>
        <p:spPr>
          <a:xfrm xmlns:a="http://schemas.openxmlformats.org/drawingml/2006/main">
            <a:off x="838200" y="2543175"/>
            <a:ext cx="44767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CBA14B8-26E0-4C31-8FE7-BA58029494FF}"/>
              </a:ext>
            </a:extLst>
          </p:cNvPr>
          <p:cNvSpPr>
            <a:spLocks xmlns:a="http://schemas.openxmlformats.org/drawingml/2006/main" noGrp="1"/>
          </p:cNvSpPr>
          <p:nvPr/>
        </p:nvSpPr>
        <p:spPr>
          <a:xfrm xmlns:a="http://schemas.openxmlformats.org/drawingml/2006/main">
            <a:off x="838200" y="2543175"/>
            <a:ext cx="3939540" cy="7620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31E2A99-758F-4BD5-A663-E77104F19FC0}"/>
              </a:ext>
            </a:extLst>
          </p:cNvPr>
          <p:cNvSpPr>
            <a:spLocks xmlns:a="http://schemas.openxmlformats.org/drawingml/2006/main" noGrp="1"/>
          </p:cNvSpPr>
          <p:nvPr/>
        </p:nvSpPr>
        <p:spPr>
          <a:xfrm xmlns:a="http://schemas.openxmlformats.org/drawingml/2006/main">
            <a:off x="838200" y="30670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Reported latency reduction</a:t>
            </a:r>
          </a:p>
        </p:txBody>
      </p:sp>
      <p:sp>
        <p:nvSpPr>
          <p:cNvPr id="11" name="">
            <a:extLst xmlns:a="http://schemas.openxmlformats.org/drawingml/2006/main">
              <a:ext uri="{FF2B5EF4-FFF2-40B4-BE49-F238E27FC236}">
                <a16:creationId xmlns:a16="http://schemas.microsoft.com/office/drawing/2014/main" id="{7F87D662-AE59-4E4B-A15E-F13CC515D678}"/>
              </a:ext>
            </a:extLst>
          </p:cNvPr>
          <p:cNvSpPr>
            <a:spLocks xmlns:a="http://schemas.openxmlformats.org/drawingml/2006/main" noGrp="1"/>
          </p:cNvSpPr>
          <p:nvPr/>
        </p:nvSpPr>
        <p:spPr>
          <a:xfrm xmlns:a="http://schemas.openxmlformats.org/drawingml/2006/main">
            <a:off x="4362450" y="3067050"/>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up to 3.7x</a:t>
            </a:r>
          </a:p>
        </p:txBody>
      </p:sp>
      <p:sp>
        <p:nvSpPr>
          <p:cNvPr id="12" name="">
            <a:extLst xmlns:a="http://schemas.openxmlformats.org/drawingml/2006/main">
              <a:ext uri="{FF2B5EF4-FFF2-40B4-BE49-F238E27FC236}">
                <a16:creationId xmlns:a16="http://schemas.microsoft.com/office/drawing/2014/main" id="{D9EF2AC5-03A8-46F1-A4DC-9C759964F96C}"/>
              </a:ext>
            </a:extLst>
          </p:cNvPr>
          <p:cNvSpPr>
            <a:spLocks xmlns:a="http://schemas.openxmlformats.org/drawingml/2006/main" noGrp="1"/>
          </p:cNvSpPr>
          <p:nvPr/>
        </p:nvSpPr>
        <p:spPr>
          <a:xfrm xmlns:a="http://schemas.openxmlformats.org/drawingml/2006/main">
            <a:off x="838200" y="3305175"/>
            <a:ext cx="44767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F2369DA-4772-4A61-BACB-A346BAF33EF5}"/>
              </a:ext>
            </a:extLst>
          </p:cNvPr>
          <p:cNvSpPr>
            <a:spLocks xmlns:a="http://schemas.openxmlformats.org/drawingml/2006/main" noGrp="1"/>
          </p:cNvSpPr>
          <p:nvPr/>
        </p:nvSpPr>
        <p:spPr>
          <a:xfrm xmlns:a="http://schemas.openxmlformats.org/drawingml/2006/main">
            <a:off x="838200" y="3305175"/>
            <a:ext cx="3312795" cy="7620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4A65E95-DC3C-4AD2-8B80-9CD98F5E1681}"/>
              </a:ext>
            </a:extLst>
          </p:cNvPr>
          <p:cNvSpPr>
            <a:spLocks xmlns:a="http://schemas.openxmlformats.org/drawingml/2006/main" noGrp="1"/>
          </p:cNvSpPr>
          <p:nvPr/>
        </p:nvSpPr>
        <p:spPr>
          <a:xfrm xmlns:a="http://schemas.openxmlformats.org/drawingml/2006/main">
            <a:off x="838200" y="3829050"/>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JSON decoding boost</a:t>
            </a:r>
          </a:p>
        </p:txBody>
      </p:sp>
      <p:sp>
        <p:nvSpPr>
          <p:cNvPr id="15" name="">
            <a:extLst xmlns:a="http://schemas.openxmlformats.org/drawingml/2006/main">
              <a:ext uri="{FF2B5EF4-FFF2-40B4-BE49-F238E27FC236}">
                <a16:creationId xmlns:a16="http://schemas.microsoft.com/office/drawing/2014/main" id="{1206A0D2-DA18-4D9E-93EE-67D2DF499D83}"/>
              </a:ext>
            </a:extLst>
          </p:cNvPr>
          <p:cNvSpPr>
            <a:spLocks xmlns:a="http://schemas.openxmlformats.org/drawingml/2006/main" noGrp="1"/>
          </p:cNvSpPr>
          <p:nvPr/>
        </p:nvSpPr>
        <p:spPr>
          <a:xfrm xmlns:a="http://schemas.openxmlformats.org/drawingml/2006/main">
            <a:off x="4362450" y="3829050"/>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1.6x</a:t>
            </a:r>
          </a:p>
        </p:txBody>
      </p:sp>
      <p:sp>
        <p:nvSpPr>
          <p:cNvPr id="16" name="">
            <a:extLst xmlns:a="http://schemas.openxmlformats.org/drawingml/2006/main">
              <a:ext uri="{FF2B5EF4-FFF2-40B4-BE49-F238E27FC236}">
                <a16:creationId xmlns:a16="http://schemas.microsoft.com/office/drawing/2014/main" id="{5A66CE53-E5CA-4BC5-A52D-BA7424782874}"/>
              </a:ext>
            </a:extLst>
          </p:cNvPr>
          <p:cNvSpPr>
            <a:spLocks xmlns:a="http://schemas.openxmlformats.org/drawingml/2006/main" noGrp="1"/>
          </p:cNvSpPr>
          <p:nvPr/>
        </p:nvSpPr>
        <p:spPr>
          <a:xfrm xmlns:a="http://schemas.openxmlformats.org/drawingml/2006/main">
            <a:off x="838200" y="4067175"/>
            <a:ext cx="44767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434FF29D-3B8C-40CA-9B1D-4FB4303D67FE}"/>
              </a:ext>
            </a:extLst>
          </p:cNvPr>
          <p:cNvSpPr>
            <a:spLocks xmlns:a="http://schemas.openxmlformats.org/drawingml/2006/main" noGrp="1"/>
          </p:cNvSpPr>
          <p:nvPr/>
        </p:nvSpPr>
        <p:spPr>
          <a:xfrm xmlns:a="http://schemas.openxmlformats.org/drawingml/2006/main">
            <a:off x="838200" y="4067175"/>
            <a:ext cx="2014538" cy="7620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8F244906-5C79-487E-BF4C-DA6C870D4C12}"/>
              </a:ext>
            </a:extLst>
          </p:cNvPr>
          <p:cNvSpPr>
            <a:spLocks xmlns:a="http://schemas.openxmlformats.org/drawingml/2006/main" noGrp="1"/>
          </p:cNvSpPr>
          <p:nvPr/>
        </p:nvSpPr>
        <p:spPr>
          <a:xfrm xmlns:a="http://schemas.openxmlformats.org/drawingml/2006/main">
            <a:off x="6238875" y="2286000"/>
            <a:ext cx="4476750" cy="13906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9" name="">
            <a:extLst xmlns:a="http://schemas.openxmlformats.org/drawingml/2006/main">
              <a:ext uri="{FF2B5EF4-FFF2-40B4-BE49-F238E27FC236}">
                <a16:creationId xmlns:a16="http://schemas.microsoft.com/office/drawing/2014/main" id="{0443567B-10C8-433D-9537-222EB0F3790F}"/>
              </a:ext>
            </a:extLst>
          </p:cNvPr>
          <p:cNvSpPr>
            <a:spLocks xmlns:a="http://schemas.openxmlformats.org/drawingml/2006/main" noGrp="1"/>
          </p:cNvSpPr>
          <p:nvPr/>
        </p:nvSpPr>
        <p:spPr>
          <a:xfrm xmlns:a="http://schemas.openxmlformats.org/drawingml/2006/main">
            <a:off x="6238875" y="2286000"/>
            <a:ext cx="47625" cy="139065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8E4C0FD-2685-4D40-B959-2070EA0F9ABC}"/>
              </a:ext>
            </a:extLst>
          </p:cNvPr>
          <p:cNvSpPr>
            <a:spLocks xmlns:a="http://schemas.openxmlformats.org/drawingml/2006/main" noGrp="1"/>
          </p:cNvSpPr>
          <p:nvPr/>
        </p:nvSpPr>
        <p:spPr>
          <a:xfrm xmlns:a="http://schemas.openxmlformats.org/drawingml/2006/main">
            <a:off x="6410325" y="2438400"/>
            <a:ext cx="413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What we borrow</a:t>
            </a:r>
          </a:p>
        </p:txBody>
      </p:sp>
      <p:sp>
        <p:nvSpPr>
          <p:cNvPr id="21" name="">
            <a:extLst xmlns:a="http://schemas.openxmlformats.org/drawingml/2006/main">
              <a:ext uri="{FF2B5EF4-FFF2-40B4-BE49-F238E27FC236}">
                <a16:creationId xmlns:a16="http://schemas.microsoft.com/office/drawing/2014/main" id="{36670AC7-6125-43DB-8331-62D9D30EC5E6}"/>
              </a:ext>
            </a:extLst>
          </p:cNvPr>
          <p:cNvSpPr>
            <a:spLocks xmlns:a="http://schemas.openxmlformats.org/drawingml/2006/main" noGrp="1"/>
          </p:cNvSpPr>
          <p:nvPr/>
        </p:nvSpPr>
        <p:spPr>
          <a:xfrm xmlns:a="http://schemas.openxmlformats.org/drawingml/2006/main">
            <a:off x="6410325" y="2762250"/>
            <a:ext cx="41338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Prefix structure should be explicit. A scheduler can group requests by shared system prompt, tool catalog, RAG document, or chat history.</a:t>
            </a:r>
          </a:p>
        </p:txBody>
      </p:sp>
      <p:sp>
        <p:nvSpPr>
          <p:cNvPr id="22" name="">
            <a:extLst xmlns:a="http://schemas.openxmlformats.org/drawingml/2006/main">
              <a:ext uri="{FF2B5EF4-FFF2-40B4-BE49-F238E27FC236}">
                <a16:creationId xmlns:a16="http://schemas.microsoft.com/office/drawing/2014/main" id="{0559F171-F487-4E43-8A77-679ADCA16CDF}"/>
              </a:ext>
            </a:extLst>
          </p:cNvPr>
          <p:cNvSpPr>
            <a:spLocks xmlns:a="http://schemas.openxmlformats.org/drawingml/2006/main" noGrp="1"/>
          </p:cNvSpPr>
          <p:nvPr/>
        </p:nvSpPr>
        <p:spPr>
          <a:xfrm xmlns:a="http://schemas.openxmlformats.org/drawingml/2006/main">
            <a:off x="6238875" y="4000500"/>
            <a:ext cx="4476750" cy="13906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23" name="">
            <a:extLst xmlns:a="http://schemas.openxmlformats.org/drawingml/2006/main">
              <a:ext uri="{FF2B5EF4-FFF2-40B4-BE49-F238E27FC236}">
                <a16:creationId xmlns:a16="http://schemas.microsoft.com/office/drawing/2014/main" id="{3A178953-5D32-455F-A08D-096BB68CD042}"/>
              </a:ext>
            </a:extLst>
          </p:cNvPr>
          <p:cNvSpPr>
            <a:spLocks xmlns:a="http://schemas.openxmlformats.org/drawingml/2006/main" noGrp="1"/>
          </p:cNvSpPr>
          <p:nvPr/>
        </p:nvSpPr>
        <p:spPr>
          <a:xfrm xmlns:a="http://schemas.openxmlformats.org/drawingml/2006/main">
            <a:off x="6238875" y="4000500"/>
            <a:ext cx="47625" cy="139065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C6D21AE-59DA-4400-BC96-2CA520BC0CD6}"/>
              </a:ext>
            </a:extLst>
          </p:cNvPr>
          <p:cNvSpPr>
            <a:spLocks xmlns:a="http://schemas.openxmlformats.org/drawingml/2006/main" noGrp="1"/>
          </p:cNvSpPr>
          <p:nvPr/>
        </p:nvSpPr>
        <p:spPr>
          <a:xfrm xmlns:a="http://schemas.openxmlformats.org/drawingml/2006/main">
            <a:off x="6410325" y="4152900"/>
            <a:ext cx="413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What we still need</a:t>
            </a:r>
          </a:p>
        </p:txBody>
      </p:sp>
      <p:sp>
        <p:nvSpPr>
          <p:cNvPr id="25" name="">
            <a:extLst xmlns:a="http://schemas.openxmlformats.org/drawingml/2006/main">
              <a:ext uri="{FF2B5EF4-FFF2-40B4-BE49-F238E27FC236}">
                <a16:creationId xmlns:a16="http://schemas.microsoft.com/office/drawing/2014/main" id="{EB98F0E8-F6E7-41A8-B931-5781EB1BBD0F}"/>
              </a:ext>
            </a:extLst>
          </p:cNvPr>
          <p:cNvSpPr>
            <a:spLocks xmlns:a="http://schemas.openxmlformats.org/drawingml/2006/main" noGrp="1"/>
          </p:cNvSpPr>
          <p:nvPr/>
        </p:nvSpPr>
        <p:spPr>
          <a:xfrm xmlns:a="http://schemas.openxmlformats.org/drawingml/2006/main">
            <a:off x="6410325" y="4476750"/>
            <a:ext cx="41338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A small, reproducible vLLM-based experiment that isolates scheduling and cache eviction choices on our hardware.</a:t>
            </a:r>
          </a:p>
        </p:txBody>
      </p:sp>
      <p:sp>
        <p:nvSpPr>
          <p:cNvPr id="26" name="">
            <a:extLst xmlns:a="http://schemas.openxmlformats.org/drawingml/2006/main">
              <a:ext uri="{FF2B5EF4-FFF2-40B4-BE49-F238E27FC236}">
                <a16:creationId xmlns:a16="http://schemas.microsoft.com/office/drawing/2014/main" id="{7D8EA2E9-533A-4F0A-8BA3-59918BF21D7D}"/>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Source: Zheng et al., 2024; Chenxi Li summary</a:t>
            </a:r>
          </a:p>
        </p:txBody>
      </p:sp>
    </p:spTree>
    <p:extLst>
      <p:ext uri="{BB962C8B-B14F-4D97-AF65-F5344CB8AC3E}">
        <p14:creationId xmlns:p14="http://schemas.microsoft.com/office/powerpoint/2010/main" val="58459393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95A92CB-831A-4794-9E0B-9E54DC7C92E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6B71CE4-ECFE-42B6-830F-BFA5ED4CCF09}"/>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PAPER 3 · PromptCache</a:t>
            </a:r>
          </a:p>
        </p:txBody>
      </p:sp>
      <p:sp>
        <p:nvSpPr>
          <p:cNvPr id="3" name="">
            <a:extLst xmlns:a="http://schemas.openxmlformats.org/drawingml/2006/main">
              <a:ext uri="{FF2B5EF4-FFF2-40B4-BE49-F238E27FC236}">
                <a16:creationId xmlns:a16="http://schemas.microsoft.com/office/drawing/2014/main" id="{21D95C83-80EB-449D-8C81-86938D5506BF}"/>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186D4508-5054-4D6B-AAAF-6F820018E199}"/>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Prompt modules can be cached across requests</a:t>
            </a:r>
          </a:p>
        </p:txBody>
      </p:sp>
      <p:sp>
        <p:nvSpPr>
          <p:cNvPr id="5" name="">
            <a:extLst xmlns:a="http://schemas.openxmlformats.org/drawingml/2006/main">
              <a:ext uri="{FF2B5EF4-FFF2-40B4-BE49-F238E27FC236}">
                <a16:creationId xmlns:a16="http://schemas.microsoft.com/office/drawing/2014/main" id="{66F5C6C0-0200-45E6-B091-C6012C96AFEA}"/>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PromptCache moves KV reuse from one session to reusable prompt components.</a:t>
            </a:r>
          </a:p>
        </p:txBody>
      </p:sp>
      <p:sp>
        <p:nvSpPr>
          <p:cNvPr id="6" name="">
            <a:extLst xmlns:a="http://schemas.openxmlformats.org/drawingml/2006/main">
              <a:ext uri="{FF2B5EF4-FFF2-40B4-BE49-F238E27FC236}">
                <a16:creationId xmlns:a16="http://schemas.microsoft.com/office/drawing/2014/main" id="{7C66E03B-707F-4D3A-A91E-FB83C167D4A8}"/>
              </a:ext>
            </a:extLst>
          </p:cNvPr>
          <p:cNvSpPr>
            <a:spLocks xmlns:a="http://schemas.openxmlformats.org/drawingml/2006/main" noGrp="1"/>
          </p:cNvSpPr>
          <p:nvPr/>
        </p:nvSpPr>
        <p:spPr>
          <a:xfrm xmlns:a="http://schemas.openxmlformats.org/drawingml/2006/main">
            <a:off x="666750" y="2247900"/>
            <a:ext cx="3333750" cy="25908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7" name="">
            <a:extLst xmlns:a="http://schemas.openxmlformats.org/drawingml/2006/main">
              <a:ext uri="{FF2B5EF4-FFF2-40B4-BE49-F238E27FC236}">
                <a16:creationId xmlns:a16="http://schemas.microsoft.com/office/drawing/2014/main" id="{20570743-FF32-4DB9-89D6-1DA3635A6DCA}"/>
              </a:ext>
            </a:extLst>
          </p:cNvPr>
          <p:cNvSpPr>
            <a:spLocks xmlns:a="http://schemas.openxmlformats.org/drawingml/2006/main" noGrp="1"/>
          </p:cNvSpPr>
          <p:nvPr/>
        </p:nvSpPr>
        <p:spPr>
          <a:xfrm xmlns:a="http://schemas.openxmlformats.org/drawingml/2006/main">
            <a:off x="666750" y="2247900"/>
            <a:ext cx="47625" cy="259080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6CB1F17-5D1F-4BA7-8103-DB8A7C0E8E8B}"/>
              </a:ext>
            </a:extLst>
          </p:cNvPr>
          <p:cNvSpPr>
            <a:spLocks xmlns:a="http://schemas.openxmlformats.org/drawingml/2006/main" noGrp="1"/>
          </p:cNvSpPr>
          <p:nvPr/>
        </p:nvSpPr>
        <p:spPr>
          <a:xfrm xmlns:a="http://schemas.openxmlformats.org/drawingml/2006/main">
            <a:off x="838200" y="2400300"/>
            <a:ext cx="2990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Problem</a:t>
            </a:r>
          </a:p>
        </p:txBody>
      </p:sp>
      <p:sp>
        <p:nvSpPr>
          <p:cNvPr id="9" name="">
            <a:extLst xmlns:a="http://schemas.openxmlformats.org/drawingml/2006/main">
              <a:ext uri="{FF2B5EF4-FFF2-40B4-BE49-F238E27FC236}">
                <a16:creationId xmlns:a16="http://schemas.microsoft.com/office/drawing/2014/main" id="{E1279BD0-8078-4709-B4BA-74830938907C}"/>
              </a:ext>
            </a:extLst>
          </p:cNvPr>
          <p:cNvSpPr>
            <a:spLocks xmlns:a="http://schemas.openxmlformats.org/drawingml/2006/main" noGrp="1"/>
          </p:cNvSpPr>
          <p:nvPr/>
        </p:nvSpPr>
        <p:spPr>
          <a:xfrm xmlns:a="http://schemas.openxmlformats.org/drawingml/2006/main">
            <a:off x="838200" y="2724150"/>
            <a:ext cx="299085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RAG docs, system instructions, templates, and reusable context blocks are often repeated. Standard KV cache only helps inside one request, so prefill repeats across requests.</a:t>
            </a:r>
          </a:p>
        </p:txBody>
      </p:sp>
      <p:sp>
        <p:nvSpPr>
          <p:cNvPr id="10" name="">
            <a:extLst xmlns:a="http://schemas.openxmlformats.org/drawingml/2006/main">
              <a:ext uri="{FF2B5EF4-FFF2-40B4-BE49-F238E27FC236}">
                <a16:creationId xmlns:a16="http://schemas.microsoft.com/office/drawing/2014/main" id="{B7CE5FFF-B773-459D-A85F-9B9F42291152}"/>
              </a:ext>
            </a:extLst>
          </p:cNvPr>
          <p:cNvSpPr>
            <a:spLocks xmlns:a="http://schemas.openxmlformats.org/drawingml/2006/main" noGrp="1"/>
          </p:cNvSpPr>
          <p:nvPr/>
        </p:nvSpPr>
        <p:spPr>
          <a:xfrm xmlns:a="http://schemas.openxmlformats.org/drawingml/2006/main">
            <a:off x="4953000" y="1924050"/>
            <a:ext cx="3048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2B84B"/>
                </a:solidFill>
                <a:latin typeface="Aptos"/>
                <a:ea typeface="Aptos"/>
                <a:cs typeface="Aptos"/>
              </a:defRPr>
            </a:pPr>
            <a:r>
              <a:rPr sz="975" b="1">
                <a:solidFill>
                  <a:srgbClr val="F2B84B"/>
                </a:solidFill>
                <a:latin typeface="Aptos"/>
                <a:ea typeface="Aptos"/>
                <a:cs typeface="Aptos"/>
              </a:rPr>
              <a:t>Prompt Markup Language modules</a:t>
            </a:r>
          </a:p>
        </p:txBody>
      </p:sp>
      <p:sp>
        <p:nvSpPr>
          <p:cNvPr id="11" name="">
            <a:extLst xmlns:a="http://schemas.openxmlformats.org/drawingml/2006/main">
              <a:ext uri="{FF2B5EF4-FFF2-40B4-BE49-F238E27FC236}">
                <a16:creationId xmlns:a16="http://schemas.microsoft.com/office/drawing/2014/main" id="{C71E9BEB-1194-4896-AE95-690ED2D2DD81}"/>
              </a:ext>
            </a:extLst>
          </p:cNvPr>
          <p:cNvSpPr>
            <a:spLocks xmlns:a="http://schemas.openxmlformats.org/drawingml/2006/main" noGrp="1"/>
          </p:cNvSpPr>
          <p:nvPr/>
        </p:nvSpPr>
        <p:spPr>
          <a:xfrm xmlns:a="http://schemas.openxmlformats.org/drawingml/2006/main">
            <a:off x="4953000" y="2190750"/>
            <a:ext cx="1714500" cy="457200"/>
          </a:xfrm>
          <a:prstGeom xmlns:a="http://schemas.openxmlformats.org/drawingml/2006/main" prst="rect">
            <a:avLst/>
          </a:prstGeom>
          <a:solidFill xmlns:a="http://schemas.openxmlformats.org/drawingml/2006/main">
            <a:srgbClr val="7BD88F">
              <a:alpha val="13333"/>
            </a:srgbClr>
          </a:solidFill>
          <a:ln xmlns:a="http://schemas.openxmlformats.org/drawingml/2006/main" w="9525">
            <a:solidFill>
              <a:srgbClr val="7BD88F"/>
            </a:solidFill>
            <a:prstDash val="solid"/>
          </a:ln>
        </p:spPr>
      </p:sp>
      <p:sp>
        <p:nvSpPr>
          <p:cNvPr id="12" name="">
            <a:extLst xmlns:a="http://schemas.openxmlformats.org/drawingml/2006/main">
              <a:ext uri="{FF2B5EF4-FFF2-40B4-BE49-F238E27FC236}">
                <a16:creationId xmlns:a16="http://schemas.microsoft.com/office/drawing/2014/main" id="{71B43D1F-FE34-4BFE-BE8E-288263F656F9}"/>
              </a:ext>
            </a:extLst>
          </p:cNvPr>
          <p:cNvSpPr>
            <a:spLocks xmlns:a="http://schemas.openxmlformats.org/drawingml/2006/main" noGrp="1"/>
          </p:cNvSpPr>
          <p:nvPr/>
        </p:nvSpPr>
        <p:spPr>
          <a:xfrm xmlns:a="http://schemas.openxmlformats.org/drawingml/2006/main">
            <a:off x="4953000" y="23241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system</a:t>
            </a:r>
          </a:p>
        </p:txBody>
      </p:sp>
      <p:sp>
        <p:nvSpPr>
          <p:cNvPr id="13" name="">
            <a:extLst xmlns:a="http://schemas.openxmlformats.org/drawingml/2006/main">
              <a:ext uri="{FF2B5EF4-FFF2-40B4-BE49-F238E27FC236}">
                <a16:creationId xmlns:a16="http://schemas.microsoft.com/office/drawing/2014/main" id="{32A57D37-A61C-4263-ABB7-988351E74BE2}"/>
              </a:ext>
            </a:extLst>
          </p:cNvPr>
          <p:cNvSpPr>
            <a:spLocks xmlns:a="http://schemas.openxmlformats.org/drawingml/2006/main" noGrp="1"/>
          </p:cNvSpPr>
          <p:nvPr/>
        </p:nvSpPr>
        <p:spPr>
          <a:xfrm xmlns:a="http://schemas.openxmlformats.org/drawingml/2006/main">
            <a:off x="4953000" y="2876550"/>
            <a:ext cx="1714500" cy="457200"/>
          </a:xfrm>
          <a:prstGeom xmlns:a="http://schemas.openxmlformats.org/drawingml/2006/main" prst="rect">
            <a:avLst/>
          </a:prstGeom>
          <a:solidFill xmlns:a="http://schemas.openxmlformats.org/drawingml/2006/main">
            <a:srgbClr val="72A7FF">
              <a:alpha val="13333"/>
            </a:srgbClr>
          </a:solidFill>
          <a:ln xmlns:a="http://schemas.openxmlformats.org/drawingml/2006/main" w="9525">
            <a:solidFill>
              <a:srgbClr val="72A7FF"/>
            </a:solidFill>
            <a:prstDash val="solid"/>
          </a:ln>
        </p:spPr>
      </p:sp>
      <p:sp>
        <p:nvSpPr>
          <p:cNvPr id="14" name="">
            <a:extLst xmlns:a="http://schemas.openxmlformats.org/drawingml/2006/main">
              <a:ext uri="{FF2B5EF4-FFF2-40B4-BE49-F238E27FC236}">
                <a16:creationId xmlns:a16="http://schemas.microsoft.com/office/drawing/2014/main" id="{9245360E-4239-4933-8197-6DF63CC8FFE2}"/>
              </a:ext>
            </a:extLst>
          </p:cNvPr>
          <p:cNvSpPr>
            <a:spLocks xmlns:a="http://schemas.openxmlformats.org/drawingml/2006/main" noGrp="1"/>
          </p:cNvSpPr>
          <p:nvPr/>
        </p:nvSpPr>
        <p:spPr>
          <a:xfrm xmlns:a="http://schemas.openxmlformats.org/drawingml/2006/main">
            <a:off x="4953000" y="30099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policy</a:t>
            </a:r>
          </a:p>
        </p:txBody>
      </p:sp>
      <p:sp>
        <p:nvSpPr>
          <p:cNvPr id="15" name="">
            <a:extLst xmlns:a="http://schemas.openxmlformats.org/drawingml/2006/main">
              <a:ext uri="{FF2B5EF4-FFF2-40B4-BE49-F238E27FC236}">
                <a16:creationId xmlns:a16="http://schemas.microsoft.com/office/drawing/2014/main" id="{4866A86D-381E-46AD-9980-46E8D9108634}"/>
              </a:ext>
            </a:extLst>
          </p:cNvPr>
          <p:cNvSpPr>
            <a:spLocks xmlns:a="http://schemas.openxmlformats.org/drawingml/2006/main" noGrp="1"/>
          </p:cNvSpPr>
          <p:nvPr/>
        </p:nvSpPr>
        <p:spPr>
          <a:xfrm xmlns:a="http://schemas.openxmlformats.org/drawingml/2006/main">
            <a:off x="4953000" y="3562350"/>
            <a:ext cx="1714500" cy="457200"/>
          </a:xfrm>
          <a:prstGeom xmlns:a="http://schemas.openxmlformats.org/drawingml/2006/main" prst="rect">
            <a:avLst/>
          </a:prstGeom>
          <a:solidFill xmlns:a="http://schemas.openxmlformats.org/drawingml/2006/main">
            <a:srgbClr val="F2B84B">
              <a:alpha val="13333"/>
            </a:srgbClr>
          </a:solidFill>
          <a:ln xmlns:a="http://schemas.openxmlformats.org/drawingml/2006/main" w="9525">
            <a:solidFill>
              <a:srgbClr val="F2B84B"/>
            </a:solidFill>
            <a:prstDash val="solid"/>
          </a:ln>
        </p:spPr>
      </p:sp>
      <p:sp>
        <p:nvSpPr>
          <p:cNvPr id="16" name="">
            <a:extLst xmlns:a="http://schemas.openxmlformats.org/drawingml/2006/main">
              <a:ext uri="{FF2B5EF4-FFF2-40B4-BE49-F238E27FC236}">
                <a16:creationId xmlns:a16="http://schemas.microsoft.com/office/drawing/2014/main" id="{332D0DB5-229A-424E-8FDA-00597DD91B6B}"/>
              </a:ext>
            </a:extLst>
          </p:cNvPr>
          <p:cNvSpPr>
            <a:spLocks xmlns:a="http://schemas.openxmlformats.org/drawingml/2006/main" noGrp="1"/>
          </p:cNvSpPr>
          <p:nvPr/>
        </p:nvSpPr>
        <p:spPr>
          <a:xfrm xmlns:a="http://schemas.openxmlformats.org/drawingml/2006/main">
            <a:off x="4953000" y="36957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retrieved doc</a:t>
            </a:r>
          </a:p>
        </p:txBody>
      </p:sp>
      <p:sp>
        <p:nvSpPr>
          <p:cNvPr id="17" name="">
            <a:extLst xmlns:a="http://schemas.openxmlformats.org/drawingml/2006/main">
              <a:ext uri="{FF2B5EF4-FFF2-40B4-BE49-F238E27FC236}">
                <a16:creationId xmlns:a16="http://schemas.microsoft.com/office/drawing/2014/main" id="{6E1D2A45-7BA2-4E7F-AC51-0B2D28988AC9}"/>
              </a:ext>
            </a:extLst>
          </p:cNvPr>
          <p:cNvSpPr>
            <a:spLocks xmlns:a="http://schemas.openxmlformats.org/drawingml/2006/main" noGrp="1"/>
          </p:cNvSpPr>
          <p:nvPr/>
        </p:nvSpPr>
        <p:spPr>
          <a:xfrm xmlns:a="http://schemas.openxmlformats.org/drawingml/2006/main">
            <a:off x="4953000" y="4248150"/>
            <a:ext cx="1714500" cy="457200"/>
          </a:xfrm>
          <a:prstGeom xmlns:a="http://schemas.openxmlformats.org/drawingml/2006/main" prst="rect">
            <a:avLst/>
          </a:prstGeom>
          <a:solidFill xmlns:a="http://schemas.openxmlformats.org/drawingml/2006/main">
            <a:srgbClr val="B998FF">
              <a:alpha val="13333"/>
            </a:srgbClr>
          </a:solidFill>
          <a:ln xmlns:a="http://schemas.openxmlformats.org/drawingml/2006/main" w="9525">
            <a:solidFill>
              <a:srgbClr val="B998FF"/>
            </a:solidFill>
            <a:prstDash val="solid"/>
          </a:ln>
        </p:spPr>
      </p:sp>
      <p:sp>
        <p:nvSpPr>
          <p:cNvPr id="18" name="">
            <a:extLst xmlns:a="http://schemas.openxmlformats.org/drawingml/2006/main">
              <a:ext uri="{FF2B5EF4-FFF2-40B4-BE49-F238E27FC236}">
                <a16:creationId xmlns:a16="http://schemas.microsoft.com/office/drawing/2014/main" id="{022A8461-0426-4AC5-955F-076308A50E0E}"/>
              </a:ext>
            </a:extLst>
          </p:cNvPr>
          <p:cNvSpPr>
            <a:spLocks xmlns:a="http://schemas.openxmlformats.org/drawingml/2006/main" noGrp="1"/>
          </p:cNvSpPr>
          <p:nvPr/>
        </p:nvSpPr>
        <p:spPr>
          <a:xfrm xmlns:a="http://schemas.openxmlformats.org/drawingml/2006/main">
            <a:off x="4953000" y="4381500"/>
            <a:ext cx="171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F7F3EA"/>
                </a:solidFill>
                <a:latin typeface="Aptos"/>
                <a:ea typeface="Aptos"/>
                <a:cs typeface="Aptos"/>
              </a:defRPr>
            </a:pPr>
            <a:r>
              <a:rPr sz="1125" b="1">
                <a:solidFill>
                  <a:srgbClr val="F7F3EA"/>
                </a:solidFill>
                <a:latin typeface="Aptos"/>
                <a:ea typeface="Aptos"/>
                <a:cs typeface="Aptos"/>
              </a:rPr>
              <a:t>user query</a:t>
            </a:r>
          </a:p>
        </p:txBody>
      </p:sp>
      <p:sp>
        <p:nvSpPr>
          <p:cNvPr id="19" name="">
            <a:extLst xmlns:a="http://schemas.openxmlformats.org/drawingml/2006/main">
              <a:ext uri="{FF2B5EF4-FFF2-40B4-BE49-F238E27FC236}">
                <a16:creationId xmlns:a16="http://schemas.microsoft.com/office/drawing/2014/main" id="{2A95DC29-98D2-4CC7-9116-FE84972CAFFE}"/>
              </a:ext>
            </a:extLst>
          </p:cNvPr>
          <p:cNvSpPr>
            <a:spLocks xmlns:a="http://schemas.openxmlformats.org/drawingml/2006/main" noGrp="1"/>
          </p:cNvSpPr>
          <p:nvPr/>
        </p:nvSpPr>
        <p:spPr>
          <a:xfrm xmlns:a="http://schemas.openxmlformats.org/drawingml/2006/main">
            <a:off x="6953250" y="3105150"/>
            <a:ext cx="1104900" cy="2857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9331131-BA78-4930-AE8E-9E2E0674414A}"/>
              </a:ext>
            </a:extLst>
          </p:cNvPr>
          <p:cNvSpPr>
            <a:spLocks xmlns:a="http://schemas.openxmlformats.org/drawingml/2006/main" noGrp="1"/>
          </p:cNvSpPr>
          <p:nvPr/>
        </p:nvSpPr>
        <p:spPr>
          <a:xfrm xmlns:a="http://schemas.openxmlformats.org/drawingml/2006/main">
            <a:off x="7972425" y="3038475"/>
            <a:ext cx="133350" cy="133350"/>
          </a:xfrm>
          <a:prstGeom xmlns:a="http://schemas.openxmlformats.org/drawingml/2006/main" prst="triangle">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692067C-47B8-4E93-8275-2ADE35D25848}"/>
              </a:ext>
            </a:extLst>
          </p:cNvPr>
          <p:cNvSpPr>
            <a:spLocks xmlns:a="http://schemas.openxmlformats.org/drawingml/2006/main" noGrp="1"/>
          </p:cNvSpPr>
          <p:nvPr/>
        </p:nvSpPr>
        <p:spPr>
          <a:xfrm xmlns:a="http://schemas.openxmlformats.org/drawingml/2006/main">
            <a:off x="8286750" y="2628900"/>
            <a:ext cx="2381250" cy="1390650"/>
          </a:xfrm>
          <a:prstGeom xmlns:a="http://schemas.openxmlformats.org/drawingml/2006/main" prst="rect">
            <a:avLst/>
          </a:prstGeom>
          <a:solidFill xmlns:a="http://schemas.openxmlformats.org/drawingml/2006/main">
            <a:srgbClr val="1C2330"/>
          </a:solidFill>
          <a:ln xmlns:a="http://schemas.openxmlformats.org/drawingml/2006/main" w="19050">
            <a:solidFill>
              <a:srgbClr val="F2B84B"/>
            </a:solidFill>
            <a:prstDash val="solid"/>
          </a:ln>
        </p:spPr>
      </p:sp>
      <p:sp>
        <p:nvSpPr>
          <p:cNvPr id="22" name="">
            <a:extLst xmlns:a="http://schemas.openxmlformats.org/drawingml/2006/main">
              <a:ext uri="{FF2B5EF4-FFF2-40B4-BE49-F238E27FC236}">
                <a16:creationId xmlns:a16="http://schemas.microsoft.com/office/drawing/2014/main" id="{1C4E2258-3350-42DA-A11B-AE450268436B}"/>
              </a:ext>
            </a:extLst>
          </p:cNvPr>
          <p:cNvSpPr>
            <a:spLocks xmlns:a="http://schemas.openxmlformats.org/drawingml/2006/main" noGrp="1"/>
          </p:cNvSpPr>
          <p:nvPr/>
        </p:nvSpPr>
        <p:spPr>
          <a:xfrm xmlns:a="http://schemas.openxmlformats.org/drawingml/2006/main">
            <a:off x="8496300" y="3028950"/>
            <a:ext cx="19621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00" b="1">
                <a:solidFill>
                  <a:srgbClr val="F7F3EA"/>
                </a:solidFill>
                <a:latin typeface="Aptos Display"/>
                <a:ea typeface="Aptos Display"/>
                <a:cs typeface="Aptos Display"/>
              </a:defRPr>
            </a:pPr>
            <a:r>
              <a:rPr sz="1500" b="1">
                <a:solidFill>
                  <a:srgbClr val="F7F3EA"/>
                </a:solidFill>
                <a:latin typeface="Aptos Display"/>
                <a:ea typeface="Aptos Display"/>
                <a:cs typeface="Aptos Display"/>
              </a:rPr>
              <a:t>precomputed attention states</a:t>
            </a:r>
          </a:p>
        </p:txBody>
      </p:sp>
      <p:sp>
        <p:nvSpPr>
          <p:cNvPr id="23" name="">
            <a:extLst xmlns:a="http://schemas.openxmlformats.org/drawingml/2006/main">
              <a:ext uri="{FF2B5EF4-FFF2-40B4-BE49-F238E27FC236}">
                <a16:creationId xmlns:a16="http://schemas.microsoft.com/office/drawing/2014/main" id="{D3EE2CE3-1C15-4E62-BDB8-CB4E335CDEFE}"/>
              </a:ext>
            </a:extLst>
          </p:cNvPr>
          <p:cNvSpPr>
            <a:spLocks xmlns:a="http://schemas.openxmlformats.org/drawingml/2006/main" noGrp="1"/>
          </p:cNvSpPr>
          <p:nvPr/>
        </p:nvSpPr>
        <p:spPr>
          <a:xfrm xmlns:a="http://schemas.openxmlformats.org/drawingml/2006/main">
            <a:off x="8286750" y="4286250"/>
            <a:ext cx="30670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The difficult part is positional encoding: modules need fixed position IDs so cached states remain valid when assembled.</a:t>
            </a:r>
          </a:p>
        </p:txBody>
      </p:sp>
      <p:sp>
        <p:nvSpPr>
          <p:cNvPr id="24" name="">
            <a:extLst xmlns:a="http://schemas.openxmlformats.org/drawingml/2006/main">
              <a:ext uri="{FF2B5EF4-FFF2-40B4-BE49-F238E27FC236}">
                <a16:creationId xmlns:a16="http://schemas.microsoft.com/office/drawing/2014/main" id="{894CE97B-DE21-4585-A014-134ED5287D9D}"/>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Source: Gim et al., 2023; Mengze Hu summary</a:t>
            </a:r>
          </a:p>
        </p:txBody>
      </p:sp>
    </p:spTree>
    <p:extLst>
      <p:ext uri="{BB962C8B-B14F-4D97-AF65-F5344CB8AC3E}">
        <p14:creationId xmlns:p14="http://schemas.microsoft.com/office/powerpoint/2010/main" val="11775764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1267392-1EE0-41CB-880C-69DC3FDCECE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CCBECEA-161E-4ECF-B3B0-2D287F903BE5}"/>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PromptCache · IMPLICATIONS</a:t>
            </a:r>
          </a:p>
        </p:txBody>
      </p:sp>
      <p:sp>
        <p:nvSpPr>
          <p:cNvPr id="3" name="">
            <a:extLst xmlns:a="http://schemas.openxmlformats.org/drawingml/2006/main">
              <a:ext uri="{FF2B5EF4-FFF2-40B4-BE49-F238E27FC236}">
                <a16:creationId xmlns:a16="http://schemas.microsoft.com/office/drawing/2014/main" id="{F4FC0107-8988-4265-B67F-B80529019FB8}"/>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DE930F37-8C3C-4D38-B8BC-D4A08C9032A6}"/>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TTFT is often a prefill problem</a:t>
            </a:r>
          </a:p>
        </p:txBody>
      </p:sp>
      <p:sp>
        <p:nvSpPr>
          <p:cNvPr id="5" name="">
            <a:extLst xmlns:a="http://schemas.openxmlformats.org/drawingml/2006/main">
              <a:ext uri="{FF2B5EF4-FFF2-40B4-BE49-F238E27FC236}">
                <a16:creationId xmlns:a16="http://schemas.microsoft.com/office/drawing/2014/main" id="{911CAC35-8261-4A78-8EE1-C646593B56F1}"/>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When prompts repeat, the fastest token is the one whose KV state was already computed.</a:t>
            </a:r>
          </a:p>
        </p:txBody>
      </p:sp>
      <p:sp>
        <p:nvSpPr>
          <p:cNvPr id="6" name="">
            <a:extLst xmlns:a="http://schemas.openxmlformats.org/drawingml/2006/main">
              <a:ext uri="{FF2B5EF4-FFF2-40B4-BE49-F238E27FC236}">
                <a16:creationId xmlns:a16="http://schemas.microsoft.com/office/drawing/2014/main" id="{8A7DF3DE-8118-4231-89E2-D772DFA71F2A}"/>
              </a:ext>
            </a:extLst>
          </p:cNvPr>
          <p:cNvSpPr>
            <a:spLocks xmlns:a="http://schemas.openxmlformats.org/drawingml/2006/main" noGrp="1"/>
          </p:cNvSpPr>
          <p:nvPr/>
        </p:nvSpPr>
        <p:spPr>
          <a:xfrm xmlns:a="http://schemas.openxmlformats.org/drawingml/2006/main">
            <a:off x="904875" y="242887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GPU TTFT reduction</a:t>
            </a:r>
          </a:p>
        </p:txBody>
      </p:sp>
      <p:sp>
        <p:nvSpPr>
          <p:cNvPr id="7" name="">
            <a:extLst xmlns:a="http://schemas.openxmlformats.org/drawingml/2006/main">
              <a:ext uri="{FF2B5EF4-FFF2-40B4-BE49-F238E27FC236}">
                <a16:creationId xmlns:a16="http://schemas.microsoft.com/office/drawing/2014/main" id="{2A78D7AE-97A6-470C-B081-FFD67BA6873E}"/>
              </a:ext>
            </a:extLst>
          </p:cNvPr>
          <p:cNvSpPr>
            <a:spLocks xmlns:a="http://schemas.openxmlformats.org/drawingml/2006/main" noGrp="1"/>
          </p:cNvSpPr>
          <p:nvPr/>
        </p:nvSpPr>
        <p:spPr>
          <a:xfrm xmlns:a="http://schemas.openxmlformats.org/drawingml/2006/main">
            <a:off x="4238625" y="242887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1.5-10x</a:t>
            </a:r>
          </a:p>
        </p:txBody>
      </p:sp>
      <p:sp>
        <p:nvSpPr>
          <p:cNvPr id="8" name="">
            <a:extLst xmlns:a="http://schemas.openxmlformats.org/drawingml/2006/main">
              <a:ext uri="{FF2B5EF4-FFF2-40B4-BE49-F238E27FC236}">
                <a16:creationId xmlns:a16="http://schemas.microsoft.com/office/drawing/2014/main" id="{1F7E73CD-1F33-4AAB-A5E6-0E9265FE0FA9}"/>
              </a:ext>
            </a:extLst>
          </p:cNvPr>
          <p:cNvSpPr>
            <a:spLocks xmlns:a="http://schemas.openxmlformats.org/drawingml/2006/main" noGrp="1"/>
          </p:cNvSpPr>
          <p:nvPr/>
        </p:nvSpPr>
        <p:spPr>
          <a:xfrm xmlns:a="http://schemas.openxmlformats.org/drawingml/2006/main">
            <a:off x="904875" y="2667000"/>
            <a:ext cx="42862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C772466-5D44-4A43-8024-56410BD3934D}"/>
              </a:ext>
            </a:extLst>
          </p:cNvPr>
          <p:cNvSpPr>
            <a:spLocks xmlns:a="http://schemas.openxmlformats.org/drawingml/2006/main" noGrp="1"/>
          </p:cNvSpPr>
          <p:nvPr/>
        </p:nvSpPr>
        <p:spPr>
          <a:xfrm xmlns:a="http://schemas.openxmlformats.org/drawingml/2006/main">
            <a:off x="904875" y="2667000"/>
            <a:ext cx="3343275" cy="7620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AA7CBE7-3916-4140-88B4-E37F501F39F3}"/>
              </a:ext>
            </a:extLst>
          </p:cNvPr>
          <p:cNvSpPr>
            <a:spLocks xmlns:a="http://schemas.openxmlformats.org/drawingml/2006/main" noGrp="1"/>
          </p:cNvSpPr>
          <p:nvPr/>
        </p:nvSpPr>
        <p:spPr>
          <a:xfrm xmlns:a="http://schemas.openxmlformats.org/drawingml/2006/main">
            <a:off x="904875" y="319087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CPU TTFT reduction</a:t>
            </a:r>
          </a:p>
        </p:txBody>
      </p:sp>
      <p:sp>
        <p:nvSpPr>
          <p:cNvPr id="11" name="">
            <a:extLst xmlns:a="http://schemas.openxmlformats.org/drawingml/2006/main">
              <a:ext uri="{FF2B5EF4-FFF2-40B4-BE49-F238E27FC236}">
                <a16:creationId xmlns:a16="http://schemas.microsoft.com/office/drawing/2014/main" id="{84552A9B-7676-42AD-A07B-F820A5B1E3F3}"/>
              </a:ext>
            </a:extLst>
          </p:cNvPr>
          <p:cNvSpPr>
            <a:spLocks xmlns:a="http://schemas.openxmlformats.org/drawingml/2006/main" noGrp="1"/>
          </p:cNvSpPr>
          <p:nvPr/>
        </p:nvSpPr>
        <p:spPr>
          <a:xfrm xmlns:a="http://schemas.openxmlformats.org/drawingml/2006/main">
            <a:off x="4238625" y="319087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20-70x</a:t>
            </a:r>
          </a:p>
        </p:txBody>
      </p:sp>
      <p:sp>
        <p:nvSpPr>
          <p:cNvPr id="12" name="">
            <a:extLst xmlns:a="http://schemas.openxmlformats.org/drawingml/2006/main">
              <a:ext uri="{FF2B5EF4-FFF2-40B4-BE49-F238E27FC236}">
                <a16:creationId xmlns:a16="http://schemas.microsoft.com/office/drawing/2014/main" id="{2372F97F-C9C0-4EEF-92C8-E82C4B2A477F}"/>
              </a:ext>
            </a:extLst>
          </p:cNvPr>
          <p:cNvSpPr>
            <a:spLocks xmlns:a="http://schemas.openxmlformats.org/drawingml/2006/main" noGrp="1"/>
          </p:cNvSpPr>
          <p:nvPr/>
        </p:nvSpPr>
        <p:spPr>
          <a:xfrm xmlns:a="http://schemas.openxmlformats.org/drawingml/2006/main">
            <a:off x="904875" y="3429000"/>
            <a:ext cx="42862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5E37104F-226E-473C-AEBF-EAE29743587E}"/>
              </a:ext>
            </a:extLst>
          </p:cNvPr>
          <p:cNvSpPr>
            <a:spLocks xmlns:a="http://schemas.openxmlformats.org/drawingml/2006/main" noGrp="1"/>
          </p:cNvSpPr>
          <p:nvPr/>
        </p:nvSpPr>
        <p:spPr>
          <a:xfrm xmlns:a="http://schemas.openxmlformats.org/drawingml/2006/main">
            <a:off x="904875" y="3429000"/>
            <a:ext cx="3943350" cy="7620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C3BBBE8-DE09-4388-864C-9768B52A3B5F}"/>
              </a:ext>
            </a:extLst>
          </p:cNvPr>
          <p:cNvSpPr>
            <a:spLocks xmlns:a="http://schemas.openxmlformats.org/drawingml/2006/main" noGrp="1"/>
          </p:cNvSpPr>
          <p:nvPr/>
        </p:nvSpPr>
        <p:spPr>
          <a:xfrm xmlns:a="http://schemas.openxmlformats.org/drawingml/2006/main">
            <a:off x="904875" y="395287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Quality impact</a:t>
            </a:r>
          </a:p>
        </p:txBody>
      </p:sp>
      <p:sp>
        <p:nvSpPr>
          <p:cNvPr id="15" name="">
            <a:extLst xmlns:a="http://schemas.openxmlformats.org/drawingml/2006/main">
              <a:ext uri="{FF2B5EF4-FFF2-40B4-BE49-F238E27FC236}">
                <a16:creationId xmlns:a16="http://schemas.microsoft.com/office/drawing/2014/main" id="{607ED5DE-F6EA-4456-BA51-25AEC416C93E}"/>
              </a:ext>
            </a:extLst>
          </p:cNvPr>
          <p:cNvSpPr>
            <a:spLocks xmlns:a="http://schemas.openxmlformats.org/drawingml/2006/main" noGrp="1"/>
          </p:cNvSpPr>
          <p:nvPr/>
        </p:nvSpPr>
        <p:spPr>
          <a:xfrm xmlns:a="http://schemas.openxmlformats.org/drawingml/2006/main">
            <a:off x="4238625" y="395287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stable</a:t>
            </a:r>
          </a:p>
        </p:txBody>
      </p:sp>
      <p:sp>
        <p:nvSpPr>
          <p:cNvPr id="16" name="">
            <a:extLst xmlns:a="http://schemas.openxmlformats.org/drawingml/2006/main">
              <a:ext uri="{FF2B5EF4-FFF2-40B4-BE49-F238E27FC236}">
                <a16:creationId xmlns:a16="http://schemas.microsoft.com/office/drawing/2014/main" id="{E7CA971F-F95C-4D31-A829-9C867D150A30}"/>
              </a:ext>
            </a:extLst>
          </p:cNvPr>
          <p:cNvSpPr>
            <a:spLocks xmlns:a="http://schemas.openxmlformats.org/drawingml/2006/main" noGrp="1"/>
          </p:cNvSpPr>
          <p:nvPr/>
        </p:nvSpPr>
        <p:spPr>
          <a:xfrm xmlns:a="http://schemas.openxmlformats.org/drawingml/2006/main">
            <a:off x="904875" y="4191000"/>
            <a:ext cx="4286250"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FDBC98F4-516B-48E6-B4E5-6CFBBC1D9CC9}"/>
              </a:ext>
            </a:extLst>
          </p:cNvPr>
          <p:cNvSpPr>
            <a:spLocks xmlns:a="http://schemas.openxmlformats.org/drawingml/2006/main" noGrp="1"/>
          </p:cNvSpPr>
          <p:nvPr/>
        </p:nvSpPr>
        <p:spPr>
          <a:xfrm xmlns:a="http://schemas.openxmlformats.org/drawingml/2006/main">
            <a:off x="904875" y="4191000"/>
            <a:ext cx="2357438" cy="7620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C8A8334-53B3-40A4-93E9-4F427CE3682D}"/>
              </a:ext>
            </a:extLst>
          </p:cNvPr>
          <p:cNvSpPr>
            <a:spLocks xmlns:a="http://schemas.openxmlformats.org/drawingml/2006/main" noGrp="1"/>
          </p:cNvSpPr>
          <p:nvPr/>
        </p:nvSpPr>
        <p:spPr>
          <a:xfrm xmlns:a="http://schemas.openxmlformats.org/drawingml/2006/main">
            <a:off x="6238875" y="2343150"/>
            <a:ext cx="4476750" cy="13144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9" name="">
            <a:extLst xmlns:a="http://schemas.openxmlformats.org/drawingml/2006/main">
              <a:ext uri="{FF2B5EF4-FFF2-40B4-BE49-F238E27FC236}">
                <a16:creationId xmlns:a16="http://schemas.microsoft.com/office/drawing/2014/main" id="{68104310-1624-4E83-A46C-FC6A03E54359}"/>
              </a:ext>
            </a:extLst>
          </p:cNvPr>
          <p:cNvSpPr>
            <a:spLocks xmlns:a="http://schemas.openxmlformats.org/drawingml/2006/main" noGrp="1"/>
          </p:cNvSpPr>
          <p:nvPr/>
        </p:nvSpPr>
        <p:spPr>
          <a:xfrm xmlns:a="http://schemas.openxmlformats.org/drawingml/2006/main">
            <a:off x="6238875" y="2343150"/>
            <a:ext cx="47625" cy="131445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1A03B48-4F5E-4B22-B192-C1A9E3367512}"/>
              </a:ext>
            </a:extLst>
          </p:cNvPr>
          <p:cNvSpPr>
            <a:spLocks xmlns:a="http://schemas.openxmlformats.org/drawingml/2006/main" noGrp="1"/>
          </p:cNvSpPr>
          <p:nvPr/>
        </p:nvSpPr>
        <p:spPr>
          <a:xfrm xmlns:a="http://schemas.openxmlformats.org/drawingml/2006/main">
            <a:off x="6410325" y="2495550"/>
            <a:ext cx="413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Good capstone workload</a:t>
            </a:r>
          </a:p>
        </p:txBody>
      </p:sp>
      <p:sp>
        <p:nvSpPr>
          <p:cNvPr id="21" name="">
            <a:extLst xmlns:a="http://schemas.openxmlformats.org/drawingml/2006/main">
              <a:ext uri="{FF2B5EF4-FFF2-40B4-BE49-F238E27FC236}">
                <a16:creationId xmlns:a16="http://schemas.microsoft.com/office/drawing/2014/main" id="{52BFBD0A-BA2A-48BC-A4A0-4C28E166713F}"/>
              </a:ext>
            </a:extLst>
          </p:cNvPr>
          <p:cNvSpPr>
            <a:spLocks xmlns:a="http://schemas.openxmlformats.org/drawingml/2006/main" noGrp="1"/>
          </p:cNvSpPr>
          <p:nvPr/>
        </p:nvSpPr>
        <p:spPr>
          <a:xfrm xmlns:a="http://schemas.openxmlformats.org/drawingml/2006/main">
            <a:off x="6410325" y="2819400"/>
            <a:ext cx="41338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A shared system prompt plus changing user queries gives us a clean way to measure prefill savings and cache hit rate.</a:t>
            </a:r>
          </a:p>
        </p:txBody>
      </p:sp>
      <p:sp>
        <p:nvSpPr>
          <p:cNvPr id="22" name="">
            <a:extLst xmlns:a="http://schemas.openxmlformats.org/drawingml/2006/main">
              <a:ext uri="{FF2B5EF4-FFF2-40B4-BE49-F238E27FC236}">
                <a16:creationId xmlns:a16="http://schemas.microsoft.com/office/drawing/2014/main" id="{DD4A0A88-F8F5-42CB-B71C-560E88989F33}"/>
              </a:ext>
            </a:extLst>
          </p:cNvPr>
          <p:cNvSpPr>
            <a:spLocks xmlns:a="http://schemas.openxmlformats.org/drawingml/2006/main" noGrp="1"/>
          </p:cNvSpPr>
          <p:nvPr/>
        </p:nvSpPr>
        <p:spPr>
          <a:xfrm xmlns:a="http://schemas.openxmlformats.org/drawingml/2006/main">
            <a:off x="6238875" y="3943350"/>
            <a:ext cx="4476750" cy="13144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23" name="">
            <a:extLst xmlns:a="http://schemas.openxmlformats.org/drawingml/2006/main">
              <a:ext uri="{FF2B5EF4-FFF2-40B4-BE49-F238E27FC236}">
                <a16:creationId xmlns:a16="http://schemas.microsoft.com/office/drawing/2014/main" id="{48EC5542-432E-42A5-A581-2300BF313752}"/>
              </a:ext>
            </a:extLst>
          </p:cNvPr>
          <p:cNvSpPr>
            <a:spLocks xmlns:a="http://schemas.openxmlformats.org/drawingml/2006/main" noGrp="1"/>
          </p:cNvSpPr>
          <p:nvPr/>
        </p:nvSpPr>
        <p:spPr>
          <a:xfrm xmlns:a="http://schemas.openxmlformats.org/drawingml/2006/main">
            <a:off x="6238875" y="3943350"/>
            <a:ext cx="47625" cy="131445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C8109B05-7897-4992-A70A-4235989F6337}"/>
              </a:ext>
            </a:extLst>
          </p:cNvPr>
          <p:cNvSpPr>
            <a:spLocks xmlns:a="http://schemas.openxmlformats.org/drawingml/2006/main" noGrp="1"/>
          </p:cNvSpPr>
          <p:nvPr/>
        </p:nvSpPr>
        <p:spPr>
          <a:xfrm xmlns:a="http://schemas.openxmlformats.org/drawingml/2006/main">
            <a:off x="6410325" y="4095750"/>
            <a:ext cx="41338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Boundary</a:t>
            </a:r>
          </a:p>
        </p:txBody>
      </p:sp>
      <p:sp>
        <p:nvSpPr>
          <p:cNvPr id="25" name="">
            <a:extLst xmlns:a="http://schemas.openxmlformats.org/drawingml/2006/main">
              <a:ext uri="{FF2B5EF4-FFF2-40B4-BE49-F238E27FC236}">
                <a16:creationId xmlns:a16="http://schemas.microsoft.com/office/drawing/2014/main" id="{A8512DE7-0551-4A52-8E2E-AAC878296298}"/>
              </a:ext>
            </a:extLst>
          </p:cNvPr>
          <p:cNvSpPr>
            <a:spLocks xmlns:a="http://schemas.openxmlformats.org/drawingml/2006/main" noGrp="1"/>
          </p:cNvSpPr>
          <p:nvPr/>
        </p:nvSpPr>
        <p:spPr>
          <a:xfrm xmlns:a="http://schemas.openxmlformats.org/drawingml/2006/main">
            <a:off x="6410325" y="4419600"/>
            <a:ext cx="413385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PromptCache modularizes prompts; our project instead asks how a serving scheduler should exploit repeated prefixes automatically.</a:t>
            </a:r>
          </a:p>
        </p:txBody>
      </p:sp>
      <p:sp>
        <p:nvSpPr>
          <p:cNvPr id="26" name="">
            <a:extLst xmlns:a="http://schemas.openxmlformats.org/drawingml/2006/main">
              <a:ext uri="{FF2B5EF4-FFF2-40B4-BE49-F238E27FC236}">
                <a16:creationId xmlns:a16="http://schemas.microsoft.com/office/drawing/2014/main" id="{6BDBBB4D-A49F-4B78-9D33-DA982E2E55F4}"/>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Source: Gim et al., 2023; Mengze Hu summary</a:t>
            </a:r>
          </a:p>
        </p:txBody>
      </p:sp>
    </p:spTree>
    <p:extLst>
      <p:ext uri="{BB962C8B-B14F-4D97-AF65-F5344CB8AC3E}">
        <p14:creationId xmlns:p14="http://schemas.microsoft.com/office/powerpoint/2010/main" val="106163410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FF9E3E-9250-4FEF-A3B7-D8C84A0B64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49CCE3D-B6FC-4BE4-9204-DA72EC638BE4}"/>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PAPER 4 · Hydragen</a:t>
            </a:r>
          </a:p>
        </p:txBody>
      </p:sp>
      <p:sp>
        <p:nvSpPr>
          <p:cNvPr id="3" name="">
            <a:extLst xmlns:a="http://schemas.openxmlformats.org/drawingml/2006/main">
              <a:ext uri="{FF2B5EF4-FFF2-40B4-BE49-F238E27FC236}">
                <a16:creationId xmlns:a16="http://schemas.microsoft.com/office/drawing/2014/main" id="{E667E704-4186-4F01-B0DC-83D79AFA8393}"/>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3A3FB03-4B2C-488F-A175-C67FA2B2B992}"/>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Shared prefixes can still waste attention bandwidth</a:t>
            </a:r>
          </a:p>
        </p:txBody>
      </p:sp>
      <p:sp>
        <p:nvSpPr>
          <p:cNvPr id="5" name="">
            <a:extLst xmlns:a="http://schemas.openxmlformats.org/drawingml/2006/main">
              <a:ext uri="{FF2B5EF4-FFF2-40B4-BE49-F238E27FC236}">
                <a16:creationId xmlns:a16="http://schemas.microsoft.com/office/drawing/2014/main" id="{63650951-29FD-437B-ADF5-4939A7A573F5}"/>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Even when KV storage is shared, existing attention kernels can reread the same prefix KV for each sequence.</a:t>
            </a:r>
          </a:p>
        </p:txBody>
      </p:sp>
      <p:sp>
        <p:nvSpPr>
          <p:cNvPr id="6" name="">
            <a:extLst xmlns:a="http://schemas.openxmlformats.org/drawingml/2006/main">
              <a:ext uri="{FF2B5EF4-FFF2-40B4-BE49-F238E27FC236}">
                <a16:creationId xmlns:a16="http://schemas.microsoft.com/office/drawing/2014/main" id="{C0B10A84-3218-4D97-8133-C7FB95BC973A}"/>
              </a:ext>
            </a:extLst>
          </p:cNvPr>
          <p:cNvSpPr>
            <a:spLocks xmlns:a="http://schemas.openxmlformats.org/drawingml/2006/main" noGrp="1"/>
          </p:cNvSpPr>
          <p:nvPr/>
        </p:nvSpPr>
        <p:spPr>
          <a:xfrm xmlns:a="http://schemas.openxmlformats.org/drawingml/2006/main">
            <a:off x="666750" y="2247900"/>
            <a:ext cx="3381375" cy="27241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7" name="">
            <a:extLst xmlns:a="http://schemas.openxmlformats.org/drawingml/2006/main">
              <a:ext uri="{FF2B5EF4-FFF2-40B4-BE49-F238E27FC236}">
                <a16:creationId xmlns:a16="http://schemas.microsoft.com/office/drawing/2014/main" id="{72486432-F2F1-40BE-AEB3-5B28BC660B5E}"/>
              </a:ext>
            </a:extLst>
          </p:cNvPr>
          <p:cNvSpPr>
            <a:spLocks xmlns:a="http://schemas.openxmlformats.org/drawingml/2006/main" noGrp="1"/>
          </p:cNvSpPr>
          <p:nvPr/>
        </p:nvSpPr>
        <p:spPr>
          <a:xfrm xmlns:a="http://schemas.openxmlformats.org/drawingml/2006/main">
            <a:off x="666750" y="2247900"/>
            <a:ext cx="47625" cy="2724150"/>
          </a:xfrm>
          <a:prstGeom xmlns:a="http://schemas.openxmlformats.org/drawingml/2006/main" prst="rect">
            <a:avLst/>
          </a:prstGeom>
          <a:solidFill xmlns:a="http://schemas.openxmlformats.org/drawingml/2006/main">
            <a:srgbClr val="B998F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096D820-D3AE-4FA1-B07C-C80E2B74504F}"/>
              </a:ext>
            </a:extLst>
          </p:cNvPr>
          <p:cNvSpPr>
            <a:spLocks xmlns:a="http://schemas.openxmlformats.org/drawingml/2006/main" noGrp="1"/>
          </p:cNvSpPr>
          <p:nvPr/>
        </p:nvSpPr>
        <p:spPr>
          <a:xfrm xmlns:a="http://schemas.openxmlformats.org/drawingml/2006/main">
            <a:off x="838200" y="2400300"/>
            <a:ext cx="3038475"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Problem</a:t>
            </a:r>
          </a:p>
        </p:txBody>
      </p:sp>
      <p:sp>
        <p:nvSpPr>
          <p:cNvPr id="9" name="">
            <a:extLst xmlns:a="http://schemas.openxmlformats.org/drawingml/2006/main">
              <a:ext uri="{FF2B5EF4-FFF2-40B4-BE49-F238E27FC236}">
                <a16:creationId xmlns:a16="http://schemas.microsoft.com/office/drawing/2014/main" id="{A18AA0E7-1D50-4478-927B-98590025FC34}"/>
              </a:ext>
            </a:extLst>
          </p:cNvPr>
          <p:cNvSpPr>
            <a:spLocks xmlns:a="http://schemas.openxmlformats.org/drawingml/2006/main" noGrp="1"/>
          </p:cNvSpPr>
          <p:nvPr/>
        </p:nvSpPr>
        <p:spPr>
          <a:xfrm xmlns:a="http://schemas.openxmlformats.org/drawingml/2006/main">
            <a:off x="838200" y="2724150"/>
            <a:ext cx="3038475" cy="2133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PagedAttention reduces duplicated KV storage, but large batches with long shared prefixes can still repeatedly read the same prefix keys and values during decode.</a:t>
            </a:r>
          </a:p>
        </p:txBody>
      </p:sp>
      <p:sp>
        <p:nvSpPr>
          <p:cNvPr id="10" name="">
            <a:extLst xmlns:a="http://schemas.openxmlformats.org/drawingml/2006/main">
              <a:ext uri="{FF2B5EF4-FFF2-40B4-BE49-F238E27FC236}">
                <a16:creationId xmlns:a16="http://schemas.microsoft.com/office/drawing/2014/main" id="{BDA4692A-0D5B-411B-9F1A-145A3179379C}"/>
              </a:ext>
            </a:extLst>
          </p:cNvPr>
          <p:cNvSpPr>
            <a:spLocks xmlns:a="http://schemas.openxmlformats.org/drawingml/2006/main" noGrp="1"/>
          </p:cNvSpPr>
          <p:nvPr/>
        </p:nvSpPr>
        <p:spPr>
          <a:xfrm xmlns:a="http://schemas.openxmlformats.org/drawingml/2006/main">
            <a:off x="5191125" y="1895475"/>
            <a:ext cx="2667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998FF"/>
                </a:solidFill>
                <a:latin typeface="Aptos"/>
                <a:ea typeface="Aptos"/>
                <a:cs typeface="Aptos"/>
              </a:defRPr>
            </a:pPr>
            <a:r>
              <a:rPr sz="975" b="1">
                <a:solidFill>
                  <a:srgbClr val="B998FF"/>
                </a:solidFill>
                <a:latin typeface="Aptos"/>
                <a:ea typeface="Aptos"/>
                <a:cs typeface="Aptos"/>
              </a:rPr>
              <a:t>Attention decomposition</a:t>
            </a:r>
          </a:p>
        </p:txBody>
      </p:sp>
      <p:sp>
        <p:nvSpPr>
          <p:cNvPr id="11" name="">
            <a:extLst xmlns:a="http://schemas.openxmlformats.org/drawingml/2006/main">
              <a:ext uri="{FF2B5EF4-FFF2-40B4-BE49-F238E27FC236}">
                <a16:creationId xmlns:a16="http://schemas.microsoft.com/office/drawing/2014/main" id="{D06987AB-A9B9-4B26-9FC1-A7A7773C92A1}"/>
              </a:ext>
            </a:extLst>
          </p:cNvPr>
          <p:cNvSpPr>
            <a:spLocks xmlns:a="http://schemas.openxmlformats.org/drawingml/2006/main" noGrp="1"/>
          </p:cNvSpPr>
          <p:nvPr/>
        </p:nvSpPr>
        <p:spPr>
          <a:xfrm xmlns:a="http://schemas.openxmlformats.org/drawingml/2006/main">
            <a:off x="5191125" y="2143125"/>
            <a:ext cx="2095500" cy="552450"/>
          </a:xfrm>
          <a:prstGeom xmlns:a="http://schemas.openxmlformats.org/drawingml/2006/main" prst="rect">
            <a:avLst/>
          </a:prstGeom>
          <a:solidFill xmlns:a="http://schemas.openxmlformats.org/drawingml/2006/main">
            <a:srgbClr val="241F35"/>
          </a:solidFill>
          <a:ln xmlns:a="http://schemas.openxmlformats.org/drawingml/2006/main" w="9525">
            <a:solidFill>
              <a:srgbClr val="B998FF"/>
            </a:solidFill>
            <a:prstDash val="solid"/>
          </a:ln>
        </p:spPr>
      </p:sp>
      <p:sp>
        <p:nvSpPr>
          <p:cNvPr id="12" name="">
            <a:extLst xmlns:a="http://schemas.openxmlformats.org/drawingml/2006/main">
              <a:ext uri="{FF2B5EF4-FFF2-40B4-BE49-F238E27FC236}">
                <a16:creationId xmlns:a16="http://schemas.microsoft.com/office/drawing/2014/main" id="{6064EC19-AD70-4098-BE8A-FA14B96884A7}"/>
              </a:ext>
            </a:extLst>
          </p:cNvPr>
          <p:cNvSpPr>
            <a:spLocks xmlns:a="http://schemas.openxmlformats.org/drawingml/2006/main" noGrp="1"/>
          </p:cNvSpPr>
          <p:nvPr/>
        </p:nvSpPr>
        <p:spPr>
          <a:xfrm xmlns:a="http://schemas.openxmlformats.org/drawingml/2006/main">
            <a:off x="5191125" y="2314575"/>
            <a:ext cx="209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7F3EA"/>
                </a:solidFill>
                <a:latin typeface="Aptos"/>
                <a:ea typeface="Aptos"/>
                <a:cs typeface="Aptos"/>
              </a:defRPr>
            </a:pPr>
            <a:r>
              <a:rPr sz="1200" b="1">
                <a:solidFill>
                  <a:srgbClr val="F7F3EA"/>
                </a:solidFill>
                <a:latin typeface="Aptos"/>
                <a:ea typeface="Aptos"/>
                <a:cs typeface="Aptos"/>
              </a:rPr>
              <a:t>shared prefix attention</a:t>
            </a:r>
          </a:p>
        </p:txBody>
      </p:sp>
      <p:sp>
        <p:nvSpPr>
          <p:cNvPr id="13" name="">
            <a:extLst xmlns:a="http://schemas.openxmlformats.org/drawingml/2006/main">
              <a:ext uri="{FF2B5EF4-FFF2-40B4-BE49-F238E27FC236}">
                <a16:creationId xmlns:a16="http://schemas.microsoft.com/office/drawing/2014/main" id="{B1CFC561-0E88-4044-8D94-8ED9BEE8F620}"/>
              </a:ext>
            </a:extLst>
          </p:cNvPr>
          <p:cNvSpPr>
            <a:spLocks xmlns:a="http://schemas.openxmlformats.org/drawingml/2006/main" noGrp="1"/>
          </p:cNvSpPr>
          <p:nvPr/>
        </p:nvSpPr>
        <p:spPr>
          <a:xfrm xmlns:a="http://schemas.openxmlformats.org/drawingml/2006/main">
            <a:off x="7810500" y="3095625"/>
            <a:ext cx="2095500" cy="4572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4" name="">
            <a:extLst xmlns:a="http://schemas.openxmlformats.org/drawingml/2006/main">
              <a:ext uri="{FF2B5EF4-FFF2-40B4-BE49-F238E27FC236}">
                <a16:creationId xmlns:a16="http://schemas.microsoft.com/office/drawing/2014/main" id="{43AE6D91-1558-4D41-90AF-82A3994A8291}"/>
              </a:ext>
            </a:extLst>
          </p:cNvPr>
          <p:cNvSpPr>
            <a:spLocks xmlns:a="http://schemas.openxmlformats.org/drawingml/2006/main" noGrp="1"/>
          </p:cNvSpPr>
          <p:nvPr/>
        </p:nvSpPr>
        <p:spPr>
          <a:xfrm xmlns:a="http://schemas.openxmlformats.org/drawingml/2006/main">
            <a:off x="7810500" y="322897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7F3EA"/>
                </a:solidFill>
                <a:latin typeface="Aptos"/>
                <a:ea typeface="Aptos"/>
                <a:cs typeface="Aptos"/>
              </a:defRPr>
            </a:pPr>
            <a:r>
              <a:rPr sz="1125" b="0">
                <a:solidFill>
                  <a:srgbClr val="F7F3EA"/>
                </a:solidFill>
                <a:latin typeface="Aptos"/>
                <a:ea typeface="Aptos"/>
                <a:cs typeface="Aptos"/>
              </a:rPr>
              <a:t>unique suffix 1</a:t>
            </a:r>
          </a:p>
        </p:txBody>
      </p:sp>
      <p:sp>
        <p:nvSpPr>
          <p:cNvPr id="15" name="">
            <a:extLst xmlns:a="http://schemas.openxmlformats.org/drawingml/2006/main">
              <a:ext uri="{FF2B5EF4-FFF2-40B4-BE49-F238E27FC236}">
                <a16:creationId xmlns:a16="http://schemas.microsoft.com/office/drawing/2014/main" id="{0715EA40-8C4D-4B85-8790-BF1B687F7FEF}"/>
              </a:ext>
            </a:extLst>
          </p:cNvPr>
          <p:cNvSpPr>
            <a:spLocks xmlns:a="http://schemas.openxmlformats.org/drawingml/2006/main" noGrp="1"/>
          </p:cNvSpPr>
          <p:nvPr/>
        </p:nvSpPr>
        <p:spPr>
          <a:xfrm xmlns:a="http://schemas.openxmlformats.org/drawingml/2006/main">
            <a:off x="7810500" y="3781425"/>
            <a:ext cx="2095500" cy="4572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6" name="">
            <a:extLst xmlns:a="http://schemas.openxmlformats.org/drawingml/2006/main">
              <a:ext uri="{FF2B5EF4-FFF2-40B4-BE49-F238E27FC236}">
                <a16:creationId xmlns:a16="http://schemas.microsoft.com/office/drawing/2014/main" id="{8FAD2231-8903-472F-802F-EE6D2011824A}"/>
              </a:ext>
            </a:extLst>
          </p:cNvPr>
          <p:cNvSpPr>
            <a:spLocks xmlns:a="http://schemas.openxmlformats.org/drawingml/2006/main" noGrp="1"/>
          </p:cNvSpPr>
          <p:nvPr/>
        </p:nvSpPr>
        <p:spPr>
          <a:xfrm xmlns:a="http://schemas.openxmlformats.org/drawingml/2006/main">
            <a:off x="7810500" y="391477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7F3EA"/>
                </a:solidFill>
                <a:latin typeface="Aptos"/>
                <a:ea typeface="Aptos"/>
                <a:cs typeface="Aptos"/>
              </a:defRPr>
            </a:pPr>
            <a:r>
              <a:rPr sz="1125" b="0">
                <a:solidFill>
                  <a:srgbClr val="F7F3EA"/>
                </a:solidFill>
                <a:latin typeface="Aptos"/>
                <a:ea typeface="Aptos"/>
                <a:cs typeface="Aptos"/>
              </a:rPr>
              <a:t>unique suffix 2</a:t>
            </a:r>
          </a:p>
        </p:txBody>
      </p:sp>
      <p:sp>
        <p:nvSpPr>
          <p:cNvPr id="17" name="">
            <a:extLst xmlns:a="http://schemas.openxmlformats.org/drawingml/2006/main">
              <a:ext uri="{FF2B5EF4-FFF2-40B4-BE49-F238E27FC236}">
                <a16:creationId xmlns:a16="http://schemas.microsoft.com/office/drawing/2014/main" id="{B4E3B929-075D-4C6C-A6E3-2242B08D4BA3}"/>
              </a:ext>
            </a:extLst>
          </p:cNvPr>
          <p:cNvSpPr>
            <a:spLocks xmlns:a="http://schemas.openxmlformats.org/drawingml/2006/main" noGrp="1"/>
          </p:cNvSpPr>
          <p:nvPr/>
        </p:nvSpPr>
        <p:spPr>
          <a:xfrm xmlns:a="http://schemas.openxmlformats.org/drawingml/2006/main">
            <a:off x="7810500" y="4467225"/>
            <a:ext cx="2095500" cy="4572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8" name="">
            <a:extLst xmlns:a="http://schemas.openxmlformats.org/drawingml/2006/main">
              <a:ext uri="{FF2B5EF4-FFF2-40B4-BE49-F238E27FC236}">
                <a16:creationId xmlns:a16="http://schemas.microsoft.com/office/drawing/2014/main" id="{FE4EC28C-B126-4ECD-81E0-A13AF0D26653}"/>
              </a:ext>
            </a:extLst>
          </p:cNvPr>
          <p:cNvSpPr>
            <a:spLocks xmlns:a="http://schemas.openxmlformats.org/drawingml/2006/main" noGrp="1"/>
          </p:cNvSpPr>
          <p:nvPr/>
        </p:nvSpPr>
        <p:spPr>
          <a:xfrm xmlns:a="http://schemas.openxmlformats.org/drawingml/2006/main">
            <a:off x="7810500" y="4600575"/>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F7F3EA"/>
                </a:solidFill>
                <a:latin typeface="Aptos"/>
                <a:ea typeface="Aptos"/>
                <a:cs typeface="Aptos"/>
              </a:defRPr>
            </a:pPr>
            <a:r>
              <a:rPr sz="1125" b="0">
                <a:solidFill>
                  <a:srgbClr val="F7F3EA"/>
                </a:solidFill>
                <a:latin typeface="Aptos"/>
                <a:ea typeface="Aptos"/>
                <a:cs typeface="Aptos"/>
              </a:rPr>
              <a:t>unique suffix 3</a:t>
            </a:r>
          </a:p>
        </p:txBody>
      </p:sp>
      <p:sp>
        <p:nvSpPr>
          <p:cNvPr id="19" name="">
            <a:extLst xmlns:a="http://schemas.openxmlformats.org/drawingml/2006/main">
              <a:ext uri="{FF2B5EF4-FFF2-40B4-BE49-F238E27FC236}">
                <a16:creationId xmlns:a16="http://schemas.microsoft.com/office/drawing/2014/main" id="{AD41317F-3BE1-45CE-B684-C255EC987535}"/>
              </a:ext>
            </a:extLst>
          </p:cNvPr>
          <p:cNvSpPr>
            <a:spLocks xmlns:a="http://schemas.openxmlformats.org/drawingml/2006/main" noGrp="1"/>
          </p:cNvSpPr>
          <p:nvPr/>
        </p:nvSpPr>
        <p:spPr>
          <a:xfrm xmlns:a="http://schemas.openxmlformats.org/drawingml/2006/main">
            <a:off x="6238875" y="2714625"/>
            <a:ext cx="19050" cy="20955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9AE81C07-F6AD-4846-89B6-657ABDC49E64}"/>
              </a:ext>
            </a:extLst>
          </p:cNvPr>
          <p:cNvSpPr>
            <a:spLocks xmlns:a="http://schemas.openxmlformats.org/drawingml/2006/main" noGrp="1"/>
          </p:cNvSpPr>
          <p:nvPr/>
        </p:nvSpPr>
        <p:spPr>
          <a:xfrm xmlns:a="http://schemas.openxmlformats.org/drawingml/2006/main">
            <a:off x="6238875" y="3476625"/>
            <a:ext cx="1571625" cy="1905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FBAD6C7-C4BD-42CD-BB64-4EA84EB16C16}"/>
              </a:ext>
            </a:extLst>
          </p:cNvPr>
          <p:cNvSpPr>
            <a:spLocks xmlns:a="http://schemas.openxmlformats.org/drawingml/2006/main" noGrp="1"/>
          </p:cNvSpPr>
          <p:nvPr/>
        </p:nvSpPr>
        <p:spPr>
          <a:xfrm xmlns:a="http://schemas.openxmlformats.org/drawingml/2006/main">
            <a:off x="6238875" y="4162425"/>
            <a:ext cx="1571625" cy="1905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08ADC29E-CC0B-4AEA-A605-C6BCB3590A5E}"/>
              </a:ext>
            </a:extLst>
          </p:cNvPr>
          <p:cNvSpPr>
            <a:spLocks xmlns:a="http://schemas.openxmlformats.org/drawingml/2006/main" noGrp="1"/>
          </p:cNvSpPr>
          <p:nvPr/>
        </p:nvSpPr>
        <p:spPr>
          <a:xfrm xmlns:a="http://schemas.openxmlformats.org/drawingml/2006/main">
            <a:off x="6238875" y="4848225"/>
            <a:ext cx="1571625" cy="1905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C982EFC3-69EC-4E68-88F7-ACDC3EFA05EB}"/>
              </a:ext>
            </a:extLst>
          </p:cNvPr>
          <p:cNvSpPr>
            <a:spLocks xmlns:a="http://schemas.openxmlformats.org/drawingml/2006/main" noGrp="1"/>
          </p:cNvSpPr>
          <p:nvPr/>
        </p:nvSpPr>
        <p:spPr>
          <a:xfrm xmlns:a="http://schemas.openxmlformats.org/drawingml/2006/main">
            <a:off x="5191125" y="5381625"/>
            <a:ext cx="52387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Hydragen computes prefix attention once across sequences, computes suffix attention separately, then merges outputs with softmax normalization.</a:t>
            </a:r>
          </a:p>
        </p:txBody>
      </p:sp>
      <p:sp>
        <p:nvSpPr>
          <p:cNvPr id="24" name="">
            <a:extLst xmlns:a="http://schemas.openxmlformats.org/drawingml/2006/main">
              <a:ext uri="{FF2B5EF4-FFF2-40B4-BE49-F238E27FC236}">
                <a16:creationId xmlns:a16="http://schemas.microsoft.com/office/drawing/2014/main" id="{83EBC3A9-C613-4B87-90B4-AEDA933E0A10}"/>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Source: Juravsky et al., 2024; Yuhjen Sun summary</a:t>
            </a:r>
          </a:p>
        </p:txBody>
      </p:sp>
    </p:spTree>
    <p:extLst>
      <p:ext uri="{BB962C8B-B14F-4D97-AF65-F5344CB8AC3E}">
        <p14:creationId xmlns:p14="http://schemas.microsoft.com/office/powerpoint/2010/main" val="4597896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5ABA0E-5AD1-428B-8511-87D5271E0A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5D947EE-22C1-427E-A5B1-C7566A1A5F1E}"/>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Hydragen · IMPLICATIONS</a:t>
            </a:r>
          </a:p>
        </p:txBody>
      </p:sp>
      <p:sp>
        <p:nvSpPr>
          <p:cNvPr id="3" name="">
            <a:extLst xmlns:a="http://schemas.openxmlformats.org/drawingml/2006/main">
              <a:ext uri="{FF2B5EF4-FFF2-40B4-BE49-F238E27FC236}">
                <a16:creationId xmlns:a16="http://schemas.microsoft.com/office/drawing/2014/main" id="{941BAFE3-D99B-44C5-8020-B8EDD1B11587}"/>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551EDE11-BFE0-43D0-9629-0334D16F9C55}"/>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The benefit depends on batch size and prefix length</a:t>
            </a:r>
          </a:p>
        </p:txBody>
      </p:sp>
      <p:sp>
        <p:nvSpPr>
          <p:cNvPr id="5" name="">
            <a:extLst xmlns:a="http://schemas.openxmlformats.org/drawingml/2006/main">
              <a:ext uri="{FF2B5EF4-FFF2-40B4-BE49-F238E27FC236}">
                <a16:creationId xmlns:a16="http://schemas.microsoft.com/office/drawing/2014/main" id="{A3771ABA-BD36-41BA-8DA5-E69E68F46D45}"/>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Hydragen is powerful when many requests share a long context; it is not the first thing to implement for a small capstone system.</a:t>
            </a:r>
          </a:p>
        </p:txBody>
      </p:sp>
      <p:sp>
        <p:nvSpPr>
          <p:cNvPr id="6" name="">
            <a:extLst xmlns:a="http://schemas.openxmlformats.org/drawingml/2006/main">
              <a:ext uri="{FF2B5EF4-FFF2-40B4-BE49-F238E27FC236}">
                <a16:creationId xmlns:a16="http://schemas.microsoft.com/office/drawing/2014/main" id="{571C4EDE-AFF1-4F17-AAD9-EF90B4FE0190}"/>
              </a:ext>
            </a:extLst>
          </p:cNvPr>
          <p:cNvSpPr>
            <a:spLocks xmlns:a="http://schemas.openxmlformats.org/drawingml/2006/main" noGrp="1"/>
          </p:cNvSpPr>
          <p:nvPr/>
        </p:nvSpPr>
        <p:spPr>
          <a:xfrm xmlns:a="http://schemas.openxmlformats.org/drawingml/2006/main">
            <a:off x="904875" y="242887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CodeLlama-13B decode throughput</a:t>
            </a:r>
          </a:p>
        </p:txBody>
      </p:sp>
      <p:sp>
        <p:nvSpPr>
          <p:cNvPr id="7" name="">
            <a:extLst xmlns:a="http://schemas.openxmlformats.org/drawingml/2006/main">
              <a:ext uri="{FF2B5EF4-FFF2-40B4-BE49-F238E27FC236}">
                <a16:creationId xmlns:a16="http://schemas.microsoft.com/office/drawing/2014/main" id="{B94025F8-33C1-4CF7-8766-CC212053DAB0}"/>
              </a:ext>
            </a:extLst>
          </p:cNvPr>
          <p:cNvSpPr>
            <a:spLocks xmlns:a="http://schemas.openxmlformats.org/drawingml/2006/main" noGrp="1"/>
          </p:cNvSpPr>
          <p:nvPr/>
        </p:nvSpPr>
        <p:spPr>
          <a:xfrm xmlns:a="http://schemas.openxmlformats.org/drawingml/2006/main">
            <a:off x="4286250" y="242887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up to 32x</a:t>
            </a:r>
          </a:p>
        </p:txBody>
      </p:sp>
      <p:sp>
        <p:nvSpPr>
          <p:cNvPr id="8" name="">
            <a:extLst xmlns:a="http://schemas.openxmlformats.org/drawingml/2006/main">
              <a:ext uri="{FF2B5EF4-FFF2-40B4-BE49-F238E27FC236}">
                <a16:creationId xmlns:a16="http://schemas.microsoft.com/office/drawing/2014/main" id="{00F7B4B1-C2AF-4720-AB7D-89E17854F78F}"/>
              </a:ext>
            </a:extLst>
          </p:cNvPr>
          <p:cNvSpPr>
            <a:spLocks xmlns:a="http://schemas.openxmlformats.org/drawingml/2006/main" noGrp="1"/>
          </p:cNvSpPr>
          <p:nvPr/>
        </p:nvSpPr>
        <p:spPr>
          <a:xfrm xmlns:a="http://schemas.openxmlformats.org/drawingml/2006/main">
            <a:off x="904875" y="2667000"/>
            <a:ext cx="4333875"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107FA7D-E123-4D72-A177-2D6F0F027708}"/>
              </a:ext>
            </a:extLst>
          </p:cNvPr>
          <p:cNvSpPr>
            <a:spLocks xmlns:a="http://schemas.openxmlformats.org/drawingml/2006/main" noGrp="1"/>
          </p:cNvSpPr>
          <p:nvPr/>
        </p:nvSpPr>
        <p:spPr>
          <a:xfrm xmlns:a="http://schemas.openxmlformats.org/drawingml/2006/main">
            <a:off x="904875" y="2667000"/>
            <a:ext cx="4030504" cy="76200"/>
          </a:xfrm>
          <a:prstGeom xmlns:a="http://schemas.openxmlformats.org/drawingml/2006/main" prst="rect">
            <a:avLst/>
          </a:prstGeom>
          <a:solidFill xmlns:a="http://schemas.openxmlformats.org/drawingml/2006/main">
            <a:srgbClr val="B998FF"/>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BEC2F16-7462-4CDE-9174-D0BE05B0252D}"/>
              </a:ext>
            </a:extLst>
          </p:cNvPr>
          <p:cNvSpPr>
            <a:spLocks xmlns:a="http://schemas.openxmlformats.org/drawingml/2006/main" noGrp="1"/>
          </p:cNvSpPr>
          <p:nvPr/>
        </p:nvSpPr>
        <p:spPr>
          <a:xfrm xmlns:a="http://schemas.openxmlformats.org/drawingml/2006/main">
            <a:off x="904875" y="319087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Long-document batch fit</a:t>
            </a:r>
          </a:p>
        </p:txBody>
      </p:sp>
      <p:sp>
        <p:nvSpPr>
          <p:cNvPr id="11" name="">
            <a:extLst xmlns:a="http://schemas.openxmlformats.org/drawingml/2006/main">
              <a:ext uri="{FF2B5EF4-FFF2-40B4-BE49-F238E27FC236}">
                <a16:creationId xmlns:a16="http://schemas.microsoft.com/office/drawing/2014/main" id="{BB50F10F-E63B-4FC3-A184-DA5CA64366BE}"/>
              </a:ext>
            </a:extLst>
          </p:cNvPr>
          <p:cNvSpPr>
            <a:spLocks xmlns:a="http://schemas.openxmlformats.org/drawingml/2006/main" noGrp="1"/>
          </p:cNvSpPr>
          <p:nvPr/>
        </p:nvSpPr>
        <p:spPr>
          <a:xfrm xmlns:a="http://schemas.openxmlformats.org/drawingml/2006/main">
            <a:off x="4286250" y="319087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strong</a:t>
            </a:r>
          </a:p>
        </p:txBody>
      </p:sp>
      <p:sp>
        <p:nvSpPr>
          <p:cNvPr id="12" name="">
            <a:extLst xmlns:a="http://schemas.openxmlformats.org/drawingml/2006/main">
              <a:ext uri="{FF2B5EF4-FFF2-40B4-BE49-F238E27FC236}">
                <a16:creationId xmlns:a16="http://schemas.microsoft.com/office/drawing/2014/main" id="{5490CE42-9856-4DED-9680-16EAD024C522}"/>
              </a:ext>
            </a:extLst>
          </p:cNvPr>
          <p:cNvSpPr>
            <a:spLocks xmlns:a="http://schemas.openxmlformats.org/drawingml/2006/main" noGrp="1"/>
          </p:cNvSpPr>
          <p:nvPr/>
        </p:nvSpPr>
        <p:spPr>
          <a:xfrm xmlns:a="http://schemas.openxmlformats.org/drawingml/2006/main">
            <a:off x="904875" y="3429000"/>
            <a:ext cx="4333875"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D8226FFD-9E6B-4F52-B410-82659897E347}"/>
              </a:ext>
            </a:extLst>
          </p:cNvPr>
          <p:cNvSpPr>
            <a:spLocks xmlns:a="http://schemas.openxmlformats.org/drawingml/2006/main" noGrp="1"/>
          </p:cNvSpPr>
          <p:nvPr/>
        </p:nvSpPr>
        <p:spPr>
          <a:xfrm xmlns:a="http://schemas.openxmlformats.org/drawingml/2006/main">
            <a:off x="904875" y="3429000"/>
            <a:ext cx="3553777" cy="7620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1F371D0-297F-4558-BFC2-51219DCD5D56}"/>
              </a:ext>
            </a:extLst>
          </p:cNvPr>
          <p:cNvSpPr>
            <a:spLocks xmlns:a="http://schemas.openxmlformats.org/drawingml/2006/main" noGrp="1"/>
          </p:cNvSpPr>
          <p:nvPr/>
        </p:nvSpPr>
        <p:spPr>
          <a:xfrm xmlns:a="http://schemas.openxmlformats.org/drawingml/2006/main">
            <a:off x="904875" y="395287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AEB7C4"/>
                </a:solidFill>
                <a:latin typeface="Aptos"/>
                <a:ea typeface="Aptos"/>
                <a:cs typeface="Aptos"/>
              </a:defRPr>
            </a:pPr>
            <a:r>
              <a:rPr sz="975" b="0">
                <a:solidFill>
                  <a:srgbClr val="AEB7C4"/>
                </a:solidFill>
                <a:latin typeface="Aptos"/>
                <a:ea typeface="Aptos"/>
                <a:cs typeface="Aptos"/>
              </a:rPr>
              <a:t>Small-batch usefulness</a:t>
            </a:r>
          </a:p>
        </p:txBody>
      </p:sp>
      <p:sp>
        <p:nvSpPr>
          <p:cNvPr id="15" name="">
            <a:extLst xmlns:a="http://schemas.openxmlformats.org/drawingml/2006/main">
              <a:ext uri="{FF2B5EF4-FFF2-40B4-BE49-F238E27FC236}">
                <a16:creationId xmlns:a16="http://schemas.microsoft.com/office/drawing/2014/main" id="{12B62D3E-0DB7-4283-985E-521EF7BDADBD}"/>
              </a:ext>
            </a:extLst>
          </p:cNvPr>
          <p:cNvSpPr>
            <a:spLocks xmlns:a="http://schemas.openxmlformats.org/drawingml/2006/main" noGrp="1"/>
          </p:cNvSpPr>
          <p:nvPr/>
        </p:nvSpPr>
        <p:spPr>
          <a:xfrm xmlns:a="http://schemas.openxmlformats.org/drawingml/2006/main">
            <a:off x="4286250" y="3952875"/>
            <a:ext cx="952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975" b="1">
                <a:solidFill>
                  <a:srgbClr val="F7F3EA"/>
                </a:solidFill>
                <a:latin typeface="Aptos"/>
                <a:ea typeface="Aptos"/>
                <a:cs typeface="Aptos"/>
              </a:defRPr>
            </a:pPr>
            <a:r>
              <a:rPr sz="975" b="1">
                <a:solidFill>
                  <a:srgbClr val="F7F3EA"/>
                </a:solidFill>
                <a:latin typeface="Aptos"/>
                <a:ea typeface="Aptos"/>
                <a:cs typeface="Aptos"/>
              </a:rPr>
              <a:t>open question</a:t>
            </a:r>
          </a:p>
        </p:txBody>
      </p:sp>
      <p:sp>
        <p:nvSpPr>
          <p:cNvPr id="16" name="">
            <a:extLst xmlns:a="http://schemas.openxmlformats.org/drawingml/2006/main">
              <a:ext uri="{FF2B5EF4-FFF2-40B4-BE49-F238E27FC236}">
                <a16:creationId xmlns:a16="http://schemas.microsoft.com/office/drawing/2014/main" id="{F3622882-53FE-4035-B57A-26944E20B51C}"/>
              </a:ext>
            </a:extLst>
          </p:cNvPr>
          <p:cNvSpPr>
            <a:spLocks xmlns:a="http://schemas.openxmlformats.org/drawingml/2006/main" noGrp="1"/>
          </p:cNvSpPr>
          <p:nvPr/>
        </p:nvSpPr>
        <p:spPr>
          <a:xfrm xmlns:a="http://schemas.openxmlformats.org/drawingml/2006/main">
            <a:off x="904875" y="4191000"/>
            <a:ext cx="4333875" cy="76200"/>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7CE4B12-B039-470D-8759-0576771EE26A}"/>
              </a:ext>
            </a:extLst>
          </p:cNvPr>
          <p:cNvSpPr>
            <a:spLocks xmlns:a="http://schemas.openxmlformats.org/drawingml/2006/main" noGrp="1"/>
          </p:cNvSpPr>
          <p:nvPr/>
        </p:nvSpPr>
        <p:spPr>
          <a:xfrm xmlns:a="http://schemas.openxmlformats.org/drawingml/2006/main">
            <a:off x="904875" y="4191000"/>
            <a:ext cx="1646873" cy="7620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0F9EADA8-C537-4410-9DC9-899BB1DCDBC8}"/>
              </a:ext>
            </a:extLst>
          </p:cNvPr>
          <p:cNvSpPr>
            <a:spLocks xmlns:a="http://schemas.openxmlformats.org/drawingml/2006/main" noGrp="1"/>
          </p:cNvSpPr>
          <p:nvPr/>
        </p:nvSpPr>
        <p:spPr>
          <a:xfrm xmlns:a="http://schemas.openxmlformats.org/drawingml/2006/main">
            <a:off x="6286500" y="2305050"/>
            <a:ext cx="4457700" cy="13335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9" name="">
            <a:extLst xmlns:a="http://schemas.openxmlformats.org/drawingml/2006/main">
              <a:ext uri="{FF2B5EF4-FFF2-40B4-BE49-F238E27FC236}">
                <a16:creationId xmlns:a16="http://schemas.microsoft.com/office/drawing/2014/main" id="{CED4960B-7111-4061-BA8A-6D83D2962804}"/>
              </a:ext>
            </a:extLst>
          </p:cNvPr>
          <p:cNvSpPr>
            <a:spLocks xmlns:a="http://schemas.openxmlformats.org/drawingml/2006/main" noGrp="1"/>
          </p:cNvSpPr>
          <p:nvPr/>
        </p:nvSpPr>
        <p:spPr>
          <a:xfrm xmlns:a="http://schemas.openxmlformats.org/drawingml/2006/main">
            <a:off x="6286500" y="2305050"/>
            <a:ext cx="47625" cy="1333500"/>
          </a:xfrm>
          <a:prstGeom xmlns:a="http://schemas.openxmlformats.org/drawingml/2006/main" prst="rect">
            <a:avLst/>
          </a:prstGeom>
          <a:solidFill xmlns:a="http://schemas.openxmlformats.org/drawingml/2006/main">
            <a:srgbClr val="B998FF"/>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E84F3A4C-9195-409A-B5F9-8973294974B9}"/>
              </a:ext>
            </a:extLst>
          </p:cNvPr>
          <p:cNvSpPr>
            <a:spLocks xmlns:a="http://schemas.openxmlformats.org/drawingml/2006/main" noGrp="1"/>
          </p:cNvSpPr>
          <p:nvPr/>
        </p:nvSpPr>
        <p:spPr>
          <a:xfrm xmlns:a="http://schemas.openxmlformats.org/drawingml/2006/main">
            <a:off x="6457950" y="2457450"/>
            <a:ext cx="4114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What we cite</a:t>
            </a:r>
          </a:p>
        </p:txBody>
      </p:sp>
      <p:sp>
        <p:nvSpPr>
          <p:cNvPr id="21" name="">
            <a:extLst xmlns:a="http://schemas.openxmlformats.org/drawingml/2006/main">
              <a:ext uri="{FF2B5EF4-FFF2-40B4-BE49-F238E27FC236}">
                <a16:creationId xmlns:a16="http://schemas.microsoft.com/office/drawing/2014/main" id="{8B54DBAC-FF07-4FCC-A024-33DE2B8E5B52}"/>
              </a:ext>
            </a:extLst>
          </p:cNvPr>
          <p:cNvSpPr>
            <a:spLocks xmlns:a="http://schemas.openxmlformats.org/drawingml/2006/main" noGrp="1"/>
          </p:cNvSpPr>
          <p:nvPr/>
        </p:nvSpPr>
        <p:spPr>
          <a:xfrm xmlns:a="http://schemas.openxmlformats.org/drawingml/2006/main">
            <a:off x="6457950" y="2781300"/>
            <a:ext cx="41148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Shared prefixes are not just a storage opportunity. They also change attention memory traffic and kernel efficiency.</a:t>
            </a:r>
          </a:p>
        </p:txBody>
      </p:sp>
      <p:sp>
        <p:nvSpPr>
          <p:cNvPr id="22" name="">
            <a:extLst xmlns:a="http://schemas.openxmlformats.org/drawingml/2006/main">
              <a:ext uri="{FF2B5EF4-FFF2-40B4-BE49-F238E27FC236}">
                <a16:creationId xmlns:a16="http://schemas.microsoft.com/office/drawing/2014/main" id="{EB7653C5-81B2-4D50-AB46-D70692549AA7}"/>
              </a:ext>
            </a:extLst>
          </p:cNvPr>
          <p:cNvSpPr>
            <a:spLocks xmlns:a="http://schemas.openxmlformats.org/drawingml/2006/main" noGrp="1"/>
          </p:cNvSpPr>
          <p:nvPr/>
        </p:nvSpPr>
        <p:spPr>
          <a:xfrm xmlns:a="http://schemas.openxmlformats.org/drawingml/2006/main">
            <a:off x="6286500" y="4000500"/>
            <a:ext cx="4457700" cy="13335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23" name="">
            <a:extLst xmlns:a="http://schemas.openxmlformats.org/drawingml/2006/main">
              <a:ext uri="{FF2B5EF4-FFF2-40B4-BE49-F238E27FC236}">
                <a16:creationId xmlns:a16="http://schemas.microsoft.com/office/drawing/2014/main" id="{000CC1AD-D5E5-4424-B497-4722F5902854}"/>
              </a:ext>
            </a:extLst>
          </p:cNvPr>
          <p:cNvSpPr>
            <a:spLocks xmlns:a="http://schemas.openxmlformats.org/drawingml/2006/main" noGrp="1"/>
          </p:cNvSpPr>
          <p:nvPr/>
        </p:nvSpPr>
        <p:spPr>
          <a:xfrm xmlns:a="http://schemas.openxmlformats.org/drawingml/2006/main">
            <a:off x="6286500" y="4000500"/>
            <a:ext cx="47625" cy="1333500"/>
          </a:xfrm>
          <a:prstGeom xmlns:a="http://schemas.openxmlformats.org/drawingml/2006/main" prst="rect">
            <a:avLst/>
          </a:prstGeom>
          <a:solidFill xmlns:a="http://schemas.openxmlformats.org/drawingml/2006/main">
            <a:srgbClr val="FF7A7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1F8459F6-560C-4BDF-932E-A568C148A433}"/>
              </a:ext>
            </a:extLst>
          </p:cNvPr>
          <p:cNvSpPr>
            <a:spLocks xmlns:a="http://schemas.openxmlformats.org/drawingml/2006/main" noGrp="1"/>
          </p:cNvSpPr>
          <p:nvPr/>
        </p:nvSpPr>
        <p:spPr>
          <a:xfrm xmlns:a="http://schemas.openxmlformats.org/drawingml/2006/main">
            <a:off x="6457950" y="4152900"/>
            <a:ext cx="4114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What we avoid</a:t>
            </a:r>
          </a:p>
        </p:txBody>
      </p:sp>
      <p:sp>
        <p:nvSpPr>
          <p:cNvPr id="25" name="">
            <a:extLst xmlns:a="http://schemas.openxmlformats.org/drawingml/2006/main">
              <a:ext uri="{FF2B5EF4-FFF2-40B4-BE49-F238E27FC236}">
                <a16:creationId xmlns:a16="http://schemas.microsoft.com/office/drawing/2014/main" id="{34BE66D6-806D-49A0-B9C1-CDF367F48D42}"/>
              </a:ext>
            </a:extLst>
          </p:cNvPr>
          <p:cNvSpPr>
            <a:spLocks xmlns:a="http://schemas.openxmlformats.org/drawingml/2006/main" noGrp="1"/>
          </p:cNvSpPr>
          <p:nvPr/>
        </p:nvSpPr>
        <p:spPr>
          <a:xfrm xmlns:a="http://schemas.openxmlformats.org/drawingml/2006/main">
            <a:off x="6457950" y="4476750"/>
            <a:ext cx="41148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Implementing Hydragen-level attention kernels is too low-level for this timeline. We keep our contribution at scheduler and cache policy level.</a:t>
            </a:r>
          </a:p>
        </p:txBody>
      </p:sp>
      <p:sp>
        <p:nvSpPr>
          <p:cNvPr id="26" name="">
            <a:extLst xmlns:a="http://schemas.openxmlformats.org/drawingml/2006/main">
              <a:ext uri="{FF2B5EF4-FFF2-40B4-BE49-F238E27FC236}">
                <a16:creationId xmlns:a16="http://schemas.microsoft.com/office/drawing/2014/main" id="{D58CED6C-5F03-449B-A789-86720EBE5317}"/>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Source: Juravsky et al., 2024; Yuhjen Sun summary</a:t>
            </a:r>
          </a:p>
        </p:txBody>
      </p:sp>
    </p:spTree>
    <p:extLst>
      <p:ext uri="{BB962C8B-B14F-4D97-AF65-F5344CB8AC3E}">
        <p14:creationId xmlns:p14="http://schemas.microsoft.com/office/powerpoint/2010/main" val="87681769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4C573C5-9A5F-45F7-85CE-11C2EE7E94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F122109-1720-49F7-B0DB-517E1359E575}"/>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SYNTHESIS</a:t>
            </a:r>
          </a:p>
        </p:txBody>
      </p:sp>
      <p:sp>
        <p:nvSpPr>
          <p:cNvPr id="3" name="">
            <a:extLst xmlns:a="http://schemas.openxmlformats.org/drawingml/2006/main">
              <a:ext uri="{FF2B5EF4-FFF2-40B4-BE49-F238E27FC236}">
                <a16:creationId xmlns:a16="http://schemas.microsoft.com/office/drawing/2014/main" id="{476BED42-5A31-4E90-9443-F6CC0B4B01DF}"/>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70DDF35-0EAB-41C0-9EC9-7EF29325534A}"/>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What is still missing?</a:t>
            </a:r>
          </a:p>
        </p:txBody>
      </p:sp>
      <p:sp>
        <p:nvSpPr>
          <p:cNvPr id="5" name="">
            <a:extLst xmlns:a="http://schemas.openxmlformats.org/drawingml/2006/main">
              <a:ext uri="{FF2B5EF4-FFF2-40B4-BE49-F238E27FC236}">
                <a16:creationId xmlns:a16="http://schemas.microsoft.com/office/drawing/2014/main" id="{F71EC15A-DEE4-4D69-9FA7-02E2FE84825C}"/>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They do not answer which prefix-sharing requests should run together under cache pressure.</a:t>
            </a:r>
          </a:p>
        </p:txBody>
      </p:sp>
      <p:sp>
        <p:nvSpPr>
          <p:cNvPr id="6" name="">
            <a:extLst xmlns:a="http://schemas.openxmlformats.org/drawingml/2006/main">
              <a:ext uri="{FF2B5EF4-FFF2-40B4-BE49-F238E27FC236}">
                <a16:creationId xmlns:a16="http://schemas.microsoft.com/office/drawing/2014/main" id="{1BA8AE48-3A01-4EBF-ADEB-18590D5AF2BA}"/>
              </a:ext>
            </a:extLst>
          </p:cNvPr>
          <p:cNvSpPr>
            <a:spLocks xmlns:a="http://schemas.openxmlformats.org/drawingml/2006/main" noGrp="1"/>
          </p:cNvSpPr>
          <p:nvPr/>
        </p:nvSpPr>
        <p:spPr>
          <a:xfrm xmlns:a="http://schemas.openxmlformats.org/drawingml/2006/main">
            <a:off x="781050" y="1866900"/>
            <a:ext cx="4705350" cy="4000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7" name="">
            <a:extLst xmlns:a="http://schemas.openxmlformats.org/drawingml/2006/main">
              <a:ext uri="{FF2B5EF4-FFF2-40B4-BE49-F238E27FC236}">
                <a16:creationId xmlns:a16="http://schemas.microsoft.com/office/drawing/2014/main" id="{91531811-49ED-427F-8223-B9AFADD03142}"/>
              </a:ext>
            </a:extLst>
          </p:cNvPr>
          <p:cNvSpPr>
            <a:spLocks xmlns:a="http://schemas.openxmlformats.org/drawingml/2006/main" noGrp="1"/>
          </p:cNvSpPr>
          <p:nvPr/>
        </p:nvSpPr>
        <p:spPr>
          <a:xfrm xmlns:a="http://schemas.openxmlformats.org/drawingml/2006/main">
            <a:off x="952500" y="1971675"/>
            <a:ext cx="4362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72A7FF"/>
                </a:solidFill>
                <a:latin typeface="Aptos"/>
                <a:ea typeface="Aptos"/>
                <a:cs typeface="Aptos"/>
              </a:defRPr>
            </a:pPr>
            <a:r>
              <a:rPr sz="1125" b="1">
                <a:solidFill>
                  <a:srgbClr val="72A7FF"/>
                </a:solidFill>
                <a:latin typeface="Aptos"/>
                <a:ea typeface="Aptos"/>
                <a:cs typeface="Aptos"/>
              </a:rPr>
              <a:t>What related work gives us</a:t>
            </a:r>
          </a:p>
        </p:txBody>
      </p:sp>
      <p:sp>
        <p:nvSpPr>
          <p:cNvPr id="8" name="">
            <a:extLst xmlns:a="http://schemas.openxmlformats.org/drawingml/2006/main">
              <a:ext uri="{FF2B5EF4-FFF2-40B4-BE49-F238E27FC236}">
                <a16:creationId xmlns:a16="http://schemas.microsoft.com/office/drawing/2014/main" id="{5982DA1A-E9D8-4037-8D05-98D583746EEE}"/>
              </a:ext>
            </a:extLst>
          </p:cNvPr>
          <p:cNvSpPr>
            <a:spLocks xmlns:a="http://schemas.openxmlformats.org/drawingml/2006/main" noGrp="1"/>
          </p:cNvSpPr>
          <p:nvPr/>
        </p:nvSpPr>
        <p:spPr>
          <a:xfrm xmlns:a="http://schemas.openxmlformats.org/drawingml/2006/main">
            <a:off x="5638800" y="1866900"/>
            <a:ext cx="4705350" cy="4000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9" name="">
            <a:extLst xmlns:a="http://schemas.openxmlformats.org/drawingml/2006/main">
              <a:ext uri="{FF2B5EF4-FFF2-40B4-BE49-F238E27FC236}">
                <a16:creationId xmlns:a16="http://schemas.microsoft.com/office/drawing/2014/main" id="{356654E2-4CC1-4759-ADD0-F9DC92C8DB0B}"/>
              </a:ext>
            </a:extLst>
          </p:cNvPr>
          <p:cNvSpPr>
            <a:spLocks xmlns:a="http://schemas.openxmlformats.org/drawingml/2006/main" noGrp="1"/>
          </p:cNvSpPr>
          <p:nvPr/>
        </p:nvSpPr>
        <p:spPr>
          <a:xfrm xmlns:a="http://schemas.openxmlformats.org/drawingml/2006/main">
            <a:off x="5810250" y="1971675"/>
            <a:ext cx="4362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1">
                <a:solidFill>
                  <a:srgbClr val="7BD88F"/>
                </a:solidFill>
                <a:latin typeface="Aptos"/>
                <a:ea typeface="Aptos"/>
                <a:cs typeface="Aptos"/>
              </a:defRPr>
            </a:pPr>
            <a:r>
              <a:rPr sz="1125" b="1">
                <a:solidFill>
                  <a:srgbClr val="7BD88F"/>
                </a:solidFill>
                <a:latin typeface="Aptos"/>
                <a:ea typeface="Aptos"/>
                <a:cs typeface="Aptos"/>
              </a:rPr>
              <a:t>Question for our capstone</a:t>
            </a:r>
          </a:p>
        </p:txBody>
      </p:sp>
      <p:sp>
        <p:nvSpPr>
          <p:cNvPr id="10" name="">
            <a:extLst xmlns:a="http://schemas.openxmlformats.org/drawingml/2006/main">
              <a:ext uri="{FF2B5EF4-FFF2-40B4-BE49-F238E27FC236}">
                <a16:creationId xmlns:a16="http://schemas.microsoft.com/office/drawing/2014/main" id="{F2383D67-A01A-4602-A072-53873356D957}"/>
              </a:ext>
            </a:extLst>
          </p:cNvPr>
          <p:cNvSpPr>
            <a:spLocks xmlns:a="http://schemas.openxmlformats.org/drawingml/2006/main" noGrp="1"/>
          </p:cNvSpPr>
          <p:nvPr/>
        </p:nvSpPr>
        <p:spPr>
          <a:xfrm xmlns:a="http://schemas.openxmlformats.org/drawingml/2006/main">
            <a:off x="781050" y="25717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2B84B"/>
                </a:solidFill>
                <a:latin typeface="Aptos"/>
                <a:ea typeface="Aptos"/>
                <a:cs typeface="Aptos"/>
              </a:defRPr>
            </a:pPr>
            <a:r>
              <a:rPr sz="1050" b="1">
                <a:solidFill>
                  <a:srgbClr val="F2B84B"/>
                </a:solidFill>
                <a:latin typeface="Aptos"/>
                <a:ea typeface="Aptos"/>
                <a:cs typeface="Aptos"/>
              </a:rPr>
              <a:t>Cache / storage</a:t>
            </a:r>
          </a:p>
        </p:txBody>
      </p:sp>
      <p:sp>
        <p:nvSpPr>
          <p:cNvPr id="11" name="">
            <a:extLst xmlns:a="http://schemas.openxmlformats.org/drawingml/2006/main">
              <a:ext uri="{FF2B5EF4-FFF2-40B4-BE49-F238E27FC236}">
                <a16:creationId xmlns:a16="http://schemas.microsoft.com/office/drawing/2014/main" id="{DFDC1D4F-60FE-4358-BB86-CD3AF1B012B2}"/>
              </a:ext>
            </a:extLst>
          </p:cNvPr>
          <p:cNvSpPr>
            <a:spLocks xmlns:a="http://schemas.openxmlformats.org/drawingml/2006/main" noGrp="1"/>
          </p:cNvSpPr>
          <p:nvPr/>
        </p:nvSpPr>
        <p:spPr>
          <a:xfrm xmlns:a="http://schemas.openxmlformats.org/drawingml/2006/main">
            <a:off x="781050" y="2381250"/>
            <a:ext cx="4705350" cy="1066800"/>
          </a:xfrm>
          <a:prstGeom xmlns:a="http://schemas.openxmlformats.org/drawingml/2006/main" prst="rect">
            <a:avLst/>
          </a:prstGeom>
          <a:solidFill xmlns:a="http://schemas.openxmlformats.org/drawingml/2006/main">
            <a:srgbClr val="171D28"/>
          </a:solidFill>
          <a:ln xmlns:a="http://schemas.openxmlformats.org/drawingml/2006/main" w="9525">
            <a:solidFill>
              <a:srgbClr val="72A7FF"/>
            </a:solidFill>
            <a:prstDash val="solid"/>
          </a:ln>
        </p:spPr>
      </p:sp>
      <p:sp>
        <p:nvSpPr>
          <p:cNvPr id="12" name="">
            <a:extLst xmlns:a="http://schemas.openxmlformats.org/drawingml/2006/main">
              <a:ext uri="{FF2B5EF4-FFF2-40B4-BE49-F238E27FC236}">
                <a16:creationId xmlns:a16="http://schemas.microsoft.com/office/drawing/2014/main" id="{28A09590-1473-434F-A8E3-7F591E63F609}"/>
              </a:ext>
            </a:extLst>
          </p:cNvPr>
          <p:cNvSpPr>
            <a:spLocks xmlns:a="http://schemas.openxmlformats.org/drawingml/2006/main" noGrp="1"/>
          </p:cNvSpPr>
          <p:nvPr/>
        </p:nvSpPr>
        <p:spPr>
          <a:xfrm xmlns:a="http://schemas.openxmlformats.org/drawingml/2006/main">
            <a:off x="1028700" y="2609850"/>
            <a:ext cx="42100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AEB7C4"/>
                </a:solidFill>
                <a:latin typeface="Aptos"/>
                <a:ea typeface="Aptos"/>
                <a:cs typeface="Aptos"/>
              </a:defRPr>
            </a:pPr>
            <a:r>
              <a:rPr sz="1275" b="0">
                <a:solidFill>
                  <a:srgbClr val="AEB7C4"/>
                </a:solidFill>
                <a:latin typeface="Aptos"/>
                <a:ea typeface="Aptos"/>
                <a:cs typeface="Aptos"/>
              </a:rPr>
              <a:t>vLLM: paged KV blocks reduce fragmentation</a:t>
            </a:r>
          </a:p>
          <a:p xmlns:a="http://schemas.openxmlformats.org/drawingml/2006/main">
            <a:pPr algn="ctr">
              <a:defRPr sz="1275" b="0">
                <a:solidFill>
                  <a:srgbClr val="AEB7C4"/>
                </a:solidFill>
                <a:latin typeface="Aptos"/>
                <a:ea typeface="Aptos"/>
                <a:cs typeface="Aptos"/>
              </a:defRPr>
            </a:pPr>
            <a:r>
              <a:rPr sz="1275" b="0">
                <a:solidFill>
                  <a:srgbClr val="AEB7C4"/>
                </a:solidFill>
                <a:latin typeface="Aptos"/>
                <a:ea typeface="Aptos"/>
                <a:cs typeface="Aptos"/>
              </a:rPr>
              <a:t>SGLang: radix tree stores reusable prefixes</a:t>
            </a:r>
          </a:p>
        </p:txBody>
      </p:sp>
      <p:sp>
        <p:nvSpPr>
          <p:cNvPr id="13" name="">
            <a:extLst xmlns:a="http://schemas.openxmlformats.org/drawingml/2006/main">
              <a:ext uri="{FF2B5EF4-FFF2-40B4-BE49-F238E27FC236}">
                <a16:creationId xmlns:a16="http://schemas.microsoft.com/office/drawing/2014/main" id="{037E0004-90C4-42DD-A388-A4638EF7CD62}"/>
              </a:ext>
            </a:extLst>
          </p:cNvPr>
          <p:cNvSpPr>
            <a:spLocks xmlns:a="http://schemas.openxmlformats.org/drawingml/2006/main" noGrp="1"/>
          </p:cNvSpPr>
          <p:nvPr/>
        </p:nvSpPr>
        <p:spPr>
          <a:xfrm xmlns:a="http://schemas.openxmlformats.org/drawingml/2006/main">
            <a:off x="5638800" y="2381250"/>
            <a:ext cx="4705350" cy="1066800"/>
          </a:xfrm>
          <a:prstGeom xmlns:a="http://schemas.openxmlformats.org/drawingml/2006/main" prst="rect">
            <a:avLst/>
          </a:prstGeom>
          <a:solidFill xmlns:a="http://schemas.openxmlformats.org/drawingml/2006/main">
            <a:srgbClr val="16251F"/>
          </a:solidFill>
          <a:ln xmlns:a="http://schemas.openxmlformats.org/drawingml/2006/main" w="19050">
            <a:solidFill>
              <a:srgbClr val="7BD88F"/>
            </a:solidFill>
            <a:prstDash val="solid"/>
          </a:ln>
        </p:spPr>
      </p:sp>
      <p:sp>
        <p:nvSpPr>
          <p:cNvPr id="14" name="">
            <a:extLst xmlns:a="http://schemas.openxmlformats.org/drawingml/2006/main">
              <a:ext uri="{FF2B5EF4-FFF2-40B4-BE49-F238E27FC236}">
                <a16:creationId xmlns:a16="http://schemas.microsoft.com/office/drawing/2014/main" id="{01292684-9734-42A5-9750-CE78442B63C8}"/>
              </a:ext>
            </a:extLst>
          </p:cNvPr>
          <p:cNvSpPr>
            <a:spLocks xmlns:a="http://schemas.openxmlformats.org/drawingml/2006/main" noGrp="1"/>
          </p:cNvSpPr>
          <p:nvPr/>
        </p:nvSpPr>
        <p:spPr>
          <a:xfrm xmlns:a="http://schemas.openxmlformats.org/drawingml/2006/main">
            <a:off x="5886450" y="2609850"/>
            <a:ext cx="42100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7F3EA"/>
                </a:solidFill>
                <a:latin typeface="Aptos"/>
                <a:ea typeface="Aptos"/>
                <a:cs typeface="Aptos"/>
              </a:defRPr>
            </a:pPr>
            <a:r>
              <a:rPr sz="1350" b="1">
                <a:solidFill>
                  <a:srgbClr val="F7F3EA"/>
                </a:solidFill>
                <a:latin typeface="Aptos"/>
                <a:ea typeface="Aptos"/>
                <a:cs typeface="Aptos"/>
              </a:rPr>
              <a:t>Which prefix-sharing requests should be admitted together before useful cache entries are evicted?</a:t>
            </a:r>
          </a:p>
        </p:txBody>
      </p:sp>
      <p:sp>
        <p:nvSpPr>
          <p:cNvPr id="15" name="">
            <a:extLst xmlns:a="http://schemas.openxmlformats.org/drawingml/2006/main">
              <a:ext uri="{FF2B5EF4-FFF2-40B4-BE49-F238E27FC236}">
                <a16:creationId xmlns:a16="http://schemas.microsoft.com/office/drawing/2014/main" id="{432B8C61-260E-45BC-AACB-6D89E53FFA55}"/>
              </a:ext>
            </a:extLst>
          </p:cNvPr>
          <p:cNvSpPr>
            <a:spLocks xmlns:a="http://schemas.openxmlformats.org/drawingml/2006/main" noGrp="1"/>
          </p:cNvSpPr>
          <p:nvPr/>
        </p:nvSpPr>
        <p:spPr>
          <a:xfrm xmlns:a="http://schemas.openxmlformats.org/drawingml/2006/main">
            <a:off x="781050" y="3867150"/>
            <a:ext cx="152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2B84B"/>
                </a:solidFill>
                <a:latin typeface="Aptos"/>
                <a:ea typeface="Aptos"/>
                <a:cs typeface="Aptos"/>
              </a:defRPr>
            </a:pPr>
            <a:r>
              <a:rPr sz="1050" b="1">
                <a:solidFill>
                  <a:srgbClr val="F2B84B"/>
                </a:solidFill>
                <a:latin typeface="Aptos"/>
                <a:ea typeface="Aptos"/>
                <a:cs typeface="Aptos"/>
              </a:rPr>
              <a:t>Compute / runtime</a:t>
            </a:r>
          </a:p>
        </p:txBody>
      </p:sp>
      <p:sp>
        <p:nvSpPr>
          <p:cNvPr id="16" name="">
            <a:extLst xmlns:a="http://schemas.openxmlformats.org/drawingml/2006/main">
              <a:ext uri="{FF2B5EF4-FFF2-40B4-BE49-F238E27FC236}">
                <a16:creationId xmlns:a16="http://schemas.microsoft.com/office/drawing/2014/main" id="{CCB9BD11-2267-41BC-8FFA-00E4A1E21FB3}"/>
              </a:ext>
            </a:extLst>
          </p:cNvPr>
          <p:cNvSpPr>
            <a:spLocks xmlns:a="http://schemas.openxmlformats.org/drawingml/2006/main" noGrp="1"/>
          </p:cNvSpPr>
          <p:nvPr/>
        </p:nvSpPr>
        <p:spPr>
          <a:xfrm xmlns:a="http://schemas.openxmlformats.org/drawingml/2006/main">
            <a:off x="781050" y="3676650"/>
            <a:ext cx="4705350" cy="1066800"/>
          </a:xfrm>
          <a:prstGeom xmlns:a="http://schemas.openxmlformats.org/drawingml/2006/main" prst="rect">
            <a:avLst/>
          </a:prstGeom>
          <a:solidFill xmlns:a="http://schemas.openxmlformats.org/drawingml/2006/main">
            <a:srgbClr val="171D28"/>
          </a:solidFill>
          <a:ln xmlns:a="http://schemas.openxmlformats.org/drawingml/2006/main" w="9525">
            <a:solidFill>
              <a:srgbClr val="72A7FF"/>
            </a:solidFill>
            <a:prstDash val="solid"/>
          </a:ln>
        </p:spPr>
      </p:sp>
      <p:sp>
        <p:nvSpPr>
          <p:cNvPr id="17" name="">
            <a:extLst xmlns:a="http://schemas.openxmlformats.org/drawingml/2006/main">
              <a:ext uri="{FF2B5EF4-FFF2-40B4-BE49-F238E27FC236}">
                <a16:creationId xmlns:a16="http://schemas.microsoft.com/office/drawing/2014/main" id="{F3AC8807-CC5A-4E7A-ADEA-70EB08D76393}"/>
              </a:ext>
            </a:extLst>
          </p:cNvPr>
          <p:cNvSpPr>
            <a:spLocks xmlns:a="http://schemas.openxmlformats.org/drawingml/2006/main" noGrp="1"/>
          </p:cNvSpPr>
          <p:nvPr/>
        </p:nvSpPr>
        <p:spPr>
          <a:xfrm xmlns:a="http://schemas.openxmlformats.org/drawingml/2006/main">
            <a:off x="1028700" y="3905250"/>
            <a:ext cx="42100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0">
                <a:solidFill>
                  <a:srgbClr val="AEB7C4"/>
                </a:solidFill>
                <a:latin typeface="Aptos"/>
                <a:ea typeface="Aptos"/>
                <a:cs typeface="Aptos"/>
              </a:defRPr>
            </a:pPr>
            <a:r>
              <a:rPr sz="1275" b="0">
                <a:solidFill>
                  <a:srgbClr val="AEB7C4"/>
                </a:solidFill>
                <a:latin typeface="Aptos"/>
                <a:ea typeface="Aptos"/>
                <a:cs typeface="Aptos"/>
              </a:rPr>
              <a:t>PromptCache: precompute explicit prompt modules</a:t>
            </a:r>
          </a:p>
          <a:p xmlns:a="http://schemas.openxmlformats.org/drawingml/2006/main">
            <a:pPr algn="ctr">
              <a:defRPr sz="1275" b="0">
                <a:solidFill>
                  <a:srgbClr val="AEB7C4"/>
                </a:solidFill>
                <a:latin typeface="Aptos"/>
                <a:ea typeface="Aptos"/>
                <a:cs typeface="Aptos"/>
              </a:defRPr>
            </a:pPr>
            <a:r>
              <a:rPr sz="1275" b="0">
                <a:solidFill>
                  <a:srgbClr val="AEB7C4"/>
                </a:solidFill>
                <a:latin typeface="Aptos"/>
                <a:ea typeface="Aptos"/>
                <a:cs typeface="Aptos"/>
              </a:rPr>
              <a:t>Hydragen: avoid repeated decode-side prefix reads</a:t>
            </a:r>
          </a:p>
        </p:txBody>
      </p:sp>
      <p:sp>
        <p:nvSpPr>
          <p:cNvPr id="18" name="">
            <a:extLst xmlns:a="http://schemas.openxmlformats.org/drawingml/2006/main">
              <a:ext uri="{FF2B5EF4-FFF2-40B4-BE49-F238E27FC236}">
                <a16:creationId xmlns:a16="http://schemas.microsoft.com/office/drawing/2014/main" id="{EA232106-1BA7-490C-8AAE-E7695FF6DE4C}"/>
              </a:ext>
            </a:extLst>
          </p:cNvPr>
          <p:cNvSpPr>
            <a:spLocks xmlns:a="http://schemas.openxmlformats.org/drawingml/2006/main" noGrp="1"/>
          </p:cNvSpPr>
          <p:nvPr/>
        </p:nvSpPr>
        <p:spPr>
          <a:xfrm xmlns:a="http://schemas.openxmlformats.org/drawingml/2006/main">
            <a:off x="5638800" y="3676650"/>
            <a:ext cx="4705350" cy="1066800"/>
          </a:xfrm>
          <a:prstGeom xmlns:a="http://schemas.openxmlformats.org/drawingml/2006/main" prst="rect">
            <a:avLst/>
          </a:prstGeom>
          <a:solidFill xmlns:a="http://schemas.openxmlformats.org/drawingml/2006/main">
            <a:srgbClr val="16251F"/>
          </a:solidFill>
          <a:ln xmlns:a="http://schemas.openxmlformats.org/drawingml/2006/main" w="19050">
            <a:solidFill>
              <a:srgbClr val="7BD88F"/>
            </a:solidFill>
            <a:prstDash val="solid"/>
          </a:ln>
        </p:spPr>
      </p:sp>
      <p:sp>
        <p:nvSpPr>
          <p:cNvPr id="19" name="">
            <a:extLst xmlns:a="http://schemas.openxmlformats.org/drawingml/2006/main">
              <a:ext uri="{FF2B5EF4-FFF2-40B4-BE49-F238E27FC236}">
                <a16:creationId xmlns:a16="http://schemas.microsoft.com/office/drawing/2014/main" id="{6833227B-4347-47C4-A146-839A77B3DB03}"/>
              </a:ext>
            </a:extLst>
          </p:cNvPr>
          <p:cNvSpPr>
            <a:spLocks xmlns:a="http://schemas.openxmlformats.org/drawingml/2006/main" noGrp="1"/>
          </p:cNvSpPr>
          <p:nvPr/>
        </p:nvSpPr>
        <p:spPr>
          <a:xfrm xmlns:a="http://schemas.openxmlformats.org/drawingml/2006/main">
            <a:off x="5886450" y="3905250"/>
            <a:ext cx="42100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7F3EA"/>
                </a:solidFill>
                <a:latin typeface="Aptos"/>
                <a:ea typeface="Aptos"/>
                <a:cs typeface="Aptos"/>
              </a:defRPr>
            </a:pPr>
            <a:r>
              <a:rPr sz="1350" b="1">
                <a:solidFill>
                  <a:srgbClr val="F7F3EA"/>
                </a:solidFill>
                <a:latin typeface="Aptos"/>
                <a:ea typeface="Aptos"/>
                <a:cs typeface="Aptos"/>
              </a:rPr>
              <a:t>Can a lightweight vLLM scheduler expose enough reuse without changing the runtime or writing kernels?</a:t>
            </a:r>
          </a:p>
        </p:txBody>
      </p:sp>
      <p:sp>
        <p:nvSpPr>
          <p:cNvPr id="20" name="">
            <a:extLst xmlns:a="http://schemas.openxmlformats.org/drawingml/2006/main">
              <a:ext uri="{FF2B5EF4-FFF2-40B4-BE49-F238E27FC236}">
                <a16:creationId xmlns:a16="http://schemas.microsoft.com/office/drawing/2014/main" id="{0E49B0A6-0386-4EF6-84CD-0DF36A24ABFF}"/>
              </a:ext>
            </a:extLst>
          </p:cNvPr>
          <p:cNvSpPr>
            <a:spLocks xmlns:a="http://schemas.openxmlformats.org/drawingml/2006/main" noGrp="1"/>
          </p:cNvSpPr>
          <p:nvPr/>
        </p:nvSpPr>
        <p:spPr>
          <a:xfrm xmlns:a="http://schemas.openxmlformats.org/drawingml/2006/main">
            <a:off x="1771650" y="5391150"/>
            <a:ext cx="8648700" cy="552450"/>
          </a:xfrm>
          <a:prstGeom xmlns:a="http://schemas.openxmlformats.org/drawingml/2006/main" prst="rect">
            <a:avLst/>
          </a:prstGeom>
          <a:solidFill xmlns:a="http://schemas.openxmlformats.org/drawingml/2006/main">
            <a:srgbClr val="241F16"/>
          </a:solidFill>
          <a:ln xmlns:a="http://schemas.openxmlformats.org/drawingml/2006/main" w="19050">
            <a:solidFill>
              <a:srgbClr val="F2B84B"/>
            </a:solidFill>
            <a:prstDash val="solid"/>
          </a:ln>
        </p:spPr>
      </p:sp>
      <p:sp>
        <p:nvSpPr>
          <p:cNvPr id="21" name="">
            <a:extLst xmlns:a="http://schemas.openxmlformats.org/drawingml/2006/main">
              <a:ext uri="{FF2B5EF4-FFF2-40B4-BE49-F238E27FC236}">
                <a16:creationId xmlns:a16="http://schemas.microsoft.com/office/drawing/2014/main" id="{C935AD28-C75C-40F4-9FD4-42910D0C9422}"/>
              </a:ext>
            </a:extLst>
          </p:cNvPr>
          <p:cNvSpPr>
            <a:spLocks xmlns:a="http://schemas.openxmlformats.org/drawingml/2006/main" noGrp="1"/>
          </p:cNvSpPr>
          <p:nvPr/>
        </p:nvSpPr>
        <p:spPr>
          <a:xfrm xmlns:a="http://schemas.openxmlformats.org/drawingml/2006/main">
            <a:off x="2152650" y="5562600"/>
            <a:ext cx="790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575" b="1">
                <a:solidFill>
                  <a:srgbClr val="F7F3EA"/>
                </a:solidFill>
                <a:latin typeface="Aptos Display"/>
                <a:ea typeface="Aptos Display"/>
                <a:cs typeface="Aptos Display"/>
              </a:defRPr>
            </a:pPr>
            <a:r>
              <a:rPr sz="1575" b="1">
                <a:solidFill>
                  <a:srgbClr val="F7F3EA"/>
                </a:solidFill>
                <a:latin typeface="Aptos Display"/>
                <a:ea typeface="Aptos Display"/>
                <a:cs typeface="Aptos Display"/>
              </a:rPr>
              <a:t>Synthesis: prefix reuse needs scheduling, not just cache data structures.</a:t>
            </a:r>
          </a:p>
        </p:txBody>
      </p:sp>
      <p:sp>
        <p:nvSpPr>
          <p:cNvPr id="22" name="">
            <a:extLst xmlns:a="http://schemas.openxmlformats.org/drawingml/2006/main">
              <a:ext uri="{FF2B5EF4-FFF2-40B4-BE49-F238E27FC236}">
                <a16:creationId xmlns:a16="http://schemas.microsoft.com/office/drawing/2014/main" id="{F9CFAE14-2777-4841-89F8-2D25AE5BC78D}"/>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Capstone · LLM Latency Optimization · 2026-05-27</a:t>
            </a:r>
          </a:p>
        </p:txBody>
      </p:sp>
    </p:spTree>
    <p:extLst>
      <p:ext uri="{BB962C8B-B14F-4D97-AF65-F5344CB8AC3E}">
        <p14:creationId xmlns:p14="http://schemas.microsoft.com/office/powerpoint/2010/main" val="148098302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044E43-7C44-416E-AEA9-15390D6122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018407D-7DD1-427B-9278-F2C29DD782C2}"/>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OUR POSITIONING</a:t>
            </a:r>
          </a:p>
        </p:txBody>
      </p:sp>
      <p:sp>
        <p:nvSpPr>
          <p:cNvPr id="3" name="">
            <a:extLst xmlns:a="http://schemas.openxmlformats.org/drawingml/2006/main">
              <a:ext uri="{FF2B5EF4-FFF2-40B4-BE49-F238E27FC236}">
                <a16:creationId xmlns:a16="http://schemas.microsoft.com/office/drawing/2014/main" id="{D0AF54B1-A659-416A-955D-7F0D9396E9C4}"/>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9C7A95E-20D0-42D5-9331-A88F6AC161FA}"/>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Proposed evaluation boundary</a:t>
            </a:r>
          </a:p>
        </p:txBody>
      </p:sp>
      <p:sp>
        <p:nvSpPr>
          <p:cNvPr id="5" name="">
            <a:extLst xmlns:a="http://schemas.openxmlformats.org/drawingml/2006/main">
              <a:ext uri="{FF2B5EF4-FFF2-40B4-BE49-F238E27FC236}">
                <a16:creationId xmlns:a16="http://schemas.microsoft.com/office/drawing/2014/main" id="{4CDB9AB3-E7FC-4D69-951D-BE51DB5C8AE6}"/>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Specific enough for feedback today; exact configs can be locked during methodology week.</a:t>
            </a:r>
          </a:p>
        </p:txBody>
      </p:sp>
      <p:sp>
        <p:nvSpPr>
          <p:cNvPr id="6" name="">
            <a:extLst xmlns:a="http://schemas.openxmlformats.org/drawingml/2006/main">
              <a:ext uri="{FF2B5EF4-FFF2-40B4-BE49-F238E27FC236}">
                <a16:creationId xmlns:a16="http://schemas.microsoft.com/office/drawing/2014/main" id="{9524C449-B593-466D-B1F1-5D36A6A9F8D4}"/>
              </a:ext>
            </a:extLst>
          </p:cNvPr>
          <p:cNvSpPr>
            <a:spLocks xmlns:a="http://schemas.openxmlformats.org/drawingml/2006/main" noGrp="1"/>
          </p:cNvSpPr>
          <p:nvPr/>
        </p:nvSpPr>
        <p:spPr>
          <a:xfrm xmlns:a="http://schemas.openxmlformats.org/drawingml/2006/main">
            <a:off x="990600" y="2305050"/>
            <a:ext cx="2000250" cy="4953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7" name="">
            <a:extLst xmlns:a="http://schemas.openxmlformats.org/drawingml/2006/main">
              <a:ext uri="{FF2B5EF4-FFF2-40B4-BE49-F238E27FC236}">
                <a16:creationId xmlns:a16="http://schemas.microsoft.com/office/drawing/2014/main" id="{887B4CB5-BFC3-446E-A2A3-AA8814F9FCC2}"/>
              </a:ext>
            </a:extLst>
          </p:cNvPr>
          <p:cNvSpPr>
            <a:spLocks xmlns:a="http://schemas.openxmlformats.org/drawingml/2006/main" noGrp="1"/>
          </p:cNvSpPr>
          <p:nvPr/>
        </p:nvSpPr>
        <p:spPr>
          <a:xfrm xmlns:a="http://schemas.openxmlformats.org/drawingml/2006/main">
            <a:off x="990600" y="2305050"/>
            <a:ext cx="47625" cy="49530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A49A6722-D536-43E1-B683-E3AE7A3A1A7F}"/>
              </a:ext>
            </a:extLst>
          </p:cNvPr>
          <p:cNvSpPr>
            <a:spLocks xmlns:a="http://schemas.openxmlformats.org/drawingml/2006/main" noGrp="1"/>
          </p:cNvSpPr>
          <p:nvPr/>
        </p:nvSpPr>
        <p:spPr>
          <a:xfrm xmlns:a="http://schemas.openxmlformats.org/drawingml/2006/main">
            <a:off x="1200150" y="2466975"/>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7F3EA"/>
                </a:solidFill>
                <a:latin typeface="Aptos Display"/>
                <a:ea typeface="Aptos Display"/>
                <a:cs typeface="Aptos Display"/>
              </a:defRPr>
            </a:pPr>
            <a:r>
              <a:rPr sz="1200" b="1">
                <a:solidFill>
                  <a:srgbClr val="F7F3EA"/>
                </a:solidFill>
                <a:latin typeface="Aptos Display"/>
                <a:ea typeface="Aptos Display"/>
                <a:cs typeface="Aptos Display"/>
              </a:rPr>
              <a:t>Model</a:t>
            </a:r>
          </a:p>
        </p:txBody>
      </p:sp>
      <p:sp>
        <p:nvSpPr>
          <p:cNvPr id="9" name="">
            <a:extLst xmlns:a="http://schemas.openxmlformats.org/drawingml/2006/main">
              <a:ext uri="{FF2B5EF4-FFF2-40B4-BE49-F238E27FC236}">
                <a16:creationId xmlns:a16="http://schemas.microsoft.com/office/drawing/2014/main" id="{E2C803B5-084E-418B-8C57-C62E809AC5B4}"/>
              </a:ext>
            </a:extLst>
          </p:cNvPr>
          <p:cNvSpPr>
            <a:spLocks xmlns:a="http://schemas.openxmlformats.org/drawingml/2006/main" noGrp="1"/>
          </p:cNvSpPr>
          <p:nvPr/>
        </p:nvSpPr>
        <p:spPr>
          <a:xfrm xmlns:a="http://schemas.openxmlformats.org/drawingml/2006/main">
            <a:off x="2990850" y="2305050"/>
            <a:ext cx="8191500" cy="49530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10" name="">
            <a:extLst xmlns:a="http://schemas.openxmlformats.org/drawingml/2006/main">
              <a:ext uri="{FF2B5EF4-FFF2-40B4-BE49-F238E27FC236}">
                <a16:creationId xmlns:a16="http://schemas.microsoft.com/office/drawing/2014/main" id="{FFDA0043-1476-4513-B55B-CAD8229A647E}"/>
              </a:ext>
            </a:extLst>
          </p:cNvPr>
          <p:cNvSpPr>
            <a:spLocks xmlns:a="http://schemas.openxmlformats.org/drawingml/2006/main" noGrp="1"/>
          </p:cNvSpPr>
          <p:nvPr/>
        </p:nvSpPr>
        <p:spPr>
          <a:xfrm xmlns:a="http://schemas.openxmlformats.org/drawingml/2006/main">
            <a:off x="3219450" y="2466975"/>
            <a:ext cx="7734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Llama-3-8B-Instruct on vLLM</a:t>
            </a:r>
          </a:p>
        </p:txBody>
      </p:sp>
      <p:sp>
        <p:nvSpPr>
          <p:cNvPr id="11" name="">
            <a:extLst xmlns:a="http://schemas.openxmlformats.org/drawingml/2006/main">
              <a:ext uri="{FF2B5EF4-FFF2-40B4-BE49-F238E27FC236}">
                <a16:creationId xmlns:a16="http://schemas.microsoft.com/office/drawing/2014/main" id="{A812D443-7F23-4049-A9BC-1DD102BBE2AE}"/>
              </a:ext>
            </a:extLst>
          </p:cNvPr>
          <p:cNvSpPr>
            <a:spLocks xmlns:a="http://schemas.openxmlformats.org/drawingml/2006/main" noGrp="1"/>
          </p:cNvSpPr>
          <p:nvPr/>
        </p:nvSpPr>
        <p:spPr>
          <a:xfrm xmlns:a="http://schemas.openxmlformats.org/drawingml/2006/main">
            <a:off x="990600" y="2857500"/>
            <a:ext cx="2000250" cy="4953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2" name="">
            <a:extLst xmlns:a="http://schemas.openxmlformats.org/drawingml/2006/main">
              <a:ext uri="{FF2B5EF4-FFF2-40B4-BE49-F238E27FC236}">
                <a16:creationId xmlns:a16="http://schemas.microsoft.com/office/drawing/2014/main" id="{BF9BE817-363D-4193-9AB4-A5BDFF0956D0}"/>
              </a:ext>
            </a:extLst>
          </p:cNvPr>
          <p:cNvSpPr>
            <a:spLocks xmlns:a="http://schemas.openxmlformats.org/drawingml/2006/main" noGrp="1"/>
          </p:cNvSpPr>
          <p:nvPr/>
        </p:nvSpPr>
        <p:spPr>
          <a:xfrm xmlns:a="http://schemas.openxmlformats.org/drawingml/2006/main">
            <a:off x="990600" y="2857500"/>
            <a:ext cx="47625" cy="49530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07BE3BC-5B50-457C-AE2C-FDC8FA9828EA}"/>
              </a:ext>
            </a:extLst>
          </p:cNvPr>
          <p:cNvSpPr>
            <a:spLocks xmlns:a="http://schemas.openxmlformats.org/drawingml/2006/main" noGrp="1"/>
          </p:cNvSpPr>
          <p:nvPr/>
        </p:nvSpPr>
        <p:spPr>
          <a:xfrm xmlns:a="http://schemas.openxmlformats.org/drawingml/2006/main">
            <a:off x="1200150" y="3019425"/>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7F3EA"/>
                </a:solidFill>
                <a:latin typeface="Aptos Display"/>
                <a:ea typeface="Aptos Display"/>
                <a:cs typeface="Aptos Display"/>
              </a:defRPr>
            </a:pPr>
            <a:r>
              <a:rPr sz="1200" b="1">
                <a:solidFill>
                  <a:srgbClr val="F7F3EA"/>
                </a:solidFill>
                <a:latin typeface="Aptos Display"/>
                <a:ea typeface="Aptos Display"/>
                <a:cs typeface="Aptos Display"/>
              </a:rPr>
              <a:t>Workload</a:t>
            </a:r>
          </a:p>
        </p:txBody>
      </p:sp>
      <p:sp>
        <p:nvSpPr>
          <p:cNvPr id="14" name="">
            <a:extLst xmlns:a="http://schemas.openxmlformats.org/drawingml/2006/main">
              <a:ext uri="{FF2B5EF4-FFF2-40B4-BE49-F238E27FC236}">
                <a16:creationId xmlns:a16="http://schemas.microsoft.com/office/drawing/2014/main" id="{77466847-3605-42E5-BAE9-E759C4CF3D8D}"/>
              </a:ext>
            </a:extLst>
          </p:cNvPr>
          <p:cNvSpPr>
            <a:spLocks xmlns:a="http://schemas.openxmlformats.org/drawingml/2006/main" noGrp="1"/>
          </p:cNvSpPr>
          <p:nvPr/>
        </p:nvSpPr>
        <p:spPr>
          <a:xfrm xmlns:a="http://schemas.openxmlformats.org/drawingml/2006/main">
            <a:off x="2990850" y="2857500"/>
            <a:ext cx="8191500" cy="49530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15" name="">
            <a:extLst xmlns:a="http://schemas.openxmlformats.org/drawingml/2006/main">
              <a:ext uri="{FF2B5EF4-FFF2-40B4-BE49-F238E27FC236}">
                <a16:creationId xmlns:a16="http://schemas.microsoft.com/office/drawing/2014/main" id="{BF83A4EB-70BA-4874-A1B2-DB5F7D48B9B6}"/>
              </a:ext>
            </a:extLst>
          </p:cNvPr>
          <p:cNvSpPr>
            <a:spLocks xmlns:a="http://schemas.openxmlformats.org/drawingml/2006/main" noGrp="1"/>
          </p:cNvSpPr>
          <p:nvPr/>
        </p:nvSpPr>
        <p:spPr>
          <a:xfrm xmlns:a="http://schemas.openxmlformats.org/drawingml/2006/main">
            <a:off x="3219450" y="3019425"/>
            <a:ext cx="7734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Synthetic agent/RAG-style traces with controlled prefix overlap</a:t>
            </a:r>
          </a:p>
        </p:txBody>
      </p:sp>
      <p:sp>
        <p:nvSpPr>
          <p:cNvPr id="16" name="">
            <a:extLst xmlns:a="http://schemas.openxmlformats.org/drawingml/2006/main">
              <a:ext uri="{FF2B5EF4-FFF2-40B4-BE49-F238E27FC236}">
                <a16:creationId xmlns:a16="http://schemas.microsoft.com/office/drawing/2014/main" id="{9742A7E9-3967-440B-8D4A-AE473BDB3412}"/>
              </a:ext>
            </a:extLst>
          </p:cNvPr>
          <p:cNvSpPr>
            <a:spLocks xmlns:a="http://schemas.openxmlformats.org/drawingml/2006/main" noGrp="1"/>
          </p:cNvSpPr>
          <p:nvPr/>
        </p:nvSpPr>
        <p:spPr>
          <a:xfrm xmlns:a="http://schemas.openxmlformats.org/drawingml/2006/main">
            <a:off x="990600" y="3409950"/>
            <a:ext cx="2000250" cy="4953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17" name="">
            <a:extLst xmlns:a="http://schemas.openxmlformats.org/drawingml/2006/main">
              <a:ext uri="{FF2B5EF4-FFF2-40B4-BE49-F238E27FC236}">
                <a16:creationId xmlns:a16="http://schemas.microsoft.com/office/drawing/2014/main" id="{4E55CA29-0CAD-4266-9FCD-86F452948AFD}"/>
              </a:ext>
            </a:extLst>
          </p:cNvPr>
          <p:cNvSpPr>
            <a:spLocks xmlns:a="http://schemas.openxmlformats.org/drawingml/2006/main" noGrp="1"/>
          </p:cNvSpPr>
          <p:nvPr/>
        </p:nvSpPr>
        <p:spPr>
          <a:xfrm xmlns:a="http://schemas.openxmlformats.org/drawingml/2006/main">
            <a:off x="990600" y="3409950"/>
            <a:ext cx="47625" cy="495300"/>
          </a:xfrm>
          <a:prstGeom xmlns:a="http://schemas.openxmlformats.org/drawingml/2006/main" prst="rect">
            <a:avLst/>
          </a:prstGeom>
          <a:solidFill xmlns:a="http://schemas.openxmlformats.org/drawingml/2006/main">
            <a:srgbClr val="F2B84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CEC5E6C-6834-4760-AEB2-A2C2556D7C36}"/>
              </a:ext>
            </a:extLst>
          </p:cNvPr>
          <p:cNvSpPr>
            <a:spLocks xmlns:a="http://schemas.openxmlformats.org/drawingml/2006/main" noGrp="1"/>
          </p:cNvSpPr>
          <p:nvPr/>
        </p:nvSpPr>
        <p:spPr>
          <a:xfrm xmlns:a="http://schemas.openxmlformats.org/drawingml/2006/main">
            <a:off x="1200150" y="3571875"/>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7F3EA"/>
                </a:solidFill>
                <a:latin typeface="Aptos Display"/>
                <a:ea typeface="Aptos Display"/>
                <a:cs typeface="Aptos Display"/>
              </a:defRPr>
            </a:pPr>
            <a:r>
              <a:rPr sz="1200" b="1">
                <a:solidFill>
                  <a:srgbClr val="F7F3EA"/>
                </a:solidFill>
                <a:latin typeface="Aptos Display"/>
                <a:ea typeface="Aptos Display"/>
                <a:cs typeface="Aptos Display"/>
              </a:rPr>
              <a:t>Hardware</a:t>
            </a:r>
          </a:p>
        </p:txBody>
      </p:sp>
      <p:sp>
        <p:nvSpPr>
          <p:cNvPr id="19" name="">
            <a:extLst xmlns:a="http://schemas.openxmlformats.org/drawingml/2006/main">
              <a:ext uri="{FF2B5EF4-FFF2-40B4-BE49-F238E27FC236}">
                <a16:creationId xmlns:a16="http://schemas.microsoft.com/office/drawing/2014/main" id="{698E7ED0-37DF-494B-B111-AAA40DB3E193}"/>
              </a:ext>
            </a:extLst>
          </p:cNvPr>
          <p:cNvSpPr>
            <a:spLocks xmlns:a="http://schemas.openxmlformats.org/drawingml/2006/main" noGrp="1"/>
          </p:cNvSpPr>
          <p:nvPr/>
        </p:nvSpPr>
        <p:spPr>
          <a:xfrm xmlns:a="http://schemas.openxmlformats.org/drawingml/2006/main">
            <a:off x="2990850" y="3409950"/>
            <a:ext cx="8191500" cy="49530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20" name="">
            <a:extLst xmlns:a="http://schemas.openxmlformats.org/drawingml/2006/main">
              <a:ext uri="{FF2B5EF4-FFF2-40B4-BE49-F238E27FC236}">
                <a16:creationId xmlns:a16="http://schemas.microsoft.com/office/drawing/2014/main" id="{9CD7C36A-7FCC-49A4-B312-591F78442B28}"/>
              </a:ext>
            </a:extLst>
          </p:cNvPr>
          <p:cNvSpPr>
            <a:spLocks xmlns:a="http://schemas.openxmlformats.org/drawingml/2006/main" noGrp="1"/>
          </p:cNvSpPr>
          <p:nvPr/>
        </p:nvSpPr>
        <p:spPr>
          <a:xfrm xmlns:a="http://schemas.openxmlformats.org/drawingml/2006/main">
            <a:off x="3219450" y="3571875"/>
            <a:ext cx="7734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1 x AMD RX 7900 XTX 24GB with ROCm, if environment setup holds</a:t>
            </a:r>
          </a:p>
        </p:txBody>
      </p:sp>
      <p:sp>
        <p:nvSpPr>
          <p:cNvPr id="21" name="">
            <a:extLst xmlns:a="http://schemas.openxmlformats.org/drawingml/2006/main">
              <a:ext uri="{FF2B5EF4-FFF2-40B4-BE49-F238E27FC236}">
                <a16:creationId xmlns:a16="http://schemas.microsoft.com/office/drawing/2014/main" id="{29EE97C6-3648-4DEC-9BD2-E3DA50FB9FC8}"/>
              </a:ext>
            </a:extLst>
          </p:cNvPr>
          <p:cNvSpPr>
            <a:spLocks xmlns:a="http://schemas.openxmlformats.org/drawingml/2006/main" noGrp="1"/>
          </p:cNvSpPr>
          <p:nvPr/>
        </p:nvSpPr>
        <p:spPr>
          <a:xfrm xmlns:a="http://schemas.openxmlformats.org/drawingml/2006/main">
            <a:off x="990600" y="3962400"/>
            <a:ext cx="2000250" cy="4953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22" name="">
            <a:extLst xmlns:a="http://schemas.openxmlformats.org/drawingml/2006/main">
              <a:ext uri="{FF2B5EF4-FFF2-40B4-BE49-F238E27FC236}">
                <a16:creationId xmlns:a16="http://schemas.microsoft.com/office/drawing/2014/main" id="{2C89B579-A951-4CB0-90A0-C198175B69E7}"/>
              </a:ext>
            </a:extLst>
          </p:cNvPr>
          <p:cNvSpPr>
            <a:spLocks xmlns:a="http://schemas.openxmlformats.org/drawingml/2006/main" noGrp="1"/>
          </p:cNvSpPr>
          <p:nvPr/>
        </p:nvSpPr>
        <p:spPr>
          <a:xfrm xmlns:a="http://schemas.openxmlformats.org/drawingml/2006/main">
            <a:off x="990600" y="3962400"/>
            <a:ext cx="47625" cy="495300"/>
          </a:xfrm>
          <a:prstGeom xmlns:a="http://schemas.openxmlformats.org/drawingml/2006/main" prst="rect">
            <a:avLst/>
          </a:prstGeom>
          <a:solidFill xmlns:a="http://schemas.openxmlformats.org/drawingml/2006/main">
            <a:srgbClr val="B998FF"/>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A560FB4-3DD8-45C5-AB6B-E6ECB1ACF13F}"/>
              </a:ext>
            </a:extLst>
          </p:cNvPr>
          <p:cNvSpPr>
            <a:spLocks xmlns:a="http://schemas.openxmlformats.org/drawingml/2006/main" noGrp="1"/>
          </p:cNvSpPr>
          <p:nvPr/>
        </p:nvSpPr>
        <p:spPr>
          <a:xfrm xmlns:a="http://schemas.openxmlformats.org/drawingml/2006/main">
            <a:off x="1200150" y="4124325"/>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7F3EA"/>
                </a:solidFill>
                <a:latin typeface="Aptos Display"/>
                <a:ea typeface="Aptos Display"/>
                <a:cs typeface="Aptos Display"/>
              </a:defRPr>
            </a:pPr>
            <a:r>
              <a:rPr sz="1200" b="1">
                <a:solidFill>
                  <a:srgbClr val="F7F3EA"/>
                </a:solidFill>
                <a:latin typeface="Aptos Display"/>
                <a:ea typeface="Aptos Display"/>
                <a:cs typeface="Aptos Display"/>
              </a:rPr>
              <a:t>Baseline</a:t>
            </a:r>
          </a:p>
        </p:txBody>
      </p:sp>
      <p:sp>
        <p:nvSpPr>
          <p:cNvPr id="24" name="">
            <a:extLst xmlns:a="http://schemas.openxmlformats.org/drawingml/2006/main">
              <a:ext uri="{FF2B5EF4-FFF2-40B4-BE49-F238E27FC236}">
                <a16:creationId xmlns:a16="http://schemas.microsoft.com/office/drawing/2014/main" id="{B386D711-C6C6-406F-989E-2DC79745A503}"/>
              </a:ext>
            </a:extLst>
          </p:cNvPr>
          <p:cNvSpPr>
            <a:spLocks xmlns:a="http://schemas.openxmlformats.org/drawingml/2006/main" noGrp="1"/>
          </p:cNvSpPr>
          <p:nvPr/>
        </p:nvSpPr>
        <p:spPr>
          <a:xfrm xmlns:a="http://schemas.openxmlformats.org/drawingml/2006/main">
            <a:off x="2990850" y="3962400"/>
            <a:ext cx="8191500" cy="49530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25" name="">
            <a:extLst xmlns:a="http://schemas.openxmlformats.org/drawingml/2006/main">
              <a:ext uri="{FF2B5EF4-FFF2-40B4-BE49-F238E27FC236}">
                <a16:creationId xmlns:a16="http://schemas.microsoft.com/office/drawing/2014/main" id="{1823693E-E815-4AE1-A60D-EE5E9A11A8AB}"/>
              </a:ext>
            </a:extLst>
          </p:cNvPr>
          <p:cNvSpPr>
            <a:spLocks xmlns:a="http://schemas.openxmlformats.org/drawingml/2006/main" noGrp="1"/>
          </p:cNvSpPr>
          <p:nvPr/>
        </p:nvSpPr>
        <p:spPr>
          <a:xfrm xmlns:a="http://schemas.openxmlformats.org/drawingml/2006/main">
            <a:off x="3219450" y="4124325"/>
            <a:ext cx="7734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vanilla vLLM first; ask whether SGLang comparison is required</a:t>
            </a:r>
          </a:p>
        </p:txBody>
      </p:sp>
      <p:sp>
        <p:nvSpPr>
          <p:cNvPr id="26" name="">
            <a:extLst xmlns:a="http://schemas.openxmlformats.org/drawingml/2006/main">
              <a:ext uri="{FF2B5EF4-FFF2-40B4-BE49-F238E27FC236}">
                <a16:creationId xmlns:a16="http://schemas.microsoft.com/office/drawing/2014/main" id="{B3971C44-22CF-40AF-89A4-8FC673563FB5}"/>
              </a:ext>
            </a:extLst>
          </p:cNvPr>
          <p:cNvSpPr>
            <a:spLocks xmlns:a="http://schemas.openxmlformats.org/drawingml/2006/main" noGrp="1"/>
          </p:cNvSpPr>
          <p:nvPr/>
        </p:nvSpPr>
        <p:spPr>
          <a:xfrm xmlns:a="http://schemas.openxmlformats.org/drawingml/2006/main">
            <a:off x="990600" y="4514850"/>
            <a:ext cx="2000250" cy="4953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27" name="">
            <a:extLst xmlns:a="http://schemas.openxmlformats.org/drawingml/2006/main">
              <a:ext uri="{FF2B5EF4-FFF2-40B4-BE49-F238E27FC236}">
                <a16:creationId xmlns:a16="http://schemas.microsoft.com/office/drawing/2014/main" id="{DEE0E1B5-6744-4CDF-A7D5-99D2D32B8243}"/>
              </a:ext>
            </a:extLst>
          </p:cNvPr>
          <p:cNvSpPr>
            <a:spLocks xmlns:a="http://schemas.openxmlformats.org/drawingml/2006/main" noGrp="1"/>
          </p:cNvSpPr>
          <p:nvPr/>
        </p:nvSpPr>
        <p:spPr>
          <a:xfrm xmlns:a="http://schemas.openxmlformats.org/drawingml/2006/main">
            <a:off x="990600" y="4514850"/>
            <a:ext cx="47625" cy="49530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B8213E7E-6580-4BA4-8DD9-BC62F0E63407}"/>
              </a:ext>
            </a:extLst>
          </p:cNvPr>
          <p:cNvSpPr>
            <a:spLocks xmlns:a="http://schemas.openxmlformats.org/drawingml/2006/main" noGrp="1"/>
          </p:cNvSpPr>
          <p:nvPr/>
        </p:nvSpPr>
        <p:spPr>
          <a:xfrm xmlns:a="http://schemas.openxmlformats.org/drawingml/2006/main">
            <a:off x="1200150" y="4676775"/>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7F3EA"/>
                </a:solidFill>
                <a:latin typeface="Aptos Display"/>
                <a:ea typeface="Aptos Display"/>
                <a:cs typeface="Aptos Display"/>
              </a:defRPr>
            </a:pPr>
            <a:r>
              <a:rPr sz="1200" b="1">
                <a:solidFill>
                  <a:srgbClr val="F7F3EA"/>
                </a:solidFill>
                <a:latin typeface="Aptos Display"/>
                <a:ea typeface="Aptos Display"/>
                <a:cs typeface="Aptos Display"/>
              </a:rPr>
              <a:t>Intervention</a:t>
            </a:r>
          </a:p>
        </p:txBody>
      </p:sp>
      <p:sp>
        <p:nvSpPr>
          <p:cNvPr id="29" name="">
            <a:extLst xmlns:a="http://schemas.openxmlformats.org/drawingml/2006/main">
              <a:ext uri="{FF2B5EF4-FFF2-40B4-BE49-F238E27FC236}">
                <a16:creationId xmlns:a16="http://schemas.microsoft.com/office/drawing/2014/main" id="{530C870F-8B3D-4B1A-A598-418615F3E7E6}"/>
              </a:ext>
            </a:extLst>
          </p:cNvPr>
          <p:cNvSpPr>
            <a:spLocks xmlns:a="http://schemas.openxmlformats.org/drawingml/2006/main" noGrp="1"/>
          </p:cNvSpPr>
          <p:nvPr/>
        </p:nvSpPr>
        <p:spPr>
          <a:xfrm xmlns:a="http://schemas.openxmlformats.org/drawingml/2006/main">
            <a:off x="2990850" y="4514850"/>
            <a:ext cx="8191500" cy="495300"/>
          </a:xfrm>
          <a:prstGeom xmlns:a="http://schemas.openxmlformats.org/drawingml/2006/main" prst="rect">
            <a:avLst/>
          </a:prstGeom>
          <a:solidFill xmlns:a="http://schemas.openxmlformats.org/drawingml/2006/main">
            <a:srgbClr val="171D28"/>
          </a:solidFill>
          <a:ln xmlns:a="http://schemas.openxmlformats.org/drawingml/2006/main" w="9525">
            <a:solidFill>
              <a:srgbClr val="394352"/>
            </a:solidFill>
            <a:prstDash val="solid"/>
          </a:ln>
        </p:spPr>
      </p:sp>
      <p:sp>
        <p:nvSpPr>
          <p:cNvPr id="30" name="">
            <a:extLst xmlns:a="http://schemas.openxmlformats.org/drawingml/2006/main">
              <a:ext uri="{FF2B5EF4-FFF2-40B4-BE49-F238E27FC236}">
                <a16:creationId xmlns:a16="http://schemas.microsoft.com/office/drawing/2014/main" id="{D0D8295E-0A31-45F6-BD5D-A37544691B38}"/>
              </a:ext>
            </a:extLst>
          </p:cNvPr>
          <p:cNvSpPr>
            <a:spLocks xmlns:a="http://schemas.openxmlformats.org/drawingml/2006/main" noGrp="1"/>
          </p:cNvSpPr>
          <p:nvPr/>
        </p:nvSpPr>
        <p:spPr>
          <a:xfrm xmlns:a="http://schemas.openxmlformats.org/drawingml/2006/main">
            <a:off x="3219450" y="4676775"/>
            <a:ext cx="7734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prefix-signature grouping + simple cache-policy ablations</a:t>
            </a:r>
          </a:p>
        </p:txBody>
      </p:sp>
      <p:sp>
        <p:nvSpPr>
          <p:cNvPr id="31" name="">
            <a:extLst xmlns:a="http://schemas.openxmlformats.org/drawingml/2006/main">
              <a:ext uri="{FF2B5EF4-FFF2-40B4-BE49-F238E27FC236}">
                <a16:creationId xmlns:a16="http://schemas.microsoft.com/office/drawing/2014/main" id="{4A0259F0-2B15-4AF7-9714-58CA3EC5C422}"/>
              </a:ext>
            </a:extLst>
          </p:cNvPr>
          <p:cNvSpPr>
            <a:spLocks xmlns:a="http://schemas.openxmlformats.org/drawingml/2006/main" noGrp="1"/>
          </p:cNvSpPr>
          <p:nvPr/>
        </p:nvSpPr>
        <p:spPr>
          <a:xfrm xmlns:a="http://schemas.openxmlformats.org/drawingml/2006/main">
            <a:off x="990600" y="5067300"/>
            <a:ext cx="2000250" cy="49530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32" name="">
            <a:extLst xmlns:a="http://schemas.openxmlformats.org/drawingml/2006/main">
              <a:ext uri="{FF2B5EF4-FFF2-40B4-BE49-F238E27FC236}">
                <a16:creationId xmlns:a16="http://schemas.microsoft.com/office/drawing/2014/main" id="{5BE2C065-C7C1-4765-9909-A765FB5B891F}"/>
              </a:ext>
            </a:extLst>
          </p:cNvPr>
          <p:cNvSpPr>
            <a:spLocks xmlns:a="http://schemas.openxmlformats.org/drawingml/2006/main" noGrp="1"/>
          </p:cNvSpPr>
          <p:nvPr/>
        </p:nvSpPr>
        <p:spPr>
          <a:xfrm xmlns:a="http://schemas.openxmlformats.org/drawingml/2006/main">
            <a:off x="990600" y="5067300"/>
            <a:ext cx="47625" cy="495300"/>
          </a:xfrm>
          <a:prstGeom xmlns:a="http://schemas.openxmlformats.org/drawingml/2006/main" prst="rect">
            <a:avLst/>
          </a:prstGeom>
          <a:solidFill xmlns:a="http://schemas.openxmlformats.org/drawingml/2006/main">
            <a:srgbClr val="72A7FF"/>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216C1708-D392-429E-A2FB-7D67161E16CA}"/>
              </a:ext>
            </a:extLst>
          </p:cNvPr>
          <p:cNvSpPr>
            <a:spLocks xmlns:a="http://schemas.openxmlformats.org/drawingml/2006/main" noGrp="1"/>
          </p:cNvSpPr>
          <p:nvPr/>
        </p:nvSpPr>
        <p:spPr>
          <a:xfrm xmlns:a="http://schemas.openxmlformats.org/drawingml/2006/main">
            <a:off x="1200150" y="5229225"/>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F7F3EA"/>
                </a:solidFill>
                <a:latin typeface="Aptos Display"/>
                <a:ea typeface="Aptos Display"/>
                <a:cs typeface="Aptos Display"/>
              </a:defRPr>
            </a:pPr>
            <a:r>
              <a:rPr sz="1200" b="1">
                <a:solidFill>
                  <a:srgbClr val="F7F3EA"/>
                </a:solidFill>
                <a:latin typeface="Aptos Display"/>
                <a:ea typeface="Aptos Display"/>
                <a:cs typeface="Aptos Display"/>
              </a:rPr>
              <a:t>Metrics</a:t>
            </a:r>
          </a:p>
        </p:txBody>
      </p:sp>
      <p:sp>
        <p:nvSpPr>
          <p:cNvPr id="34" name="">
            <a:extLst xmlns:a="http://schemas.openxmlformats.org/drawingml/2006/main">
              <a:ext uri="{FF2B5EF4-FFF2-40B4-BE49-F238E27FC236}">
                <a16:creationId xmlns:a16="http://schemas.microsoft.com/office/drawing/2014/main" id="{C321E2B9-82F6-47D8-9460-E92DDF4E9395}"/>
              </a:ext>
            </a:extLst>
          </p:cNvPr>
          <p:cNvSpPr>
            <a:spLocks xmlns:a="http://schemas.openxmlformats.org/drawingml/2006/main" noGrp="1"/>
          </p:cNvSpPr>
          <p:nvPr/>
        </p:nvSpPr>
        <p:spPr>
          <a:xfrm xmlns:a="http://schemas.openxmlformats.org/drawingml/2006/main">
            <a:off x="2990850" y="5067300"/>
            <a:ext cx="8191500" cy="495300"/>
          </a:xfrm>
          <a:prstGeom xmlns:a="http://schemas.openxmlformats.org/drawingml/2006/main" prst="rect">
            <a:avLst/>
          </a:prstGeom>
          <a:solidFill xmlns:a="http://schemas.openxmlformats.org/drawingml/2006/main">
            <a:srgbClr val="141923"/>
          </a:solidFill>
          <a:ln xmlns:a="http://schemas.openxmlformats.org/drawingml/2006/main" w="9525">
            <a:solidFill>
              <a:srgbClr val="394352"/>
            </a:solidFill>
            <a:prstDash val="solid"/>
          </a:ln>
        </p:spPr>
      </p:sp>
      <p:sp>
        <p:nvSpPr>
          <p:cNvPr id="35" name="">
            <a:extLst xmlns:a="http://schemas.openxmlformats.org/drawingml/2006/main">
              <a:ext uri="{FF2B5EF4-FFF2-40B4-BE49-F238E27FC236}">
                <a16:creationId xmlns:a16="http://schemas.microsoft.com/office/drawing/2014/main" id="{335729FE-6596-4B1A-92C5-640C4CD3D1C8}"/>
              </a:ext>
            </a:extLst>
          </p:cNvPr>
          <p:cNvSpPr>
            <a:spLocks xmlns:a="http://schemas.openxmlformats.org/drawingml/2006/main" noGrp="1"/>
          </p:cNvSpPr>
          <p:nvPr/>
        </p:nvSpPr>
        <p:spPr>
          <a:xfrm xmlns:a="http://schemas.openxmlformats.org/drawingml/2006/main">
            <a:off x="3219450" y="5229225"/>
            <a:ext cx="7734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AEB7C4"/>
                </a:solidFill>
                <a:latin typeface="Aptos"/>
                <a:ea typeface="Aptos"/>
                <a:cs typeface="Aptos"/>
              </a:defRPr>
            </a:pPr>
            <a:r>
              <a:rPr sz="1200" b="0">
                <a:solidFill>
                  <a:srgbClr val="AEB7C4"/>
                </a:solidFill>
                <a:latin typeface="Aptos"/>
                <a:ea typeface="Aptos"/>
                <a:cs typeface="Aptos"/>
              </a:rPr>
              <a:t>TTFT, p95 latency, throughput, GPU memory, cache hit rate</a:t>
            </a:r>
          </a:p>
        </p:txBody>
      </p:sp>
      <p:sp>
        <p:nvSpPr>
          <p:cNvPr id="36" name="">
            <a:extLst xmlns:a="http://schemas.openxmlformats.org/drawingml/2006/main">
              <a:ext uri="{FF2B5EF4-FFF2-40B4-BE49-F238E27FC236}">
                <a16:creationId xmlns:a16="http://schemas.microsoft.com/office/drawing/2014/main" id="{4C4C2C7C-72AE-4838-8AEE-0418C4DF2E76}"/>
              </a:ext>
            </a:extLst>
          </p:cNvPr>
          <p:cNvSpPr>
            <a:spLocks xmlns:a="http://schemas.openxmlformats.org/drawingml/2006/main" noGrp="1"/>
          </p:cNvSpPr>
          <p:nvPr/>
        </p:nvSpPr>
        <p:spPr>
          <a:xfrm xmlns:a="http://schemas.openxmlformats.org/drawingml/2006/main">
            <a:off x="1009650" y="5886450"/>
            <a:ext cx="9810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7F3EA"/>
                </a:solidFill>
                <a:latin typeface="Aptos"/>
                <a:ea typeface="Aptos"/>
                <a:cs typeface="Aptos"/>
              </a:defRPr>
            </a:pPr>
            <a:r>
              <a:rPr sz="1425" b="0">
                <a:solidFill>
                  <a:srgbClr val="F7F3EA"/>
                </a:solidFill>
                <a:latin typeface="Aptos"/>
                <a:ea typeface="Aptos"/>
                <a:cs typeface="Aptos"/>
              </a:rPr>
              <a:t>Ask today: should our comparison be vanilla vLLM only, or also SGLang because it already performs prefix reuse?</a:t>
            </a:r>
          </a:p>
        </p:txBody>
      </p:sp>
      <p:sp>
        <p:nvSpPr>
          <p:cNvPr id="37" name="">
            <a:extLst xmlns:a="http://schemas.openxmlformats.org/drawingml/2006/main">
              <a:ext uri="{FF2B5EF4-FFF2-40B4-BE49-F238E27FC236}">
                <a16:creationId xmlns:a16="http://schemas.microsoft.com/office/drawing/2014/main" id="{3FF9BBBF-81A6-43C2-80EC-A89AAE898A21}"/>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Capstone · LLM Latency Optimization · 2026-05-27</a:t>
            </a:r>
          </a:p>
        </p:txBody>
      </p:sp>
    </p:spTree>
    <p:extLst>
      <p:ext uri="{BB962C8B-B14F-4D97-AF65-F5344CB8AC3E}">
        <p14:creationId xmlns:p14="http://schemas.microsoft.com/office/powerpoint/2010/main" val="170165249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134697E-B425-438B-94A0-0AB6CDEDE2D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2161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B99A76A-B906-4214-AE91-6ED0A134DBDF}"/>
              </a:ext>
            </a:extLst>
          </p:cNvPr>
          <p:cNvSpPr>
            <a:spLocks xmlns:a="http://schemas.openxmlformats.org/drawingml/2006/main" noGrp="1"/>
          </p:cNvSpPr>
          <p:nvPr/>
        </p:nvSpPr>
        <p:spPr>
          <a:xfrm xmlns:a="http://schemas.openxmlformats.org/drawingml/2006/main">
            <a:off x="514350" y="285750"/>
            <a:ext cx="304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7BD88F"/>
                </a:solidFill>
                <a:latin typeface="Aptos"/>
                <a:ea typeface="Aptos"/>
                <a:cs typeface="Aptos"/>
              </a:defRPr>
            </a:pPr>
            <a:r>
              <a:rPr sz="975" b="1">
                <a:solidFill>
                  <a:srgbClr val="7BD88F"/>
                </a:solidFill>
                <a:latin typeface="Aptos"/>
                <a:ea typeface="Aptos"/>
                <a:cs typeface="Aptos"/>
              </a:rPr>
              <a:t>NEXT STEPS</a:t>
            </a:r>
          </a:p>
        </p:txBody>
      </p:sp>
      <p:sp>
        <p:nvSpPr>
          <p:cNvPr id="3" name="">
            <a:extLst xmlns:a="http://schemas.openxmlformats.org/drawingml/2006/main">
              <a:ext uri="{FF2B5EF4-FFF2-40B4-BE49-F238E27FC236}">
                <a16:creationId xmlns:a16="http://schemas.microsoft.com/office/drawing/2014/main" id="{A845CD98-6CD2-4CE5-B308-74A0D82AC802}"/>
              </a:ext>
            </a:extLst>
          </p:cNvPr>
          <p:cNvSpPr>
            <a:spLocks xmlns:a="http://schemas.openxmlformats.org/drawingml/2006/main" noGrp="1"/>
          </p:cNvSpPr>
          <p:nvPr/>
        </p:nvSpPr>
        <p:spPr>
          <a:xfrm xmlns:a="http://schemas.openxmlformats.org/drawingml/2006/main">
            <a:off x="514350" y="609600"/>
            <a:ext cx="11163300" cy="9525"/>
          </a:xfrm>
          <a:prstGeom xmlns:a="http://schemas.openxmlformats.org/drawingml/2006/main" prst="rect">
            <a:avLst/>
          </a:prstGeom>
          <a:solidFill xmlns:a="http://schemas.openxmlformats.org/drawingml/2006/main">
            <a:srgbClr val="394352"/>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A8CAFB4D-9CF2-4C7E-9356-5C84EAAA9159}"/>
              </a:ext>
            </a:extLst>
          </p:cNvPr>
          <p:cNvSpPr>
            <a:spLocks xmlns:a="http://schemas.openxmlformats.org/drawingml/2006/main" noGrp="1"/>
          </p:cNvSpPr>
          <p:nvPr/>
        </p:nvSpPr>
        <p:spPr>
          <a:xfrm xmlns:a="http://schemas.openxmlformats.org/drawingml/2006/main">
            <a:off x="514350" y="819150"/>
            <a:ext cx="10096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7F3EA"/>
                </a:solidFill>
                <a:latin typeface="Aptos Display"/>
                <a:ea typeface="Aptos Display"/>
                <a:cs typeface="Aptos Display"/>
              </a:defRPr>
            </a:pPr>
            <a:r>
              <a:rPr sz="2850" b="1">
                <a:solidFill>
                  <a:srgbClr val="F7F3EA"/>
                </a:solidFill>
                <a:latin typeface="Aptos Display"/>
                <a:ea typeface="Aptos Display"/>
                <a:cs typeface="Aptos Display"/>
              </a:rPr>
              <a:t>What we do after the presentation</a:t>
            </a:r>
          </a:p>
        </p:txBody>
      </p:sp>
      <p:sp>
        <p:nvSpPr>
          <p:cNvPr id="5" name="">
            <a:extLst xmlns:a="http://schemas.openxmlformats.org/drawingml/2006/main">
              <a:ext uri="{FF2B5EF4-FFF2-40B4-BE49-F238E27FC236}">
                <a16:creationId xmlns:a16="http://schemas.microsoft.com/office/drawing/2014/main" id="{34094E5F-F66C-43C7-B42F-44F050D668AF}"/>
              </a:ext>
            </a:extLst>
          </p:cNvPr>
          <p:cNvSpPr>
            <a:spLocks xmlns:a="http://schemas.openxmlformats.org/drawingml/2006/main" noGrp="1"/>
          </p:cNvSpPr>
          <p:nvPr/>
        </p:nvSpPr>
        <p:spPr>
          <a:xfrm xmlns:a="http://schemas.openxmlformats.org/drawingml/2006/main">
            <a:off x="533400" y="1657350"/>
            <a:ext cx="9620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AEB7C4"/>
                </a:solidFill>
                <a:latin typeface="Aptos"/>
                <a:ea typeface="Aptos"/>
                <a:cs typeface="Aptos"/>
              </a:defRPr>
            </a:pPr>
            <a:r>
              <a:rPr sz="1500" b="0">
                <a:solidFill>
                  <a:srgbClr val="AEB7C4"/>
                </a:solidFill>
                <a:latin typeface="Aptos"/>
                <a:ea typeface="Aptos"/>
                <a:cs typeface="Aptos"/>
              </a:rPr>
              <a:t>Turn the related-work survey into methodology, baseline code, and evaluation evidence.</a:t>
            </a:r>
          </a:p>
        </p:txBody>
      </p:sp>
      <p:sp>
        <p:nvSpPr>
          <p:cNvPr id="6" name="">
            <a:extLst xmlns:a="http://schemas.openxmlformats.org/drawingml/2006/main">
              <a:ext uri="{FF2B5EF4-FFF2-40B4-BE49-F238E27FC236}">
                <a16:creationId xmlns:a16="http://schemas.microsoft.com/office/drawing/2014/main" id="{21448347-A303-463F-B700-D10785E989CC}"/>
              </a:ext>
            </a:extLst>
          </p:cNvPr>
          <p:cNvSpPr>
            <a:spLocks xmlns:a="http://schemas.openxmlformats.org/drawingml/2006/main" noGrp="1"/>
          </p:cNvSpPr>
          <p:nvPr/>
        </p:nvSpPr>
        <p:spPr>
          <a:xfrm xmlns:a="http://schemas.openxmlformats.org/drawingml/2006/main">
            <a:off x="876300" y="2476500"/>
            <a:ext cx="2095500" cy="2476500"/>
          </a:xfrm>
          <a:prstGeom xmlns:a="http://schemas.openxmlformats.org/drawingml/2006/main" prst="rect">
            <a:avLst/>
          </a:prstGeom>
          <a:solidFill xmlns:a="http://schemas.openxmlformats.org/drawingml/2006/main">
            <a:srgbClr val="1C2330"/>
          </a:solidFill>
          <a:ln xmlns:a="http://schemas.openxmlformats.org/drawingml/2006/main" w="19050">
            <a:solidFill>
              <a:srgbClr val="72A7FF"/>
            </a:solidFill>
            <a:prstDash val="solid"/>
          </a:ln>
        </p:spPr>
      </p:sp>
      <p:sp>
        <p:nvSpPr>
          <p:cNvPr id="7" name="">
            <a:extLst xmlns:a="http://schemas.openxmlformats.org/drawingml/2006/main">
              <a:ext uri="{FF2B5EF4-FFF2-40B4-BE49-F238E27FC236}">
                <a16:creationId xmlns:a16="http://schemas.microsoft.com/office/drawing/2014/main" id="{A53552B8-90C3-4E37-9B89-A0848C7D0069}"/>
              </a:ext>
            </a:extLst>
          </p:cNvPr>
          <p:cNvSpPr>
            <a:spLocks xmlns:a="http://schemas.openxmlformats.org/drawingml/2006/main" noGrp="1"/>
          </p:cNvSpPr>
          <p:nvPr/>
        </p:nvSpPr>
        <p:spPr>
          <a:xfrm xmlns:a="http://schemas.openxmlformats.org/drawingml/2006/main">
            <a:off x="1047750" y="2714625"/>
            <a:ext cx="1752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72A7FF"/>
                </a:solidFill>
                <a:latin typeface="Aptos"/>
                <a:ea typeface="Aptos"/>
                <a:cs typeface="Aptos"/>
              </a:defRPr>
            </a:pPr>
            <a:r>
              <a:rPr sz="1050" b="1">
                <a:solidFill>
                  <a:srgbClr val="72A7FF"/>
                </a:solidFill>
                <a:latin typeface="Aptos"/>
                <a:ea typeface="Aptos"/>
                <a:cs typeface="Aptos"/>
              </a:rPr>
              <a:t>Week 4</a:t>
            </a:r>
          </a:p>
        </p:txBody>
      </p:sp>
      <p:sp>
        <p:nvSpPr>
          <p:cNvPr id="8" name="">
            <a:extLst xmlns:a="http://schemas.openxmlformats.org/drawingml/2006/main">
              <a:ext uri="{FF2B5EF4-FFF2-40B4-BE49-F238E27FC236}">
                <a16:creationId xmlns:a16="http://schemas.microsoft.com/office/drawing/2014/main" id="{94737BEC-D45C-43CD-BA43-5F993C825C66}"/>
              </a:ext>
            </a:extLst>
          </p:cNvPr>
          <p:cNvSpPr>
            <a:spLocks xmlns:a="http://schemas.openxmlformats.org/drawingml/2006/main" noGrp="1"/>
          </p:cNvSpPr>
          <p:nvPr/>
        </p:nvSpPr>
        <p:spPr>
          <a:xfrm xmlns:a="http://schemas.openxmlformats.org/drawingml/2006/main">
            <a:off x="1047750" y="3105150"/>
            <a:ext cx="17526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7F3EA"/>
                </a:solidFill>
                <a:latin typeface="Aptos Display"/>
                <a:ea typeface="Aptos Display"/>
                <a:cs typeface="Aptos Display"/>
              </a:defRPr>
            </a:pPr>
            <a:r>
              <a:rPr sz="1800" b="1">
                <a:solidFill>
                  <a:srgbClr val="F7F3EA"/>
                </a:solidFill>
                <a:latin typeface="Aptos Display"/>
                <a:ea typeface="Aptos Display"/>
                <a:cs typeface="Aptos Display"/>
              </a:rPr>
              <a:t>Methodology</a:t>
            </a:r>
          </a:p>
        </p:txBody>
      </p:sp>
      <p:sp>
        <p:nvSpPr>
          <p:cNvPr id="9" name="">
            <a:extLst xmlns:a="http://schemas.openxmlformats.org/drawingml/2006/main">
              <a:ext uri="{FF2B5EF4-FFF2-40B4-BE49-F238E27FC236}">
                <a16:creationId xmlns:a16="http://schemas.microsoft.com/office/drawing/2014/main" id="{A468EA4B-2A21-4E1B-804B-367CB6B8FBFE}"/>
              </a:ext>
            </a:extLst>
          </p:cNvPr>
          <p:cNvSpPr>
            <a:spLocks xmlns:a="http://schemas.openxmlformats.org/drawingml/2006/main" noGrp="1"/>
          </p:cNvSpPr>
          <p:nvPr/>
        </p:nvSpPr>
        <p:spPr>
          <a:xfrm xmlns:a="http://schemas.openxmlformats.org/drawingml/2006/main">
            <a:off x="1085850" y="3733800"/>
            <a:ext cx="16764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AEB7C4"/>
                </a:solidFill>
                <a:latin typeface="Aptos"/>
                <a:ea typeface="Aptos"/>
                <a:cs typeface="Aptos"/>
              </a:defRPr>
            </a:pPr>
            <a:r>
              <a:rPr sz="1125" b="0">
                <a:solidFill>
                  <a:srgbClr val="AEB7C4"/>
                </a:solidFill>
                <a:latin typeface="Aptos"/>
                <a:ea typeface="Aptos"/>
                <a:cs typeface="Aptos"/>
              </a:rPr>
              <a:t>scheduler design + cache policy + architecture diagram</a:t>
            </a:r>
          </a:p>
        </p:txBody>
      </p:sp>
      <p:sp>
        <p:nvSpPr>
          <p:cNvPr id="10" name="">
            <a:extLst xmlns:a="http://schemas.openxmlformats.org/drawingml/2006/main">
              <a:ext uri="{FF2B5EF4-FFF2-40B4-BE49-F238E27FC236}">
                <a16:creationId xmlns:a16="http://schemas.microsoft.com/office/drawing/2014/main" id="{EA6CE520-F3F2-4B02-A13A-F2D8116B5F16}"/>
              </a:ext>
            </a:extLst>
          </p:cNvPr>
          <p:cNvSpPr>
            <a:spLocks xmlns:a="http://schemas.openxmlformats.org/drawingml/2006/main" noGrp="1"/>
          </p:cNvSpPr>
          <p:nvPr/>
        </p:nvSpPr>
        <p:spPr>
          <a:xfrm xmlns:a="http://schemas.openxmlformats.org/drawingml/2006/main">
            <a:off x="3543300" y="2476500"/>
            <a:ext cx="2095500" cy="2476500"/>
          </a:xfrm>
          <a:prstGeom xmlns:a="http://schemas.openxmlformats.org/drawingml/2006/main" prst="rect">
            <a:avLst/>
          </a:prstGeom>
          <a:solidFill xmlns:a="http://schemas.openxmlformats.org/drawingml/2006/main">
            <a:srgbClr val="1C2330"/>
          </a:solidFill>
          <a:ln xmlns:a="http://schemas.openxmlformats.org/drawingml/2006/main" w="19050">
            <a:solidFill>
              <a:srgbClr val="7BD88F"/>
            </a:solidFill>
            <a:prstDash val="solid"/>
          </a:ln>
        </p:spPr>
      </p:sp>
      <p:sp>
        <p:nvSpPr>
          <p:cNvPr id="11" name="">
            <a:extLst xmlns:a="http://schemas.openxmlformats.org/drawingml/2006/main">
              <a:ext uri="{FF2B5EF4-FFF2-40B4-BE49-F238E27FC236}">
                <a16:creationId xmlns:a16="http://schemas.microsoft.com/office/drawing/2014/main" id="{AAF3E384-0A77-4CCF-B1CF-F8FE99335741}"/>
              </a:ext>
            </a:extLst>
          </p:cNvPr>
          <p:cNvSpPr>
            <a:spLocks xmlns:a="http://schemas.openxmlformats.org/drawingml/2006/main" noGrp="1"/>
          </p:cNvSpPr>
          <p:nvPr/>
        </p:nvSpPr>
        <p:spPr>
          <a:xfrm xmlns:a="http://schemas.openxmlformats.org/drawingml/2006/main">
            <a:off x="3714750" y="2714625"/>
            <a:ext cx="1752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7BD88F"/>
                </a:solidFill>
                <a:latin typeface="Aptos"/>
                <a:ea typeface="Aptos"/>
                <a:cs typeface="Aptos"/>
              </a:defRPr>
            </a:pPr>
            <a:r>
              <a:rPr sz="1050" b="1">
                <a:solidFill>
                  <a:srgbClr val="7BD88F"/>
                </a:solidFill>
                <a:latin typeface="Aptos"/>
                <a:ea typeface="Aptos"/>
                <a:cs typeface="Aptos"/>
              </a:rPr>
              <a:t>Week 5</a:t>
            </a:r>
          </a:p>
        </p:txBody>
      </p:sp>
      <p:sp>
        <p:nvSpPr>
          <p:cNvPr id="12" name="">
            <a:extLst xmlns:a="http://schemas.openxmlformats.org/drawingml/2006/main">
              <a:ext uri="{FF2B5EF4-FFF2-40B4-BE49-F238E27FC236}">
                <a16:creationId xmlns:a16="http://schemas.microsoft.com/office/drawing/2014/main" id="{FB892DF6-AC0F-42C5-86F5-8FA3A70FD0A2}"/>
              </a:ext>
            </a:extLst>
          </p:cNvPr>
          <p:cNvSpPr>
            <a:spLocks xmlns:a="http://schemas.openxmlformats.org/drawingml/2006/main" noGrp="1"/>
          </p:cNvSpPr>
          <p:nvPr/>
        </p:nvSpPr>
        <p:spPr>
          <a:xfrm xmlns:a="http://schemas.openxmlformats.org/drawingml/2006/main">
            <a:off x="3714750" y="3105150"/>
            <a:ext cx="17526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7F3EA"/>
                </a:solidFill>
                <a:latin typeface="Aptos Display"/>
                <a:ea typeface="Aptos Display"/>
                <a:cs typeface="Aptos Display"/>
              </a:defRPr>
            </a:pPr>
            <a:r>
              <a:rPr sz="1800" b="1">
                <a:solidFill>
                  <a:srgbClr val="F7F3EA"/>
                </a:solidFill>
                <a:latin typeface="Aptos Display"/>
                <a:ea typeface="Aptos Display"/>
                <a:cs typeface="Aptos Display"/>
              </a:rPr>
              <a:t>Environment</a:t>
            </a:r>
          </a:p>
        </p:txBody>
      </p:sp>
      <p:sp>
        <p:nvSpPr>
          <p:cNvPr id="13" name="">
            <a:extLst xmlns:a="http://schemas.openxmlformats.org/drawingml/2006/main">
              <a:ext uri="{FF2B5EF4-FFF2-40B4-BE49-F238E27FC236}">
                <a16:creationId xmlns:a16="http://schemas.microsoft.com/office/drawing/2014/main" id="{90E88161-5D06-4DE7-9680-53AE28F2802B}"/>
              </a:ext>
            </a:extLst>
          </p:cNvPr>
          <p:cNvSpPr>
            <a:spLocks xmlns:a="http://schemas.openxmlformats.org/drawingml/2006/main" noGrp="1"/>
          </p:cNvSpPr>
          <p:nvPr/>
        </p:nvSpPr>
        <p:spPr>
          <a:xfrm xmlns:a="http://schemas.openxmlformats.org/drawingml/2006/main">
            <a:off x="3752850" y="3733800"/>
            <a:ext cx="16764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AEB7C4"/>
                </a:solidFill>
                <a:latin typeface="Aptos"/>
                <a:ea typeface="Aptos"/>
                <a:cs typeface="Aptos"/>
              </a:defRPr>
            </a:pPr>
            <a:r>
              <a:rPr sz="1125" b="0">
                <a:solidFill>
                  <a:srgbClr val="AEB7C4"/>
                </a:solidFill>
                <a:latin typeface="Aptos"/>
                <a:ea typeface="Aptos"/>
                <a:cs typeface="Aptos"/>
              </a:rPr>
              <a:t>ROCm / vLLM setup and baseline serving run</a:t>
            </a:r>
          </a:p>
        </p:txBody>
      </p:sp>
      <p:sp>
        <p:nvSpPr>
          <p:cNvPr id="14" name="">
            <a:extLst xmlns:a="http://schemas.openxmlformats.org/drawingml/2006/main">
              <a:ext uri="{FF2B5EF4-FFF2-40B4-BE49-F238E27FC236}">
                <a16:creationId xmlns:a16="http://schemas.microsoft.com/office/drawing/2014/main" id="{DC71BE98-316B-461F-9EEC-D837B80B357E}"/>
              </a:ext>
            </a:extLst>
          </p:cNvPr>
          <p:cNvSpPr>
            <a:spLocks xmlns:a="http://schemas.openxmlformats.org/drawingml/2006/main" noGrp="1"/>
          </p:cNvSpPr>
          <p:nvPr/>
        </p:nvSpPr>
        <p:spPr>
          <a:xfrm xmlns:a="http://schemas.openxmlformats.org/drawingml/2006/main">
            <a:off x="6210300" y="2476500"/>
            <a:ext cx="2095500" cy="2476500"/>
          </a:xfrm>
          <a:prstGeom xmlns:a="http://schemas.openxmlformats.org/drawingml/2006/main" prst="rect">
            <a:avLst/>
          </a:prstGeom>
          <a:solidFill xmlns:a="http://schemas.openxmlformats.org/drawingml/2006/main">
            <a:srgbClr val="1C2330"/>
          </a:solidFill>
          <a:ln xmlns:a="http://schemas.openxmlformats.org/drawingml/2006/main" w="19050">
            <a:solidFill>
              <a:srgbClr val="F2B84B"/>
            </a:solidFill>
            <a:prstDash val="solid"/>
          </a:ln>
        </p:spPr>
      </p:sp>
      <p:sp>
        <p:nvSpPr>
          <p:cNvPr id="15" name="">
            <a:extLst xmlns:a="http://schemas.openxmlformats.org/drawingml/2006/main">
              <a:ext uri="{FF2B5EF4-FFF2-40B4-BE49-F238E27FC236}">
                <a16:creationId xmlns:a16="http://schemas.microsoft.com/office/drawing/2014/main" id="{90BBAFFA-B1BC-40D5-85EE-79333F0BF075}"/>
              </a:ext>
            </a:extLst>
          </p:cNvPr>
          <p:cNvSpPr>
            <a:spLocks xmlns:a="http://schemas.openxmlformats.org/drawingml/2006/main" noGrp="1"/>
          </p:cNvSpPr>
          <p:nvPr/>
        </p:nvSpPr>
        <p:spPr>
          <a:xfrm xmlns:a="http://schemas.openxmlformats.org/drawingml/2006/main">
            <a:off x="6381750" y="2714625"/>
            <a:ext cx="1752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F2B84B"/>
                </a:solidFill>
                <a:latin typeface="Aptos"/>
                <a:ea typeface="Aptos"/>
                <a:cs typeface="Aptos"/>
              </a:defRPr>
            </a:pPr>
            <a:r>
              <a:rPr sz="1050" b="1">
                <a:solidFill>
                  <a:srgbClr val="F2B84B"/>
                </a:solidFill>
                <a:latin typeface="Aptos"/>
                <a:ea typeface="Aptos"/>
                <a:cs typeface="Aptos"/>
              </a:rPr>
              <a:t>Week 6</a:t>
            </a:r>
          </a:p>
        </p:txBody>
      </p:sp>
      <p:sp>
        <p:nvSpPr>
          <p:cNvPr id="16" name="">
            <a:extLst xmlns:a="http://schemas.openxmlformats.org/drawingml/2006/main">
              <a:ext uri="{FF2B5EF4-FFF2-40B4-BE49-F238E27FC236}">
                <a16:creationId xmlns:a16="http://schemas.microsoft.com/office/drawing/2014/main" id="{E716EF9E-A3C0-4F17-92CC-94BAA6FAE17E}"/>
              </a:ext>
            </a:extLst>
          </p:cNvPr>
          <p:cNvSpPr>
            <a:spLocks xmlns:a="http://schemas.openxmlformats.org/drawingml/2006/main" noGrp="1"/>
          </p:cNvSpPr>
          <p:nvPr/>
        </p:nvSpPr>
        <p:spPr>
          <a:xfrm xmlns:a="http://schemas.openxmlformats.org/drawingml/2006/main">
            <a:off x="6381750" y="3105150"/>
            <a:ext cx="17526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7F3EA"/>
                </a:solidFill>
                <a:latin typeface="Aptos Display"/>
                <a:ea typeface="Aptos Display"/>
                <a:cs typeface="Aptos Display"/>
              </a:defRPr>
            </a:pPr>
            <a:r>
              <a:rPr sz="1800" b="1">
                <a:solidFill>
                  <a:srgbClr val="F7F3EA"/>
                </a:solidFill>
                <a:latin typeface="Aptos Display"/>
                <a:ea typeface="Aptos Display"/>
                <a:cs typeface="Aptos Display"/>
              </a:rPr>
              <a:t>Implementation</a:t>
            </a:r>
          </a:p>
        </p:txBody>
      </p:sp>
      <p:sp>
        <p:nvSpPr>
          <p:cNvPr id="17" name="">
            <a:extLst xmlns:a="http://schemas.openxmlformats.org/drawingml/2006/main">
              <a:ext uri="{FF2B5EF4-FFF2-40B4-BE49-F238E27FC236}">
                <a16:creationId xmlns:a16="http://schemas.microsoft.com/office/drawing/2014/main" id="{30BAEE1B-76B1-451C-8B68-43CFF54EE5D6}"/>
              </a:ext>
            </a:extLst>
          </p:cNvPr>
          <p:cNvSpPr>
            <a:spLocks xmlns:a="http://schemas.openxmlformats.org/drawingml/2006/main" noGrp="1"/>
          </p:cNvSpPr>
          <p:nvPr/>
        </p:nvSpPr>
        <p:spPr>
          <a:xfrm xmlns:a="http://schemas.openxmlformats.org/drawingml/2006/main">
            <a:off x="6419850" y="3733800"/>
            <a:ext cx="16764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AEB7C4"/>
                </a:solidFill>
                <a:latin typeface="Aptos"/>
                <a:ea typeface="Aptos"/>
                <a:cs typeface="Aptos"/>
              </a:defRPr>
            </a:pPr>
            <a:r>
              <a:rPr sz="1125" b="0">
                <a:solidFill>
                  <a:srgbClr val="AEB7C4"/>
                </a:solidFill>
                <a:latin typeface="Aptos"/>
                <a:ea typeface="Aptos"/>
                <a:cs typeface="Aptos"/>
              </a:rPr>
              <a:t>prefix-aware scheduler v1 + workload generator</a:t>
            </a:r>
          </a:p>
        </p:txBody>
      </p:sp>
      <p:sp>
        <p:nvSpPr>
          <p:cNvPr id="18" name="">
            <a:extLst xmlns:a="http://schemas.openxmlformats.org/drawingml/2006/main">
              <a:ext uri="{FF2B5EF4-FFF2-40B4-BE49-F238E27FC236}">
                <a16:creationId xmlns:a16="http://schemas.microsoft.com/office/drawing/2014/main" id="{6C10F33E-D527-4348-B67F-2B29931C70CA}"/>
              </a:ext>
            </a:extLst>
          </p:cNvPr>
          <p:cNvSpPr>
            <a:spLocks xmlns:a="http://schemas.openxmlformats.org/drawingml/2006/main" noGrp="1"/>
          </p:cNvSpPr>
          <p:nvPr/>
        </p:nvSpPr>
        <p:spPr>
          <a:xfrm xmlns:a="http://schemas.openxmlformats.org/drawingml/2006/main">
            <a:off x="8877300" y="2476500"/>
            <a:ext cx="2095500" cy="2476500"/>
          </a:xfrm>
          <a:prstGeom xmlns:a="http://schemas.openxmlformats.org/drawingml/2006/main" prst="rect">
            <a:avLst/>
          </a:prstGeom>
          <a:solidFill xmlns:a="http://schemas.openxmlformats.org/drawingml/2006/main">
            <a:srgbClr val="1C2330"/>
          </a:solidFill>
          <a:ln xmlns:a="http://schemas.openxmlformats.org/drawingml/2006/main" w="19050">
            <a:solidFill>
              <a:srgbClr val="B998FF"/>
            </a:solidFill>
            <a:prstDash val="solid"/>
          </a:ln>
        </p:spPr>
      </p:sp>
      <p:sp>
        <p:nvSpPr>
          <p:cNvPr id="19" name="">
            <a:extLst xmlns:a="http://schemas.openxmlformats.org/drawingml/2006/main">
              <a:ext uri="{FF2B5EF4-FFF2-40B4-BE49-F238E27FC236}">
                <a16:creationId xmlns:a16="http://schemas.microsoft.com/office/drawing/2014/main" id="{3E42D637-71F0-44EB-9B65-16C6EDAFA20B}"/>
              </a:ext>
            </a:extLst>
          </p:cNvPr>
          <p:cNvSpPr>
            <a:spLocks xmlns:a="http://schemas.openxmlformats.org/drawingml/2006/main" noGrp="1"/>
          </p:cNvSpPr>
          <p:nvPr/>
        </p:nvSpPr>
        <p:spPr>
          <a:xfrm xmlns:a="http://schemas.openxmlformats.org/drawingml/2006/main">
            <a:off x="9048750" y="2714625"/>
            <a:ext cx="17526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B998FF"/>
                </a:solidFill>
                <a:latin typeface="Aptos"/>
                <a:ea typeface="Aptos"/>
                <a:cs typeface="Aptos"/>
              </a:defRPr>
            </a:pPr>
            <a:r>
              <a:rPr sz="1050" b="1">
                <a:solidFill>
                  <a:srgbClr val="B998FF"/>
                </a:solidFill>
                <a:latin typeface="Aptos"/>
                <a:ea typeface="Aptos"/>
                <a:cs typeface="Aptos"/>
              </a:rPr>
              <a:t>Week 7</a:t>
            </a:r>
          </a:p>
        </p:txBody>
      </p:sp>
      <p:sp>
        <p:nvSpPr>
          <p:cNvPr id="20" name="">
            <a:extLst xmlns:a="http://schemas.openxmlformats.org/drawingml/2006/main">
              <a:ext uri="{FF2B5EF4-FFF2-40B4-BE49-F238E27FC236}">
                <a16:creationId xmlns:a16="http://schemas.microsoft.com/office/drawing/2014/main" id="{3C470161-3FFE-40BA-8BC0-C68189C2137D}"/>
              </a:ext>
            </a:extLst>
          </p:cNvPr>
          <p:cNvSpPr>
            <a:spLocks xmlns:a="http://schemas.openxmlformats.org/drawingml/2006/main" noGrp="1"/>
          </p:cNvSpPr>
          <p:nvPr/>
        </p:nvSpPr>
        <p:spPr>
          <a:xfrm xmlns:a="http://schemas.openxmlformats.org/drawingml/2006/main">
            <a:off x="9048750" y="3105150"/>
            <a:ext cx="17526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7F3EA"/>
                </a:solidFill>
                <a:latin typeface="Aptos Display"/>
                <a:ea typeface="Aptos Display"/>
                <a:cs typeface="Aptos Display"/>
              </a:defRPr>
            </a:pPr>
            <a:r>
              <a:rPr sz="1800" b="1">
                <a:solidFill>
                  <a:srgbClr val="F7F3EA"/>
                </a:solidFill>
                <a:latin typeface="Aptos Display"/>
                <a:ea typeface="Aptos Display"/>
                <a:cs typeface="Aptos Display"/>
              </a:rPr>
              <a:t>Evaluation</a:t>
            </a:r>
          </a:p>
        </p:txBody>
      </p:sp>
      <p:sp>
        <p:nvSpPr>
          <p:cNvPr id="21" name="">
            <a:extLst xmlns:a="http://schemas.openxmlformats.org/drawingml/2006/main">
              <a:ext uri="{FF2B5EF4-FFF2-40B4-BE49-F238E27FC236}">
                <a16:creationId xmlns:a16="http://schemas.microsoft.com/office/drawing/2014/main" id="{458D0027-0991-495F-A580-6D6049B5F750}"/>
              </a:ext>
            </a:extLst>
          </p:cNvPr>
          <p:cNvSpPr>
            <a:spLocks xmlns:a="http://schemas.openxmlformats.org/drawingml/2006/main" noGrp="1"/>
          </p:cNvSpPr>
          <p:nvPr/>
        </p:nvSpPr>
        <p:spPr>
          <a:xfrm xmlns:a="http://schemas.openxmlformats.org/drawingml/2006/main">
            <a:off x="9086850" y="3733800"/>
            <a:ext cx="167640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AEB7C4"/>
                </a:solidFill>
                <a:latin typeface="Aptos"/>
                <a:ea typeface="Aptos"/>
                <a:cs typeface="Aptos"/>
              </a:defRPr>
            </a:pPr>
            <a:r>
              <a:rPr sz="1125" b="0">
                <a:solidFill>
                  <a:srgbClr val="AEB7C4"/>
                </a:solidFill>
                <a:latin typeface="Aptos"/>
                <a:ea typeface="Aptos"/>
                <a:cs typeface="Aptos"/>
              </a:rPr>
              <a:t>baseline vs ours vs SGLang with ablations</a:t>
            </a:r>
          </a:p>
        </p:txBody>
      </p:sp>
      <p:sp>
        <p:nvSpPr>
          <p:cNvPr id="22" name="">
            <a:extLst xmlns:a="http://schemas.openxmlformats.org/drawingml/2006/main">
              <a:ext uri="{FF2B5EF4-FFF2-40B4-BE49-F238E27FC236}">
                <a16:creationId xmlns:a16="http://schemas.microsoft.com/office/drawing/2014/main" id="{A25B83B1-9463-4CD3-82E2-38DFA087DE06}"/>
              </a:ext>
            </a:extLst>
          </p:cNvPr>
          <p:cNvSpPr>
            <a:spLocks xmlns:a="http://schemas.openxmlformats.org/drawingml/2006/main" noGrp="1"/>
          </p:cNvSpPr>
          <p:nvPr/>
        </p:nvSpPr>
        <p:spPr>
          <a:xfrm xmlns:a="http://schemas.openxmlformats.org/drawingml/2006/main">
            <a:off x="2571750" y="5391150"/>
            <a:ext cx="7048500" cy="666750"/>
          </a:xfrm>
          <a:prstGeom xmlns:a="http://schemas.openxmlformats.org/drawingml/2006/main" prst="rect">
            <a:avLst/>
          </a:prstGeom>
          <a:solidFill xmlns:a="http://schemas.openxmlformats.org/drawingml/2006/main">
            <a:srgbClr val="1C2330"/>
          </a:solidFill>
          <a:ln xmlns:a="http://schemas.openxmlformats.org/drawingml/2006/main" w="9525">
            <a:solidFill>
              <a:srgbClr val="394352"/>
            </a:solidFill>
            <a:prstDash val="solid"/>
          </a:ln>
        </p:spPr>
      </p:sp>
      <p:sp>
        <p:nvSpPr>
          <p:cNvPr id="23" name="">
            <a:extLst xmlns:a="http://schemas.openxmlformats.org/drawingml/2006/main">
              <a:ext uri="{FF2B5EF4-FFF2-40B4-BE49-F238E27FC236}">
                <a16:creationId xmlns:a16="http://schemas.microsoft.com/office/drawing/2014/main" id="{5C056702-18F6-4099-8AE6-4D8A66DA9261}"/>
              </a:ext>
            </a:extLst>
          </p:cNvPr>
          <p:cNvSpPr>
            <a:spLocks xmlns:a="http://schemas.openxmlformats.org/drawingml/2006/main" noGrp="1"/>
          </p:cNvSpPr>
          <p:nvPr/>
        </p:nvSpPr>
        <p:spPr>
          <a:xfrm xmlns:a="http://schemas.openxmlformats.org/drawingml/2006/main">
            <a:off x="2571750" y="5391150"/>
            <a:ext cx="47625" cy="666750"/>
          </a:xfrm>
          <a:prstGeom xmlns:a="http://schemas.openxmlformats.org/drawingml/2006/main" prst="rect">
            <a:avLst/>
          </a:prstGeom>
          <a:solidFill xmlns:a="http://schemas.openxmlformats.org/drawingml/2006/main">
            <a:srgbClr val="7BD88F"/>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6FC38C51-0F71-4DA8-80F9-7B0353B63CEE}"/>
              </a:ext>
            </a:extLst>
          </p:cNvPr>
          <p:cNvSpPr>
            <a:spLocks xmlns:a="http://schemas.openxmlformats.org/drawingml/2006/main" noGrp="1"/>
          </p:cNvSpPr>
          <p:nvPr/>
        </p:nvSpPr>
        <p:spPr>
          <a:xfrm xmlns:a="http://schemas.openxmlformats.org/drawingml/2006/main">
            <a:off x="2743200" y="5543550"/>
            <a:ext cx="6705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7F3EA"/>
                </a:solidFill>
                <a:latin typeface="Aptos Display"/>
                <a:ea typeface="Aptos Display"/>
                <a:cs typeface="Aptos Display"/>
              </a:defRPr>
            </a:pPr>
            <a:r>
              <a:rPr sz="1425" b="1">
                <a:solidFill>
                  <a:srgbClr val="F7F3EA"/>
                </a:solidFill>
                <a:latin typeface="Aptos Display"/>
                <a:ea typeface="Aptos Display"/>
                <a:cs typeface="Aptos Display"/>
              </a:rPr>
              <a:t>Ask for feedback</a:t>
            </a:r>
          </a:p>
        </p:txBody>
      </p:sp>
      <p:sp>
        <p:nvSpPr>
          <p:cNvPr id="25" name="">
            <a:extLst xmlns:a="http://schemas.openxmlformats.org/drawingml/2006/main">
              <a:ext uri="{FF2B5EF4-FFF2-40B4-BE49-F238E27FC236}">
                <a16:creationId xmlns:a16="http://schemas.microsoft.com/office/drawing/2014/main" id="{04FB5776-335B-4242-B098-AB1DC31BE0BD}"/>
              </a:ext>
            </a:extLst>
          </p:cNvPr>
          <p:cNvSpPr>
            <a:spLocks xmlns:a="http://schemas.openxmlformats.org/drawingml/2006/main" noGrp="1"/>
          </p:cNvSpPr>
          <p:nvPr/>
        </p:nvSpPr>
        <p:spPr>
          <a:xfrm xmlns:a="http://schemas.openxmlformats.org/drawingml/2006/main">
            <a:off x="2743200" y="5867400"/>
            <a:ext cx="67056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AEB7C4"/>
                </a:solidFill>
                <a:latin typeface="Aptos"/>
                <a:ea typeface="Aptos"/>
                <a:cs typeface="Aptos"/>
              </a:defRPr>
            </a:pPr>
            <a:r>
              <a:rPr sz="1125" b="0">
                <a:solidFill>
                  <a:srgbClr val="AEB7C4"/>
                </a:solidFill>
                <a:latin typeface="Aptos"/>
                <a:ea typeface="Aptos"/>
                <a:cs typeface="Aptos"/>
              </a:rPr>
              <a:t>Is the project scope acceptable: scheduler and cache policy on vLLM, with SGLang/Hydragen/PromptCache as related work rather than implementations?</a:t>
            </a:r>
          </a:p>
        </p:txBody>
      </p:sp>
      <p:sp>
        <p:nvSpPr>
          <p:cNvPr id="26" name="">
            <a:extLst xmlns:a="http://schemas.openxmlformats.org/drawingml/2006/main">
              <a:ext uri="{FF2B5EF4-FFF2-40B4-BE49-F238E27FC236}">
                <a16:creationId xmlns:a16="http://schemas.microsoft.com/office/drawing/2014/main" id="{A21DE189-C669-48E9-A6EB-E3A417395DD1}"/>
              </a:ext>
            </a:extLst>
          </p:cNvPr>
          <p:cNvSpPr>
            <a:spLocks xmlns:a="http://schemas.openxmlformats.org/drawingml/2006/main" noGrp="1"/>
          </p:cNvSpPr>
          <p:nvPr/>
        </p:nvSpPr>
        <p:spPr>
          <a:xfrm xmlns:a="http://schemas.openxmlformats.org/drawingml/2006/main">
            <a:off x="514350" y="6486525"/>
            <a:ext cx="8191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AEB7C4"/>
                </a:solidFill>
                <a:latin typeface="Aptos"/>
                <a:ea typeface="Aptos"/>
                <a:cs typeface="Aptos"/>
              </a:defRPr>
            </a:pPr>
            <a:r>
              <a:rPr sz="825" b="0">
                <a:solidFill>
                  <a:srgbClr val="AEB7C4"/>
                </a:solidFill>
                <a:latin typeface="Aptos"/>
                <a:ea typeface="Aptos"/>
                <a:cs typeface="Aptos"/>
              </a:rPr>
              <a:t>Capstone · LLM Latency Optimization · 2026-05-27</a:t>
            </a:r>
          </a:p>
        </p:txBody>
      </p:sp>
    </p:spTree>
    <p:extLst>
      <p:ext uri="{BB962C8B-B14F-4D97-AF65-F5344CB8AC3E}">
        <p14:creationId xmlns:p14="http://schemas.microsoft.com/office/powerpoint/2010/main" val="19034569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2026-05-27T02:06:02.2830000Z</dcterms:created>
  <dcterms:modified xsi:type="dcterms:W3CDTF">2026-05-27T02:06:02.2830000Z</dcterms:modified>
</coreProperties>
</file>