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Midterm Progress: Related-Work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Using my Llama-3-8B results to extend LLM request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257800" cy="28346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26464"/>
            <a:ext cx="492861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My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75488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Reproduced the base FCFS vs LTR scheduling experiment.</a:t>
            </a:r>
          </a:p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Tested two related scheduling ideas on the same Llama-3-8B trace.</a:t>
            </a:r>
          </a:p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Compared which signals are useful for lowering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983480" cy="28346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426464"/>
            <a:ext cx="465429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Papers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52628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Base paper: learning-to-rank request scheduling.</a:t>
            </a:r>
          </a:p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SLO-Aware Scheduling: request priority from SLO pressure.</a:t>
            </a:r>
          </a:p>
          <a:p>
            <a:pPr marL="220000" indent="-130000">
              <a:spcAft>
                <a:spcPts val="200"/>
              </a:spcAft>
              <a:defRPr sz="1500">
                <a:solidFill>
                  <a:srgbClr val="1F2329"/>
                </a:solidFill>
              </a:defRPr>
            </a:pPr>
            <a:r>
              <a:t>Apt-Serve: runtime batching and cache awareness.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17720"/>
            <a:ext cx="10744200" cy="8686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718304"/>
            <a:ext cx="1041501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Current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19472"/>
            <a:ext cx="1024128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600" b="1">
                <a:solidFill>
                  <a:srgbClr val="1A2A3E"/>
                </a:solidFill>
              </a:defRPr>
            </a:pPr>
            <a:r>
              <a:t>Keep LTR as the core, then add SLO urgency and system/cache awareness.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FCFS is simple, but it ignores output-length variation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37560" cy="40690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35024"/>
            <a:ext cx="300837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83464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LLM requests have very different output lengths.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Short jobs may wait behind long generations.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This increases average latency and queueing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40690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335024"/>
            <a:ext cx="300837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Base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83464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Predict relative output behavior.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Rank requests before serving.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Approximate shortest-job-first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337560" cy="40690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335024"/>
            <a:ext cx="300837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Open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19072"/>
            <a:ext cx="283464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Length is not the only useful signal.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Applications have different SLOs.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The system also has cache and batch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6692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700" b="1">
                <a:solidFill>
                  <a:srgbClr val="225B82"/>
                </a:solidFill>
              </a:defRPr>
            </a:pPr>
            <a:r>
              <a:t>Research question: what signals should be added to the base LTR scheduler?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Real serving result + trace-driven related-work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3474720" cy="42519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07592"/>
            <a:ext cx="314553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Base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297180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vLLM-LTR / vLLM 0.4.1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Meta-Llama-3-8B-Instruct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RTX 3090 24GB, CUDA 12.1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500 LMSYS requests, 8 qps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FCFS vs LTR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207008"/>
            <a:ext cx="3474720" cy="42519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307592"/>
            <a:ext cx="314553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Related 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1700784"/>
            <a:ext cx="2971800" cy="21488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Use Llama-3-8B trace outputs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Rates: 2, 4, 8, 16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Paper-inspired policies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Measure average latency trend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Trace-driven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207008"/>
            <a:ext cx="3246120" cy="42519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07592"/>
            <a:ext cx="291693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700784"/>
            <a:ext cx="274320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Base result is live serving.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SLO/Apt results are simulation-style validation.</a:t>
            </a:r>
          </a:p>
          <a:p>
            <a:pPr marL="220000" indent="-130000">
              <a:spcAft>
                <a:spcPts val="200"/>
              </a:spcAft>
              <a:defRPr sz="1270">
                <a:solidFill>
                  <a:srgbClr val="1F2329"/>
                </a:solidFill>
              </a:defRPr>
            </a:pPr>
            <a:r>
              <a:t>Use trends, not absolute numbers, for method choice.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Base Paper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LTR improves average latency, but the tail can still be worse</a:t>
            </a:r>
          </a:p>
        </p:txBody>
      </p:sp>
      <p:pic>
        <p:nvPicPr>
          <p:cNvPr id="5" name="Picture 4" descr="fcfs_vs_l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61288"/>
            <a:ext cx="11064240" cy="26204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513832"/>
            <a:ext cx="2057400" cy="74980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605272"/>
            <a:ext cx="1911095" cy="2468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700" b="1">
                <a:solidFill>
                  <a:srgbClr val="2A7A36"/>
                </a:solidFill>
              </a:defRPr>
            </a:pPr>
            <a:r>
              <a:t>18.02s -&gt; 2.27s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25312"/>
            <a:ext cx="1874519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850" b="0">
                <a:solidFill>
                  <a:srgbClr val="5B626C"/>
                </a:solidFill>
              </a:defRPr>
            </a:pPr>
            <a:r>
              <a:t>Mean TTFT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5513832"/>
            <a:ext cx="2240280" cy="74980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5605272"/>
            <a:ext cx="2093976" cy="2468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700" b="1">
                <a:solidFill>
                  <a:srgbClr val="2A7A36"/>
                </a:solidFill>
              </a:defRPr>
            </a:pPr>
            <a:r>
              <a:t>501.5 -&gt; 139.6ms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925312"/>
            <a:ext cx="20574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850" b="0">
                <a:solidFill>
                  <a:srgbClr val="5B626C"/>
                </a:solidFill>
              </a:defRPr>
            </a:pPr>
            <a:r>
              <a:t>Normalized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5513832"/>
            <a:ext cx="1920240" cy="74980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5605272"/>
            <a:ext cx="1773936" cy="2468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700" b="1">
                <a:solidFill>
                  <a:srgbClr val="2A7A36"/>
                </a:solidFill>
              </a:defRPr>
            </a:pPr>
            <a:r>
              <a:t>2.83 -&gt; 3.04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5925312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850" b="0">
                <a:solidFill>
                  <a:srgbClr val="5B626C"/>
                </a:solidFill>
              </a:defRPr>
            </a:pPr>
            <a:r>
              <a:t>Throughput req/s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5513832"/>
            <a:ext cx="1920240" cy="74980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5605272"/>
            <a:ext cx="1773936" cy="24688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700" b="1">
                <a:solidFill>
                  <a:srgbClr val="964330"/>
                </a:solidFill>
              </a:defRPr>
            </a:pPr>
            <a:r>
              <a:t>P99 higher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925312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850" b="0">
                <a:solidFill>
                  <a:srgbClr val="5B626C"/>
                </a:solidFill>
              </a:defRPr>
            </a:pPr>
            <a:r>
              <a:t>Tail tradeoff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5605272"/>
            <a:ext cx="1874519" cy="38404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l">
              <a:defRPr sz="1000" b="0">
                <a:solidFill>
                  <a:srgbClr val="5B626C"/>
                </a:solidFill>
              </a:defRPr>
            </a:pPr>
            <a:r>
              <a:t>Takeaway: LTR works, but pure shortest-job-first behavior needs guardrails.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Related Papers: What They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Both papers extend scheduling beyond plain FCFS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61872"/>
            <a:ext cx="5257800" cy="44348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62456"/>
            <a:ext cx="492861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SLO-Aware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70916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Adds task/application-level latency objectives.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Priority depends on SLO, input length, and possible output length.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Useful signal for deciding which request is urgent.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1596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l">
              <a:defRPr sz="1200" b="1">
                <a:solidFill>
                  <a:srgbClr val="225B82"/>
                </a:solidFill>
              </a:defRPr>
            </a:pPr>
            <a:r>
              <a:t>Relation to base: both reorder requests, but SLO-Aware adds deadline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61872"/>
            <a:ext cx="5257800" cy="44348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62456"/>
            <a:ext cx="492861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Apt-Serve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783080"/>
            <a:ext cx="4709160" cy="1600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Targets memory and batching bottlenecks.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Uses hybrid cache and adaptive runtime scheduling.</a:t>
            </a:r>
          </a:p>
          <a:p>
            <a:pPr marL="220000" indent="-130000">
              <a:spcAft>
                <a:spcPts val="200"/>
              </a:spcAft>
              <a:defRPr sz="1400">
                <a:solidFill>
                  <a:srgbClr val="1F2329"/>
                </a:solidFill>
              </a:defRPr>
            </a:pPr>
            <a:r>
              <a:t>Useful signal for system pressure and batch composition.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31596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l">
              <a:defRPr sz="1200" b="1">
                <a:solidFill>
                  <a:srgbClr val="225B82"/>
                </a:solidFill>
              </a:defRPr>
            </a:pPr>
            <a:r>
              <a:t>Relation to base: both challenge FCFS, but Apt-Serve adds cache awareness.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SLO-Aware Trace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SLO urgency becomes more useful under higher request rates</a:t>
            </a:r>
          </a:p>
        </p:txBody>
      </p:sp>
      <p:pic>
        <p:nvPicPr>
          <p:cNvPr id="5" name="Picture 4" descr="slo_aware_trac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43513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417320"/>
          <a:ext cx="44348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SLO-aware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3452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2461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28.7%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3509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1943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44.6%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3538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1519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57.1%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3552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1318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62.9%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3337560"/>
            <a:ext cx="4434840" cy="16002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3438144"/>
            <a:ext cx="4105655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94760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220">
                <a:solidFill>
                  <a:srgbClr val="1F2329"/>
                </a:solidFill>
              </a:defRPr>
            </a:pPr>
            <a:r>
              <a:t>SLO-aware priority avoids treating every request equally.</a:t>
            </a:r>
          </a:p>
          <a:p>
            <a:pPr marL="220000" indent="-130000">
              <a:spcAft>
                <a:spcPts val="200"/>
              </a:spcAft>
              <a:defRPr sz="1220">
                <a:solidFill>
                  <a:srgbClr val="1F2329"/>
                </a:solidFill>
              </a:defRPr>
            </a:pPr>
            <a:r>
              <a:t>This is a natural extra term for LTR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44768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l">
              <a:defRPr sz="900" b="0">
                <a:solidFill>
                  <a:srgbClr val="5B626C"/>
                </a:solidFill>
              </a:defRPr>
            </a:pPr>
            <a:r>
              <a:t>Note: paper-inspired trace-driven validation; not a full vLLM reproduction.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Apt-Serve Trace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Cache and batch awareness also reduce simulated latency</a:t>
            </a:r>
          </a:p>
        </p:txBody>
      </p:sp>
      <p:pic>
        <p:nvPicPr>
          <p:cNvPr id="5" name="Picture 4" descr="aptserve_trac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43513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417320"/>
          <a:ext cx="44348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FCFS-KV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Adaptive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Lower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2187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1738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2249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1370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39.1%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2279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985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56.8%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2295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0">
                          <a:solidFill>
                            <a:srgbClr val="1F2329"/>
                          </a:solidFill>
                        </a:defRPr>
                      </a:pPr>
                      <a:r>
                        <a:t>67.3%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3337560"/>
            <a:ext cx="4434840" cy="16002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3438144"/>
            <a:ext cx="4105655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94760"/>
            <a:ext cx="39776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220">
                <a:solidFill>
                  <a:srgbClr val="1F2329"/>
                </a:solidFill>
              </a:defRPr>
            </a:pPr>
            <a:r>
              <a:t>Latency is affected by runtime system state.</a:t>
            </a:r>
          </a:p>
          <a:p>
            <a:pPr marL="220000" indent="-130000">
              <a:spcAft>
                <a:spcPts val="200"/>
              </a:spcAft>
              <a:defRPr sz="1220">
                <a:solidFill>
                  <a:srgbClr val="1F2329"/>
                </a:solidFill>
              </a:defRPr>
            </a:pPr>
            <a:r>
              <a:t>Implementation is harder, so it fits as a later extension.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44768"/>
            <a:ext cx="8046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l">
              <a:defRPr sz="900" b="0">
                <a:solidFill>
                  <a:srgbClr val="5B626C"/>
                </a:solidFill>
              </a:defRPr>
            </a:pPr>
            <a:r>
              <a:t>Note: Apt-Serve-style trace validation; not a full cache-system reproduction.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2500" b="1">
                <a:solidFill>
                  <a:srgbClr val="1A2A3E"/>
                </a:solidFill>
              </a:defRPr>
            </a:pPr>
            <a:r>
              <a:t>Conclusion and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68096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200">
                <a:solidFill>
                  <a:srgbClr val="5B626C"/>
                </a:solidFill>
              </a:defRPr>
            </a:pPr>
            <a:r>
              <a:t>A practical extension path for our group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207008"/>
          <a:ext cx="10652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27432" marR="27432" marT="9144" marB="9144">
                    <a:solidFill>
                      <a:srgbClr val="225B8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Base LTR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output length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core baseline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SLO-Aware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urgency / deadline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first extension</a:t>
                      </a:r>
                    </a:p>
                  </a:txBody>
                  <a:tcPr marL="27432" marR="27432" marT="9144" marB="9144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Apt-Serve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cache / batch state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1F2329"/>
                          </a:solidFill>
                        </a:defRPr>
                      </a:pPr>
                      <a:r>
                        <a:t>future extension</a:t>
                      </a:r>
                    </a:p>
                  </a:txBody>
                  <a:tcPr marL="27432" marR="27432" marT="9144" marB="9144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2971800"/>
            <a:ext cx="5029200" cy="19202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70001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56432"/>
            <a:ext cx="448056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marL="220000" indent="-130000">
              <a:spcAft>
                <a:spcPts val="200"/>
              </a:spcAft>
              <a:defRPr sz="1350">
                <a:solidFill>
                  <a:srgbClr val="1F2329"/>
                </a:solidFill>
              </a:defRPr>
            </a:pPr>
            <a:r>
              <a:t>Keep the base LTR scheduler.</a:t>
            </a:r>
          </a:p>
          <a:p>
            <a:pPr marL="220000" indent="-130000">
              <a:spcAft>
                <a:spcPts val="200"/>
              </a:spcAft>
              <a:defRPr sz="1350">
                <a:solidFill>
                  <a:srgbClr val="1F2329"/>
                </a:solidFill>
              </a:defRPr>
            </a:pPr>
            <a:r>
              <a:t>Add SLO urgency to request priority.</a:t>
            </a:r>
          </a:p>
          <a:p>
            <a:pPr marL="220000" indent="-130000">
              <a:spcAft>
                <a:spcPts val="200"/>
              </a:spcAft>
              <a:defRPr sz="1350">
                <a:solidFill>
                  <a:srgbClr val="1F2329"/>
                </a:solidFill>
              </a:defRPr>
            </a:pPr>
            <a:r>
              <a:t>Use uncertainty/cache pressure as guardrails.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971800"/>
            <a:ext cx="5166360" cy="192024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3072384"/>
            <a:ext cx="483717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Scoring sketch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520440"/>
            <a:ext cx="4617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500" b="1">
                <a:solidFill>
                  <a:srgbClr val="1A2A3E"/>
                </a:solidFill>
              </a:defRPr>
            </a:pPr>
            <a:r>
              <a:t>final_score = LTR_score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67912"/>
            <a:ext cx="4617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500" b="1">
                <a:solidFill>
                  <a:srgbClr val="225B82"/>
                </a:solidFill>
              </a:defRPr>
            </a:pPr>
            <a:r>
              <a:t>+ alpha * SLO_urgency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215384"/>
            <a:ext cx="4617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500" b="1">
                <a:solidFill>
                  <a:srgbClr val="964330"/>
                </a:solidFill>
              </a:defRPr>
            </a:pPr>
            <a:r>
              <a:t>+ beta * system_signal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21808"/>
            <a:ext cx="10652760" cy="6400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422392"/>
            <a:ext cx="10323576" cy="237744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1150" b="1">
                <a:solidFill>
                  <a:srgbClr val="225B82"/>
                </a:solidFill>
              </a:defRPr>
            </a:pPr>
            <a: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1019556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ctr">
              <a:defRPr sz="1250" b="0">
                <a:solidFill>
                  <a:srgbClr val="1F2329"/>
                </a:solidFill>
              </a:defRPr>
            </a:pPr>
            <a:r>
              <a:t>Best current choice: add SLO urgency to LTR first; keep Apt-Serve-style cache/batch awareness as a later system extension.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defRPr sz="800">
                <a:solidFill>
                  <a:srgbClr val="5B626C"/>
                </a:solidFill>
              </a:defRPr>
            </a:pPr>
            <a:r>
              <a:t>LLM Scheduling Capstone - Midterm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algn="r">
              <a:defRPr sz="800">
                <a:solidFill>
                  <a:srgbClr val="5B626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